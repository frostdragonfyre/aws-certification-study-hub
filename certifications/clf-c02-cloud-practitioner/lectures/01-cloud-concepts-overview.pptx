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TECH COMMUNITY COLLEGE  ·  NET-3100BB2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Certified Solutions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– Associate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  —  Welcome &amp; Cloud Foundations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PhD, CS  ·  CISSP · CCSP · AWS SAA · FinOps  ·  Retired U.S. Army Captain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TEACHING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Instructor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852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 in Computer Science; 20+ years across the military, federal cybersecurity, and the classroom.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cloud leader in the federal space — currently a budget, acquisition, and security lead in a large federal IT portfolio.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U.S. Army Captain (Bronze Star) with a finance and resource-management background.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teach AWS because I use this stuff for real — not just for the exam.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60920" y="1600200"/>
            <a:ext cx="4160520" cy="4160520"/>
          </a:xfrm>
          <a:prstGeom prst="roundRect">
            <a:avLst>
              <a:gd name="adj" fmla="val 2637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01600" dist="38100" dir="5400000">
              <a:srgbClr val="9AA4AE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I HOLD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80960" y="2350008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313432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2304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0" y="2953512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2916936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29077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0" y="3557016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3520440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0" y="351129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Solutions Architect – Associate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4160520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4123944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114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Certified Practitioner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80960" y="4764024"/>
            <a:ext cx="256032" cy="256032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0" y="4727448"/>
            <a:ext cx="256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71830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GSLC  ·  SecurityX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Certifications, One Course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class is built to prepare you for BOTH of these AWS exams — foundation first, then architect.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14300" dist="38100" dir="5400000">
              <a:srgbClr val="C6CDD4">
                <a:alpha val="5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402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E8FA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40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7889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Certified</a:t>
            </a:r>
            <a:endParaRPr lang="en-US" sz="2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Practitioner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CLF-C02   </a:t>
            </a:r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Foundational level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4348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you understand cloud concepts, AWS core services, security, and pricing. The on-ramp.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46520" y="1965960"/>
            <a:ext cx="512064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14300" dist="38100" dir="5400000">
              <a:srgbClr val="C6CDD4">
                <a:alpha val="5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66560" y="224028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EC7211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2402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278892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Certified Solutions</a:t>
            </a:r>
            <a:endParaRPr lang="en-US" sz="2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– Associate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66560" y="3977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SAA-C03   </a:t>
            </a:r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Associate level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66560" y="443484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you can design secure, resilient, high-performing, cost-optimized systems on AWS.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COURSE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 Rules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74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hours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instruction across the course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874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34340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to complete the course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3832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87452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046720" y="2880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3246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on the material taught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10908792" cy="1463040"/>
          </a:xfrm>
          <a:prstGeom prst="roundRect">
            <a:avLst>
              <a:gd name="adj" fmla="val 7500"/>
            </a:avLst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you'll succeed here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51560" y="4754880"/>
            <a:ext cx="10085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up, participate, and get hands-on. This is a design discipline — you learn it by doing, not by memorizing. Bring questions, build things in the console, and don't wait until exam week to practice.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TARGETS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Exams, Side by 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08792" cy="566928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600200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CLF-C02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831836" y="1600200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SAA-C03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167128"/>
            <a:ext cx="10908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6712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0" y="2167128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31836" y="2167128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734056"/>
            <a:ext cx="10908792" cy="566928"/>
          </a:xfrm>
          <a:prstGeom prst="rect">
            <a:avLst/>
          </a:prstGeom>
          <a:solidFill>
            <a:srgbClr val="EDF1F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34056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31920" y="2734056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831836" y="2734056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 (50 scored)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10908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00984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3300984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31836" y="3300984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 minutes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3867912"/>
            <a:ext cx="10908792" cy="566928"/>
          </a:xfrm>
          <a:prstGeom prst="rect">
            <a:avLst/>
          </a:prstGeom>
          <a:solidFill>
            <a:srgbClr val="EDF1F4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67912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931920" y="3867912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/ 1000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831836" y="3867912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 / 1000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908792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43484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(USD)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931920" y="4434840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831836" y="4434840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40080" y="5001768"/>
            <a:ext cx="10908792" cy="566928"/>
          </a:xfrm>
          <a:prstGeom prst="rect">
            <a:avLst/>
          </a:prstGeom>
          <a:solidFill>
            <a:srgbClr val="EDF1F4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001768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931920" y="5001768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/ response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831836" y="5001768"/>
            <a:ext cx="36255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/ response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40080" y="1600200"/>
            <a:ext cx="10908792" cy="3968496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SAA-C03 BLUEPRINT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Architect Exam Tests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domains. Security is the heaviest — and where most people lose points.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9019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Secure Architectures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3113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encryption, data protection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0" y="201168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4E9ED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2011680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C7211"/>
          </a:solidFill>
          <a:ln/>
        </p:spPr>
      </p:sp>
      <p:sp>
        <p:nvSpPr>
          <p:cNvPr id="9" name="Text 7"/>
          <p:cNvSpPr/>
          <p:nvPr/>
        </p:nvSpPr>
        <p:spPr>
          <a:xfrm>
            <a:off x="1056132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834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Resilient Architectures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163824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tolerance, multi-AZ, scaling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0" y="2944368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4E9ED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2944368"/>
            <a:ext cx="4120896" cy="457200"/>
          </a:xfrm>
          <a:prstGeom prst="roundRect">
            <a:avLst>
              <a:gd name="adj" fmla="val 12000"/>
            </a:avLst>
          </a:prstGeom>
          <a:solidFill>
            <a:srgbClr val="1E8FA5"/>
          </a:solidFill>
          <a:ln/>
        </p:spPr>
      </p:sp>
      <p:sp>
        <p:nvSpPr>
          <p:cNvPr id="14" name="Text 12"/>
          <p:cNvSpPr/>
          <p:nvPr/>
        </p:nvSpPr>
        <p:spPr>
          <a:xfrm>
            <a:off x="10561320" y="2944368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7673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High-Performing Architectures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0965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DB, networking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0" y="3877056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4E9ED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0" y="3877056"/>
            <a:ext cx="3803904" cy="457200"/>
          </a:xfrm>
          <a:prstGeom prst="roundRect">
            <a:avLst>
              <a:gd name="adj" fmla="val 12000"/>
            </a:avLst>
          </a:prstGeom>
          <a:solidFill>
            <a:srgbClr val="4B6584"/>
          </a:solidFill>
          <a:ln/>
        </p:spPr>
      </p:sp>
      <p:sp>
        <p:nvSpPr>
          <p:cNvPr id="19" name="Text 17"/>
          <p:cNvSpPr/>
          <p:nvPr/>
        </p:nvSpPr>
        <p:spPr>
          <a:xfrm>
            <a:off x="10561320" y="3877056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0080" y="47000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Cost-Optimized Architectures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" y="5029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models, S3 lifecycle, budgets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0" y="4809744"/>
            <a:ext cx="4754880" cy="457200"/>
          </a:xfrm>
          <a:prstGeom prst="roundRect">
            <a:avLst>
              <a:gd name="adj" fmla="val 12000"/>
            </a:avLst>
          </a:prstGeom>
          <a:solidFill>
            <a:srgbClr val="E4E9ED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0" y="4809744"/>
            <a:ext cx="3169920" cy="457200"/>
          </a:xfrm>
          <a:prstGeom prst="roundRect">
            <a:avLst>
              <a:gd name="adj" fmla="val 12000"/>
            </a:avLst>
          </a:prstGeom>
          <a:solidFill>
            <a:srgbClr val="1F8A38"/>
          </a:solidFill>
          <a:ln/>
        </p:spPr>
      </p:sp>
      <p:sp>
        <p:nvSpPr>
          <p:cNvPr id="24" name="Text 22"/>
          <p:cNvSpPr/>
          <p:nvPr/>
        </p:nvSpPr>
        <p:spPr>
          <a:xfrm>
            <a:off x="10561320" y="4809744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572000" cy="4572000"/>
          </a:xfrm>
          <a:prstGeom prst="ellipse">
            <a:avLst/>
          </a:prstGeom>
          <a:solidFill>
            <a:srgbClr val="FF9900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So… what is “the cloud”?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on-demand delivery of IT resources</a:t>
            </a:r>
            <a:pPr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compute, storage, databases, networking — </a:t>
            </a:r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internet, with pay-as-you-go pricing.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2E3E5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buying servers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 capacity instead of owning hardware.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06240" y="434340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2E3E52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5029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resources up and down in minutes.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0" y="4343400"/>
            <a:ext cx="3246120" cy="1600200"/>
          </a:xfrm>
          <a:prstGeom prst="roundRect">
            <a:avLst>
              <a:gd name="adj" fmla="val 5714"/>
            </a:avLst>
          </a:prstGeom>
          <a:solidFill>
            <a:srgbClr val="2E3E5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what you use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046720" y="5029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electricity — a utility bill, not a purchase.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CLOUD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Before the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appreciate the cloud, you have to feel the pain it replaced. This was IT for 40 years: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2024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2139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139696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upfront cost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761488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servers, storage, and network gear before serving a single customer.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52544" y="192024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2544" y="192024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608576" y="2139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84064" y="2139696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waiting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72584" y="2761488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Procure, rack, cable, configure. Good ideas died waiting on hardware.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65008" y="192024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192024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7" name="Text 15"/>
          <p:cNvSpPr/>
          <p:nvPr/>
        </p:nvSpPr>
        <p:spPr>
          <a:xfrm>
            <a:off x="8321040" y="2139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96528" y="2139696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your capacity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5048" y="2761488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too much and waste it; too little and crash on launch day.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93192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371600" y="4151376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idle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0120" y="4773168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sat at ~10% use most of the time — money burning 24/7.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52544" y="393192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52544" y="393192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4608576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084064" y="4151376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building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72584" y="4773168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cooling, physical security, real estate, and staff to babysit it.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065008" y="393192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65008" y="3931920"/>
            <a:ext cx="128016" cy="178308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32" name="Text 30"/>
          <p:cNvSpPr/>
          <p:nvPr/>
        </p:nvSpPr>
        <p:spPr>
          <a:xfrm>
            <a:off x="8321040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796528" y="4151376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local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85048" y="4773168"/>
            <a:ext cx="28895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customers in Europe? Go build another data center there.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“CLOUD”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Characteristics of Cloud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service has these five traits, it's genuinely cloud — not just a server someone else rents you.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self-service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7320" y="2240280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provision resources yourself, instantly — no human, no ticket, no waiting.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1576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157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6883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network access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417320" y="2990088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over the network from anywhere, on any device.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465576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655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34381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pooling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7320" y="3739896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pools massive capacity and serves many customers from it (multi-tenant).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215384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21538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41879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elasticity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417320" y="4489704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 when demand spikes, scale back when it drops — automatically.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965192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965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937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service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17320" y="5239512"/>
            <a:ext cx="996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metered, so you pay only for exactly what you consume.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ORGANIZATIONS MOVE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Advantages of Cloud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87452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capex for opex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2532888"/>
            <a:ext cx="2935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variable costs as you go instead of huge upfront investment.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185623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608576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12664" y="187452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economies of scale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26864" y="2532888"/>
            <a:ext cx="2935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buying power means lower pay-as-you-go prices for you.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160020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185623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856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25128" y="187452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 capacity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39328" y="2532888"/>
            <a:ext cx="2935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 or down on demand — no over- or under-provisioning.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61188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6112" y="386791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896112" y="38679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388620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speed &amp; agility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14400" y="4544568"/>
            <a:ext cx="2935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resources are minutes away, so you experiment faster.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52544" y="361188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08576" y="386791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4608576" y="38679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12664" y="388620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running data centers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626864" y="4544568"/>
            <a:ext cx="2935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your customers, not racking servers and cooling rooms.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65008" y="3611880"/>
            <a:ext cx="3483864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321040" y="3867912"/>
            <a:ext cx="566928" cy="5669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8321040" y="38679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25128" y="3886200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global in minutes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339328" y="4544568"/>
            <a:ext cx="29352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close to users worldwide with a few clicks.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It  vs  Rent 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financial idea in cloud — and a favorite exam theme.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2E3E5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Expense (CapEx)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058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front — before customer #1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4348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purchase, then depreciate it for years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eat the cost whether it's busy or idle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capacity years in advance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55080" y="2148840"/>
            <a:ext cx="5166360" cy="3977640"/>
          </a:xfrm>
          <a:prstGeom prst="roundRect">
            <a:avLst>
              <a:gd name="adj" fmla="val 2759"/>
            </a:avLst>
          </a:prstGeom>
          <a:solidFill>
            <a:srgbClr val="2E3E52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WAY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2084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Expense (OpEx)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3200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~$0.10/hr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72084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only while it runs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20840" y="443484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upfront buy — turn it on when needed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scale with actual usage</a:t>
            </a:r>
            <a:endParaRPr lang="en-US" sz="140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it off and stop paying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RUN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EC721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331720"/>
            <a:ext cx="3383280" cy="365760"/>
          </a:xfrm>
          <a:prstGeom prst="rect">
            <a:avLst/>
          </a:prstGeom>
          <a:solidFill>
            <a:srgbClr val="EC721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“All-in”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on cloud infrastructure. Fully cloud-native apps built and deployed on AWS.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178308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1E8FA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2331720"/>
            <a:ext cx="3383280" cy="365760"/>
          </a:xfrm>
          <a:prstGeom prst="rect">
            <a:avLst/>
          </a:prstGeom>
          <a:solidFill>
            <a:srgbClr val="1E8FA5"/>
          </a:solidFill>
          <a:ln/>
        </p:spPr>
      </p:sp>
      <p:sp>
        <p:nvSpPr>
          <p:cNvPr id="13" name="Text 11"/>
          <p:cNvSpPr/>
          <p:nvPr/>
        </p:nvSpPr>
        <p:spPr>
          <a:xfrm>
            <a:off x="4343400" y="1874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4340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both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30632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resources connected to on-premises infrastructure. Common during migration or for regulated data.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383280" cy="38404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783080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4B6584"/>
          </a:solidFill>
          <a:ln/>
        </p:spPr>
      </p:sp>
      <p:sp>
        <p:nvSpPr>
          <p:cNvPr id="18" name="Shape 16"/>
          <p:cNvSpPr/>
          <p:nvPr/>
        </p:nvSpPr>
        <p:spPr>
          <a:xfrm>
            <a:off x="8046720" y="2331720"/>
            <a:ext cx="3383280" cy="365760"/>
          </a:xfrm>
          <a:prstGeom prst="rect">
            <a:avLst/>
          </a:prstGeom>
          <a:solidFill>
            <a:srgbClr val="4B6584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0" y="1874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04672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/ edge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66760" y="306324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run in your own data center, often virtualized. Sometimes called a private cloud.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 PERSISTS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Isn't a Compromise — It's Reality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large organizations — including government — live here for years. Know why, and know the bridges.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STICKS AROUND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data residency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900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 must legally stay on-site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to the floor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7216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&amp; hospitals need local speed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Mid-migration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531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move 10,000 servers overnight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05840" y="4892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18464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apps that can't move — yet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257800" cy="3749040"/>
          </a:xfrm>
          <a:prstGeom prst="roundRect">
            <a:avLst>
              <a:gd name="adj" fmla="val 2927"/>
            </a:avLst>
          </a:prstGeom>
          <a:solidFill>
            <a:srgbClr val="232F3E"/>
          </a:solidFill>
          <a:ln/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29400" y="2240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BRIDGES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629400" y="2944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private, dedicated line into AWS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2940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29400" y="3675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tunnel over the internet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2940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Gateway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29400" y="4407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apps reach cloud storage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62940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Outposts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629400" y="51389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AWS hardware in your building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AWS MANAGES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Service Models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higher you go, the more AWS manages — and the less you have to.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4B658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2140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7249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Amazon EC2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2011680"/>
            <a:ext cx="88971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15798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926080" y="2523744"/>
            <a:ext cx="8257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rent the building blocks — servers, storage, networking — and manage the OS and up.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10128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1E8FA5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419856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Elastic Beanstalk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51760" y="3310128"/>
            <a:ext cx="88971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345643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926080" y="3822192"/>
            <a:ext cx="8257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manages the infrastructure and OS; you just deploy and run your code.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608576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EC7211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718304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0080" y="53218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web-based email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4608576"/>
            <a:ext cx="88971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4754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926080" y="5120640"/>
            <a:ext cx="8257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finished application delivered over the internet. You just use it.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RESPONSIBILITY 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Manages What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stack, different amounts of it on your plate. Orange = you manage · Navy = AWS manages.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926080" y="1874520"/>
            <a:ext cx="2100834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0" y="1874520"/>
            <a:ext cx="2100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81778" y="1874520"/>
            <a:ext cx="2100834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5081778" y="1874520"/>
            <a:ext cx="2100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37476" y="1874520"/>
            <a:ext cx="2100834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237476" y="1874520"/>
            <a:ext cx="2100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393174" y="1874520"/>
            <a:ext cx="2100834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9393174" y="1874520"/>
            <a:ext cx="21008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2331720"/>
            <a:ext cx="2286000" cy="512064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33172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926080" y="2331720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2331720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81778" y="2331720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5081778" y="2331720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237476" y="2331720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7237476" y="2331720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393174" y="2331720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9393174" y="2331720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2898648"/>
            <a:ext cx="2286000" cy="512064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2898648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926080" y="2898648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2898648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81778" y="2898648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5081778" y="2898648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37476" y="2898648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237476" y="2898648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393174" y="2898648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3" name="Text 31"/>
          <p:cNvSpPr/>
          <p:nvPr/>
        </p:nvSpPr>
        <p:spPr>
          <a:xfrm>
            <a:off x="9393174" y="2898648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3465576"/>
            <a:ext cx="2286000" cy="512064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35" name="Text 33"/>
          <p:cNvSpPr/>
          <p:nvPr/>
        </p:nvSpPr>
        <p:spPr>
          <a:xfrm>
            <a:off x="749808" y="3465576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2926080" y="3465576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/>
          <p:nvPr/>
        </p:nvSpPr>
        <p:spPr>
          <a:xfrm>
            <a:off x="2926080" y="3465576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081778" y="3465576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5081778" y="3465576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237476" y="3465576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1" name="Text 39"/>
          <p:cNvSpPr/>
          <p:nvPr/>
        </p:nvSpPr>
        <p:spPr>
          <a:xfrm>
            <a:off x="7237476" y="3465576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393174" y="3465576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43" name="Text 41"/>
          <p:cNvSpPr/>
          <p:nvPr/>
        </p:nvSpPr>
        <p:spPr>
          <a:xfrm>
            <a:off x="9393174" y="3465576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0080" y="4032504"/>
            <a:ext cx="2286000" cy="512064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45" name="Text 43"/>
          <p:cNvSpPr/>
          <p:nvPr/>
        </p:nvSpPr>
        <p:spPr>
          <a:xfrm>
            <a:off x="749808" y="4032504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2926080" y="4032504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7" name="Text 45"/>
          <p:cNvSpPr/>
          <p:nvPr/>
        </p:nvSpPr>
        <p:spPr>
          <a:xfrm>
            <a:off x="2926080" y="4032504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081778" y="4032504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9" name="Text 47"/>
          <p:cNvSpPr/>
          <p:nvPr/>
        </p:nvSpPr>
        <p:spPr>
          <a:xfrm>
            <a:off x="5081778" y="4032504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7237476" y="4032504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1" name="Text 49"/>
          <p:cNvSpPr/>
          <p:nvPr/>
        </p:nvSpPr>
        <p:spPr>
          <a:xfrm>
            <a:off x="7237476" y="4032504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393174" y="4032504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3" name="Text 51"/>
          <p:cNvSpPr/>
          <p:nvPr/>
        </p:nvSpPr>
        <p:spPr>
          <a:xfrm>
            <a:off x="9393174" y="4032504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640080" y="4599432"/>
            <a:ext cx="2286000" cy="512064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55" name="Text 53"/>
          <p:cNvSpPr/>
          <p:nvPr/>
        </p:nvSpPr>
        <p:spPr>
          <a:xfrm>
            <a:off x="749808" y="4599432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Virtualization</a:t>
            </a:r>
            <a:endParaRPr lang="en-US" sz="1350" dirty="0"/>
          </a:p>
        </p:txBody>
      </p:sp>
      <p:sp>
        <p:nvSpPr>
          <p:cNvPr id="56" name="Shape 54"/>
          <p:cNvSpPr/>
          <p:nvPr/>
        </p:nvSpPr>
        <p:spPr>
          <a:xfrm>
            <a:off x="2926080" y="4599432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7" name="Text 55"/>
          <p:cNvSpPr/>
          <p:nvPr/>
        </p:nvSpPr>
        <p:spPr>
          <a:xfrm>
            <a:off x="2926080" y="4599432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5081778" y="4599432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59" name="Text 57"/>
          <p:cNvSpPr/>
          <p:nvPr/>
        </p:nvSpPr>
        <p:spPr>
          <a:xfrm>
            <a:off x="5081778" y="4599432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7237476" y="4599432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1" name="Text 59"/>
          <p:cNvSpPr/>
          <p:nvPr/>
        </p:nvSpPr>
        <p:spPr>
          <a:xfrm>
            <a:off x="7237476" y="4599432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9393174" y="4599432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3" name="Text 61"/>
          <p:cNvSpPr/>
          <p:nvPr/>
        </p:nvSpPr>
        <p:spPr>
          <a:xfrm>
            <a:off x="9393174" y="4599432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40080" y="5166360"/>
            <a:ext cx="2286000" cy="512064"/>
          </a:xfrm>
          <a:prstGeom prst="rect">
            <a:avLst/>
          </a:prstGeom>
          <a:solidFill>
            <a:srgbClr val="E9EDF1"/>
          </a:solidFill>
          <a:ln/>
        </p:spPr>
      </p:sp>
      <p:sp>
        <p:nvSpPr>
          <p:cNvPr id="65" name="Text 63"/>
          <p:cNvSpPr/>
          <p:nvPr/>
        </p:nvSpPr>
        <p:spPr>
          <a:xfrm>
            <a:off x="749808" y="5166360"/>
            <a:ext cx="2103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2926080" y="5166360"/>
            <a:ext cx="2100834" cy="5120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7" name="Text 65"/>
          <p:cNvSpPr/>
          <p:nvPr/>
        </p:nvSpPr>
        <p:spPr>
          <a:xfrm>
            <a:off x="2926080" y="5166360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250" dirty="0"/>
          </a:p>
        </p:txBody>
      </p:sp>
      <p:sp>
        <p:nvSpPr>
          <p:cNvPr id="68" name="Shape 66"/>
          <p:cNvSpPr/>
          <p:nvPr/>
        </p:nvSpPr>
        <p:spPr>
          <a:xfrm>
            <a:off x="5081778" y="5166360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9" name="Text 67"/>
          <p:cNvSpPr/>
          <p:nvPr/>
        </p:nvSpPr>
        <p:spPr>
          <a:xfrm>
            <a:off x="5081778" y="5166360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70" name="Shape 68"/>
          <p:cNvSpPr/>
          <p:nvPr/>
        </p:nvSpPr>
        <p:spPr>
          <a:xfrm>
            <a:off x="7237476" y="5166360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1" name="Text 69"/>
          <p:cNvSpPr/>
          <p:nvPr/>
        </p:nvSpPr>
        <p:spPr>
          <a:xfrm>
            <a:off x="7237476" y="5166360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9393174" y="5166360"/>
            <a:ext cx="2100834" cy="512064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3" name="Text 71"/>
          <p:cNvSpPr/>
          <p:nvPr/>
        </p:nvSpPr>
        <p:spPr>
          <a:xfrm>
            <a:off x="9393174" y="5166360"/>
            <a:ext cx="210083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250" dirty="0"/>
          </a:p>
        </p:txBody>
      </p:sp>
      <p:sp>
        <p:nvSpPr>
          <p:cNvPr id="74" name="Text 72"/>
          <p:cNvSpPr/>
          <p:nvPr/>
        </p:nvSpPr>
        <p:spPr>
          <a:xfrm>
            <a:off x="640080" y="598932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right and AWS shoulders more of the stack — you trade control for less to manage.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IS 30% OF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Responsibility Model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security concept in all of AWS. Learn the line — the exam tests exactly where it falls.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2E3E52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5166360" cy="868680"/>
          </a:xfrm>
          <a:prstGeom prst="roundRect">
            <a:avLst>
              <a:gd name="adj" fmla="val 12632"/>
            </a:avLst>
          </a:prstGeom>
          <a:solidFill>
            <a:srgbClr val="1E8FA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06040"/>
            <a:ext cx="5166360" cy="320040"/>
          </a:xfrm>
          <a:prstGeom prst="rect">
            <a:avLst/>
          </a:prstGeom>
          <a:solidFill>
            <a:srgbClr val="1E8FA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76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OF the Cloud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320040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data centers</a:t>
            </a:r>
            <a:endParaRPr lang="en-US" sz="15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&amp; Availability Zones</a:t>
            </a:r>
            <a:endParaRPr lang="en-US" sz="15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 &amp; host network</a:t>
            </a:r>
            <a:endParaRPr lang="en-US" sz="15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virtualization layer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355080" y="205740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2E3E52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057400"/>
            <a:ext cx="5166360" cy="868680"/>
          </a:xfrm>
          <a:prstGeom prst="roundRect">
            <a:avLst>
              <a:gd name="adj" fmla="val 12632"/>
            </a:avLst>
          </a:prstGeom>
          <a:solidFill>
            <a:srgbClr val="FF99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2606040"/>
            <a:ext cx="5166360" cy="320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1762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720840" y="2606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the Cloud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66560" y="320040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(encrypt it)</a:t>
            </a:r>
            <a:endParaRPr lang="en-US" sz="15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— who can do what</a:t>
            </a:r>
            <a:endParaRPr lang="en-US" sz="15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&amp; app patching</a:t>
            </a:r>
            <a:endParaRPr lang="en-US" sz="15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55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security-group config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LEARN AWS SPECIFICALLY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AWS?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31012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leader — the platform employers ask for by name.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34340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331012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and depth to build almost anything you can imagine.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96596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046720" y="2926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21040" y="3310128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worldwide let you run close to users everywhere.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572000"/>
            <a:ext cx="10085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is portable.  </a:t>
            </a:r>
            <a:pPr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think like an architect on AWS and the concepts — scaling, redundancy, security, cost — carry to any cloud. But AWS is where the jobs and the demand are, so it's where we start.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AWS Is Organized Globally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 we'll build on all term: Regions, Availability Zones, Edge.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E3E5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51460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402336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geographic areas around the world (e.g., N. Virginia, Oregon). You choose where your workloads live.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279392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E3E52"/>
          </a:solidFill>
          <a:ln/>
        </p:spPr>
      </p:sp>
      <p:sp>
        <p:nvSpPr>
          <p:cNvPr id="11" name="Shape 9"/>
          <p:cNvSpPr/>
          <p:nvPr/>
        </p:nvSpPr>
        <p:spPr>
          <a:xfrm>
            <a:off x="4599432" y="2514600"/>
            <a:ext cx="822960" cy="822960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599432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99432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99432" y="402336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centers within a Region. Spread your app across several so one failure doesn't take you down.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18704" y="21945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E3E52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8744" y="2514600"/>
            <a:ext cx="822960" cy="822960"/>
          </a:xfrm>
          <a:prstGeom prst="ellipse">
            <a:avLst/>
          </a:prstGeom>
          <a:solidFill>
            <a:srgbClr val="6C8CB5"/>
          </a:solidFill>
          <a:ln/>
        </p:spPr>
      </p:sp>
      <p:sp>
        <p:nvSpPr>
          <p:cNvPr id="17" name="Text 15"/>
          <p:cNvSpPr/>
          <p:nvPr/>
        </p:nvSpPr>
        <p:spPr>
          <a:xfrm>
            <a:off x="8238744" y="25146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38744" y="35204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38744" y="4023360"/>
            <a:ext cx="2697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even closer to users that cache content (via CloudFront) to cut latency and speed delivery.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DESIGN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Choose a Region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lives in a Region you pick. Four things decide which one — this is a real exam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7151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46304" cy="1783080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4631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5857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resources close to your users. Someone in Dallas is faster served from a US Region than from Frankfurt.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77356" y="1965960"/>
            <a:ext cx="527151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77356" y="1965960"/>
            <a:ext cx="146304" cy="1783080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</p:sp>
      <p:sp>
        <p:nvSpPr>
          <p:cNvPr id="11" name="Text 9"/>
          <p:cNvSpPr/>
          <p:nvPr/>
        </p:nvSpPr>
        <p:spPr>
          <a:xfrm>
            <a:off x="6643116" y="2194560"/>
            <a:ext cx="4631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643116" y="2697480"/>
            <a:ext cx="45857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service costs different amounts in different Regions. N. Virginia is often cheapest.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527151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977640"/>
            <a:ext cx="146304" cy="1783080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206240"/>
            <a:ext cx="4631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05840" y="4709160"/>
            <a:ext cx="45857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Data-residency laws (e.g., GDPR) may require data to physically stay in a specific country.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77356" y="3977640"/>
            <a:ext cx="5271516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77356" y="3977640"/>
            <a:ext cx="146304" cy="1783080"/>
          </a:xfrm>
          <a:prstGeom prst="roundRect">
            <a:avLst>
              <a:gd name="adj" fmla="val 12500"/>
            </a:avLst>
          </a:prstGeom>
          <a:solidFill>
            <a:srgbClr val="4B6584"/>
          </a:solidFill>
          <a:ln/>
        </p:spPr>
      </p:sp>
      <p:sp>
        <p:nvSpPr>
          <p:cNvPr id="19" name="Text 17"/>
          <p:cNvSpPr/>
          <p:nvPr/>
        </p:nvSpPr>
        <p:spPr>
          <a:xfrm>
            <a:off x="6643116" y="4206240"/>
            <a:ext cx="46314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643116" y="4709160"/>
            <a:ext cx="45857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service launches in every Region. Check the newest features are where you need them.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RELIABILITY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Availability Zones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315200" cy="3291840"/>
          </a:xfrm>
          <a:prstGeom prst="roundRect">
            <a:avLst>
              <a:gd name="adj" fmla="val 2778"/>
            </a:avLst>
          </a:prstGeom>
          <a:ln w="19050">
            <a:solidFill>
              <a:srgbClr val="5A6B7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6868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Region:  us-east-1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2E3E5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60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 us-east-1a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71600" y="30632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990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06324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977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running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242316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2E3E52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2560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 us-east-1b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30632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306324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46120" y="3977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running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2423160"/>
            <a:ext cx="2057400" cy="2514600"/>
          </a:xfrm>
          <a:prstGeom prst="roundRect">
            <a:avLst>
              <a:gd name="adj" fmla="val 3556"/>
            </a:avLst>
          </a:prstGeom>
          <a:solidFill>
            <a:srgbClr val="2E3E52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256032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 us-east-1c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3063240"/>
            <a:ext cx="1234440" cy="777240"/>
          </a:xfrm>
          <a:prstGeom prst="roundRect">
            <a:avLst>
              <a:gd name="adj" fmla="val 7059"/>
            </a:avLst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3063240"/>
            <a:ext cx="1234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532120" y="397764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running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66760" y="1874520"/>
            <a:ext cx="3154680" cy="3291840"/>
          </a:xfrm>
          <a:prstGeom prst="roundRect">
            <a:avLst>
              <a:gd name="adj" fmla="val 2899"/>
            </a:avLst>
          </a:prstGeom>
          <a:solidFill>
            <a:srgbClr val="2E3E52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0" y="246888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AZs are physically separate data centers — their own power, cooling, and network.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copies of your app in 2–3 AZs. If one AZ goes down, the others keep serving.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habit is the heart of the Resilience domain.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AZ fails  →  your users never notice.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CLOSE TO 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Locations &amp; Global Reach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and AZs run your app. Edge locations get your content the last mile to users — fast.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86000"/>
            <a:ext cx="640080" cy="640080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(CDN)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content delivery network. It caches copies of your files at the edge, near your users.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286000"/>
            <a:ext cx="640080" cy="640080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edge sites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611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locations than Regions — spread worldwide so content is never far from anyone.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286000"/>
            <a:ext cx="640080" cy="640080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366760" y="31089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latency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6760" y="3611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in Tokyo gets your video from a Tokyo edge cache, not from Virginia. Faster, cheaper.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10908792" cy="777240"/>
          </a:xfrm>
          <a:prstGeom prst="roundRect">
            <a:avLst>
              <a:gd name="adj" fmla="val 11765"/>
            </a:avLst>
          </a:prstGeom>
          <a:solidFill>
            <a:srgbClr val="EDF1F4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029200"/>
            <a:ext cx="101772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 </a:t>
            </a:r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Netflix-style streaming leans on CDNs so your show starts instantly instead of buffering from a server an ocean away.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AWS Charges You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drive almost every bill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EC721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574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60120" y="236829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the time your servers run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834640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EC721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926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60120" y="32369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the data you keep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03320"/>
            <a:ext cx="5257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703320"/>
            <a:ext cx="128016" cy="73152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794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OUT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60120" y="410565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to move data out of AWS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617720"/>
            <a:ext cx="5257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Gotcha:  </a:t>
            </a:r>
            <a:pPr indent="0" marL="0">
              <a:lnSpc>
                <a:spcPct val="103000"/>
              </a:lnSpc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 is usually free; data OUT costs money. It trips people up on every bill and every exam.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55080" y="146304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4 PRICING PRINCIPLES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0" y="214884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21305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as you go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315200" y="2423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long-term contracts required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75120" y="297180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0" y="2953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when you reserve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31520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1–3 yrs, pay much less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675120" y="379476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37764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less by using more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315200" y="4069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discounts as you grow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675120" y="4617720"/>
            <a:ext cx="502920" cy="50292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4617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315200" y="45994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less as AWS grows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315200" y="4892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drop over time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ARCHITECT'S RULEBOOK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 Pillars of Well-Architected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AWS's framework for a 'good' design. The first four are literally your four exam domains.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3483864" cy="146304"/>
          </a:xfrm>
          <a:prstGeom prst="roundRect">
            <a:avLst>
              <a:gd name="adj" fmla="val 12500"/>
            </a:avLst>
          </a:prstGeom>
          <a:solidFill>
            <a:srgbClr val="4B658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585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45920" y="2276856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935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and monitor systems; keep improving.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2544" y="1965960"/>
            <a:ext cx="348386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2544" y="1965960"/>
            <a:ext cx="348386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</p:sp>
      <p:sp>
        <p:nvSpPr>
          <p:cNvPr id="12" name="Text 10"/>
          <p:cNvSpPr/>
          <p:nvPr/>
        </p:nvSpPr>
        <p:spPr>
          <a:xfrm>
            <a:off x="4626864" y="22585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358384" y="2276856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26864" y="2926080"/>
            <a:ext cx="2935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data, systems, and access.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65008" y="1965960"/>
            <a:ext cx="348386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1965960"/>
            <a:ext cx="348386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</p:sp>
      <p:sp>
        <p:nvSpPr>
          <p:cNvPr id="17" name="Text 15"/>
          <p:cNvSpPr/>
          <p:nvPr/>
        </p:nvSpPr>
        <p:spPr>
          <a:xfrm>
            <a:off x="8339328" y="225856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70848" y="2276856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2926080"/>
            <a:ext cx="2935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from failure; scale to meet demand.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348386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931920"/>
            <a:ext cx="348386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245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645920" y="4242816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892040"/>
            <a:ext cx="2935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resources efficiently as needs change.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52544" y="3931920"/>
            <a:ext cx="348386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52544" y="3931920"/>
            <a:ext cx="348386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</p:sp>
      <p:sp>
        <p:nvSpPr>
          <p:cNvPr id="27" name="Text 25"/>
          <p:cNvSpPr/>
          <p:nvPr/>
        </p:nvSpPr>
        <p:spPr>
          <a:xfrm>
            <a:off x="4626864" y="42245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358384" y="4242816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26864" y="4892040"/>
            <a:ext cx="2935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unnecessary cost; get value.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65008" y="3931920"/>
            <a:ext cx="3483864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65008" y="3931920"/>
            <a:ext cx="3483864" cy="146304"/>
          </a:xfrm>
          <a:prstGeom prst="roundRect">
            <a:avLst>
              <a:gd name="adj" fmla="val 12500"/>
            </a:avLst>
          </a:prstGeom>
          <a:solidFill>
            <a:srgbClr val="8A6D3B"/>
          </a:solidFill>
          <a:ln/>
        </p:spPr>
      </p:sp>
      <p:sp>
        <p:nvSpPr>
          <p:cNvPr id="32" name="Text 30"/>
          <p:cNvSpPr/>
          <p:nvPr/>
        </p:nvSpPr>
        <p:spPr>
          <a:xfrm>
            <a:off x="8339328" y="4224528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6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9070848" y="4242816"/>
            <a:ext cx="2295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39328" y="4892040"/>
            <a:ext cx="29352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environmental impact.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HEADED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8386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24414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AWS Foundations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8986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cloud is, your AWS account, support, and the AWS environment.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600200"/>
            <a:ext cx="348386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81144" y="24414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Services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81144" y="28986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databases, networking, and automating your workloads.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1600200"/>
            <a:ext cx="348386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93608" y="178308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293608" y="24414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Practitioner Exam Prep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93608" y="289864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it together and sit for CLF-C02.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348386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931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68680" y="45902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Deep-Dive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8680" y="50474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&amp; EBS, S3, VPC, databases, IAM, monitoring, DNS/CDN, messaging.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52544" y="3749040"/>
            <a:ext cx="348386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81144" y="3931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4581144" y="45902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Well-Architected Pillars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581144" y="50474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Reliability, performance, security, cost, and operational excellence.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65008" y="3749040"/>
            <a:ext cx="3483864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93608" y="393192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8293608" y="45902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Architect Exam Prep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293608" y="5047488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practice and sit for SAA-C03.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8424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8745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AWS Free Tier account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2768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aws.amazon.com and sign up. You'll need it hands-on. Set a billing alert so there are no surprises.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31012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101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004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AWS Skill Builder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027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skillbuilder.aws — free official learning paths and practice questions we'll lean 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63600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6360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2628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answer one question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2861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the cloud, and name three of the six advantages.” We'll open next class with it.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031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go build.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tonight: get into AWS Academy and open the AWS console for the first 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AWS Certified Solutions Architect – Associate  ·  Wake Tech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2026-07-16T22:33:15Z</dcterms:created>
  <dcterms:modified xsi:type="dcterms:W3CDTF">2026-07-16T22:33:15Z</dcterms:modified>
</cp:coreProperties>
</file>