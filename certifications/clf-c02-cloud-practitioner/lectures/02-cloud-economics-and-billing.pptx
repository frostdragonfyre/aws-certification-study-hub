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8961120" y="-1280160"/>
            <a:ext cx="4754880" cy="4754880"/>
          </a:xfrm>
          <a:prstGeom prst="ellipse">
            <a:avLst/>
          </a:prstGeom>
          <a:solidFill>
            <a:srgbClr val="FF9900">
              <a:alpha val="18000"/>
            </a:srgbClr>
          </a:solidFill>
          <a:ln/>
        </p:spPr>
      </p:sp>
      <p:sp>
        <p:nvSpPr>
          <p:cNvPr id="3" name="Shape 1"/>
          <p:cNvSpPr/>
          <p:nvPr/>
        </p:nvSpPr>
        <p:spPr>
          <a:xfrm>
            <a:off x="10058400" y="365760"/>
            <a:ext cx="3108960" cy="3108960"/>
          </a:xfrm>
          <a:prstGeom prst="ellipse">
            <a:avLst/>
          </a:prstGeom>
          <a:solidFill>
            <a:srgbClr val="FF9900">
              <a:alpha val="30000"/>
            </a:srgbClr>
          </a:solidFill>
          <a:ln/>
        </p:spPr>
      </p:sp>
      <p:sp>
        <p:nvSpPr>
          <p:cNvPr id="4" name="Shape 2"/>
          <p:cNvSpPr/>
          <p:nvPr/>
        </p:nvSpPr>
        <p:spPr>
          <a:xfrm>
            <a:off x="9509760" y="1463040"/>
            <a:ext cx="2011680" cy="2011680"/>
          </a:xfrm>
          <a:prstGeom prst="ellipse">
            <a:avLst/>
          </a:prstGeom>
          <a:solidFill>
            <a:srgbClr val="FF9900"/>
          </a:solidFill>
          <a:ln/>
        </p:spPr>
      </p:sp>
      <p:sp>
        <p:nvSpPr>
          <p:cNvPr id="5" name="Text 3"/>
          <p:cNvSpPr/>
          <p:nvPr/>
        </p:nvSpPr>
        <p:spPr>
          <a:xfrm>
            <a:off x="9509760" y="1463040"/>
            <a:ext cx="2011680" cy="2011680"/>
          </a:xfrm>
          <a:prstGeom prst="rect">
            <a:avLst/>
          </a:prstGeom>
          <a:noFill/>
          <a:ln/>
        </p:spPr>
        <p:txBody>
          <a:bodyPr wrap="square" rtlCol="0" anchor="ctr"/>
          <a:lstStyle/>
          <a:p>
            <a:pPr algn="ctr" indent="0" marL="0">
              <a:buNone/>
            </a:pPr>
            <a:r>
              <a:rPr lang="en-US" sz="4800" b="1" dirty="0">
                <a:solidFill>
                  <a:srgbClr val="232F3E"/>
                </a:solidFill>
                <a:latin typeface="Calibri" pitchFamily="34" charset="0"/>
                <a:ea typeface="Calibri" pitchFamily="34" charset="-122"/>
                <a:cs typeface="Calibri" pitchFamily="34" charset="-120"/>
              </a:rPr>
              <a:t>$</a:t>
            </a:r>
            <a:endParaRPr lang="en-US" sz="4800" dirty="0"/>
          </a:p>
        </p:txBody>
      </p:sp>
      <p:sp>
        <p:nvSpPr>
          <p:cNvPr id="6" name="Text 4"/>
          <p:cNvSpPr/>
          <p:nvPr/>
        </p:nvSpPr>
        <p:spPr>
          <a:xfrm>
            <a:off x="640080" y="1051560"/>
            <a:ext cx="8229600" cy="320040"/>
          </a:xfrm>
          <a:prstGeom prst="rect">
            <a:avLst/>
          </a:prstGeom>
          <a:noFill/>
          <a:ln/>
        </p:spPr>
        <p:txBody>
          <a:bodyPr wrap="square" rtlCol="0" anchor="ctr"/>
          <a:lstStyle/>
          <a:p>
            <a:pPr indent="0" marL="0">
              <a:buNone/>
            </a:pPr>
            <a:r>
              <a:rPr lang="en-US" sz="1300" b="1" spc="200" kern="0" dirty="0">
                <a:solidFill>
                  <a:srgbClr val="FF9900"/>
                </a:solidFill>
                <a:latin typeface="Calibri" pitchFamily="34" charset="0"/>
                <a:ea typeface="Calibri" pitchFamily="34" charset="-122"/>
                <a:cs typeface="Calibri" pitchFamily="34" charset="-120"/>
              </a:rPr>
              <a:t>MODULE 2  ·  AWS ACADEMY CLOUD FOUNDATIONS</a:t>
            </a:r>
            <a:endParaRPr lang="en-US" sz="1300" dirty="0"/>
          </a:p>
        </p:txBody>
      </p:sp>
      <p:sp>
        <p:nvSpPr>
          <p:cNvPr id="7" name="Text 5"/>
          <p:cNvSpPr/>
          <p:nvPr/>
        </p:nvSpPr>
        <p:spPr>
          <a:xfrm>
            <a:off x="640080" y="1600200"/>
            <a:ext cx="8229600" cy="1828800"/>
          </a:xfrm>
          <a:prstGeom prst="rect">
            <a:avLst/>
          </a:prstGeom>
          <a:noFill/>
          <a:ln/>
        </p:spPr>
        <p:txBody>
          <a:bodyPr wrap="square" rtlCol="0" anchor="ctr"/>
          <a:lstStyle/>
          <a:p>
            <a:pPr indent="0" marL="0">
              <a:lnSpc>
                <a:spcPct val="98000"/>
              </a:lnSpc>
              <a:buNone/>
            </a:pPr>
            <a:r>
              <a:rPr lang="en-US" sz="4600" b="1" dirty="0">
                <a:solidFill>
                  <a:srgbClr val="FFFFFF"/>
                </a:solidFill>
                <a:latin typeface="Calibri" pitchFamily="34" charset="0"/>
                <a:ea typeface="Calibri" pitchFamily="34" charset="-122"/>
                <a:cs typeface="Calibri" pitchFamily="34" charset="-120"/>
              </a:rPr>
              <a:t>Cloud Economics</a:t>
            </a:r>
            <a:endParaRPr lang="en-US" sz="4600" dirty="0"/>
          </a:p>
          <a:p>
            <a:pPr indent="0" marL="0">
              <a:lnSpc>
                <a:spcPct val="98000"/>
              </a:lnSpc>
              <a:buNone/>
            </a:pPr>
            <a:r>
              <a:rPr lang="en-US" sz="4600" b="1" dirty="0">
                <a:solidFill>
                  <a:srgbClr val="FFFFFF"/>
                </a:solidFill>
                <a:latin typeface="Calibri" pitchFamily="34" charset="0"/>
                <a:ea typeface="Calibri" pitchFamily="34" charset="-122"/>
                <a:cs typeface="Calibri" pitchFamily="34" charset="-120"/>
              </a:rPr>
              <a:t>and Billing</a:t>
            </a:r>
            <a:endParaRPr lang="en-US" sz="4600" dirty="0"/>
          </a:p>
        </p:txBody>
      </p:sp>
      <p:sp>
        <p:nvSpPr>
          <p:cNvPr id="8" name="Text 6"/>
          <p:cNvSpPr/>
          <p:nvPr/>
        </p:nvSpPr>
        <p:spPr>
          <a:xfrm>
            <a:off x="640080" y="3611880"/>
            <a:ext cx="8229600" cy="457200"/>
          </a:xfrm>
          <a:prstGeom prst="rect">
            <a:avLst/>
          </a:prstGeom>
          <a:noFill/>
          <a:ln/>
        </p:spPr>
        <p:txBody>
          <a:bodyPr wrap="square" rtlCol="0" anchor="ctr"/>
          <a:lstStyle/>
          <a:p>
            <a:pPr indent="0" marL="0">
              <a:buNone/>
            </a:pPr>
            <a:r>
              <a:rPr lang="en-US" sz="2200" dirty="0">
                <a:solidFill>
                  <a:srgbClr val="CADCE8"/>
                </a:solidFill>
                <a:latin typeface="Calibri" pitchFamily="34" charset="0"/>
                <a:ea typeface="Calibri" pitchFamily="34" charset="-122"/>
                <a:cs typeface="Calibri" pitchFamily="34" charset="-120"/>
              </a:rPr>
              <a:t>Lecture 2  —  What it costs, and how to control it</a:t>
            </a:r>
            <a:endParaRPr lang="en-US" sz="2200" dirty="0"/>
          </a:p>
        </p:txBody>
      </p:sp>
      <p:sp>
        <p:nvSpPr>
          <p:cNvPr id="9" name="Shape 7"/>
          <p:cNvSpPr/>
          <p:nvPr/>
        </p:nvSpPr>
        <p:spPr>
          <a:xfrm>
            <a:off x="640080" y="5074920"/>
            <a:ext cx="5120640" cy="0"/>
          </a:xfrm>
          <a:prstGeom prst="line">
            <a:avLst/>
          </a:prstGeom>
          <a:noFill/>
          <a:ln w="12700">
            <a:solidFill>
              <a:srgbClr val="44536A"/>
            </a:solidFill>
            <a:prstDash val="solid"/>
          </a:ln>
        </p:spPr>
      </p:sp>
      <p:sp>
        <p:nvSpPr>
          <p:cNvPr id="10" name="Text 8"/>
          <p:cNvSpPr/>
          <p:nvPr/>
        </p:nvSpPr>
        <p:spPr>
          <a:xfrm>
            <a:off x="640080" y="5212080"/>
            <a:ext cx="8229600" cy="320040"/>
          </a:xfrm>
          <a:prstGeom prst="rect">
            <a:avLst/>
          </a:prstGeom>
          <a:noFill/>
          <a:ln/>
        </p:spPr>
        <p:txBody>
          <a:bodyPr wrap="square" rtlCol="0" anchor="ctr"/>
          <a:lstStyle/>
          <a:p>
            <a:pPr indent="0" marL="0">
              <a:buNone/>
            </a:pPr>
            <a:r>
              <a:rPr lang="en-US" sz="1300" dirty="0">
                <a:solidFill>
                  <a:srgbClr val="8A97A6"/>
                </a:solidFill>
                <a:latin typeface="Calibri" pitchFamily="34" charset="0"/>
                <a:ea typeface="Calibri" pitchFamily="34" charset="-122"/>
                <a:cs typeface="Calibri" pitchFamily="34" charset="-120"/>
              </a:rPr>
              <a:t>Instructor  </a:t>
            </a:r>
            <a:pPr indent="0" marL="0">
              <a:buNone/>
            </a:pPr>
            <a:r>
              <a:rPr lang="en-US" sz="1500" b="1" dirty="0">
                <a:solidFill>
                  <a:srgbClr val="FFFFFF"/>
                </a:solidFill>
                <a:latin typeface="Calibri" pitchFamily="34" charset="0"/>
                <a:ea typeface="Calibri" pitchFamily="34" charset="-122"/>
                <a:cs typeface="Calibri" pitchFamily="34" charset="-120"/>
              </a:rPr>
              <a:t>Dr. Mycal “Mike” Brown</a:t>
            </a:r>
            <a:endParaRPr lang="en-US" sz="1300" dirty="0"/>
          </a:p>
        </p:txBody>
      </p:sp>
      <p:sp>
        <p:nvSpPr>
          <p:cNvPr id="11" name="Text 9"/>
          <p:cNvSpPr/>
          <p:nvPr/>
        </p:nvSpPr>
        <p:spPr>
          <a:xfrm>
            <a:off x="640080" y="5532120"/>
            <a:ext cx="8229600" cy="320040"/>
          </a:xfrm>
          <a:prstGeom prst="rect">
            <a:avLst/>
          </a:prstGeom>
          <a:noFill/>
          <a:ln/>
        </p:spPr>
        <p:txBody>
          <a:bodyPr wrap="square" rtlCol="0" anchor="ctr"/>
          <a:lstStyle/>
          <a:p>
            <a:pPr indent="0" marL="0">
              <a:buNone/>
            </a:pPr>
            <a:r>
              <a:rPr lang="en-US" sz="1200" i="1" dirty="0">
                <a:solidFill>
                  <a:srgbClr val="8A97A6"/>
                </a:solidFill>
                <a:latin typeface="Calibri" pitchFamily="34" charset="0"/>
                <a:ea typeface="Calibri" pitchFamily="34" charset="-122"/>
                <a:cs typeface="Calibri" pitchFamily="34" charset="-120"/>
              </a:rPr>
              <a:t>Cost Optimization is 20% of the SAA-C03 exam — and 100% of staying employed.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457200"/>
            <a:ext cx="10908792" cy="274320"/>
          </a:xfrm>
          <a:prstGeom prst="rect">
            <a:avLst/>
          </a:prstGeom>
          <a:noFill/>
          <a:ln/>
        </p:spPr>
        <p:txBody>
          <a:bodyPr wrap="square" rtlCol="0" anchor="ctr"/>
          <a:lstStyle/>
          <a:p>
            <a:pPr indent="0" marL="0">
              <a:buNone/>
            </a:pPr>
            <a:r>
              <a:rPr lang="en-US" sz="1200" b="1" spc="200" kern="0" dirty="0">
                <a:solidFill>
                  <a:srgbClr val="EC7211"/>
                </a:solidFill>
                <a:latin typeface="Calibri" pitchFamily="34" charset="0"/>
                <a:ea typeface="Calibri" pitchFamily="34" charset="-122"/>
                <a:cs typeface="Calibri" pitchFamily="34" charset="-120"/>
              </a:rPr>
              <a:t>BEFORE WE START</a:t>
            </a:r>
            <a:endParaRPr lang="en-US" sz="1200" dirty="0"/>
          </a:p>
        </p:txBody>
      </p:sp>
      <p:sp>
        <p:nvSpPr>
          <p:cNvPr id="3" name="Text 1"/>
          <p:cNvSpPr/>
          <p:nvPr/>
        </p:nvSpPr>
        <p:spPr>
          <a:xfrm>
            <a:off x="640080" y="731520"/>
            <a:ext cx="10908792" cy="640080"/>
          </a:xfrm>
          <a:prstGeom prst="rect">
            <a:avLst/>
          </a:prstGeom>
          <a:noFill/>
          <a:ln/>
        </p:spPr>
        <p:txBody>
          <a:bodyPr wrap="square" rtlCol="0" anchor="ctr"/>
          <a:lstStyle/>
          <a:p>
            <a:pPr indent="0" marL="0">
              <a:buNone/>
            </a:pPr>
            <a:r>
              <a:rPr lang="en-US" sz="3200" b="1" dirty="0">
                <a:solidFill>
                  <a:srgbClr val="232F3E"/>
                </a:solidFill>
                <a:latin typeface="Calibri" pitchFamily="34" charset="0"/>
                <a:ea typeface="Calibri" pitchFamily="34" charset="-122"/>
                <a:cs typeface="Calibri" pitchFamily="34" charset="-120"/>
              </a:rPr>
              <a:t>Question of the Day</a:t>
            </a:r>
            <a:endParaRPr lang="en-US" sz="3200" dirty="0"/>
          </a:p>
        </p:txBody>
      </p:sp>
      <p:sp>
        <p:nvSpPr>
          <p:cNvPr id="4" name="Shape 2"/>
          <p:cNvSpPr/>
          <p:nvPr/>
        </p:nvSpPr>
        <p:spPr>
          <a:xfrm>
            <a:off x="640080" y="1554480"/>
            <a:ext cx="10908792" cy="1371600"/>
          </a:xfrm>
          <a:prstGeom prst="roundRect">
            <a:avLst>
              <a:gd name="adj" fmla="val 8000"/>
            </a:avLst>
          </a:prstGeom>
          <a:solidFill>
            <a:srgbClr val="232F3E"/>
          </a:solidFill>
          <a:ln/>
        </p:spPr>
      </p:sp>
      <p:sp>
        <p:nvSpPr>
          <p:cNvPr id="5" name="Text 3"/>
          <p:cNvSpPr/>
          <p:nvPr/>
        </p:nvSpPr>
        <p:spPr>
          <a:xfrm>
            <a:off x="1097280" y="1783080"/>
            <a:ext cx="9994392" cy="54864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“What is the cloud — and name three of the six advantages.”</a:t>
            </a:r>
            <a:endParaRPr lang="en-US" sz="2400" dirty="0"/>
          </a:p>
        </p:txBody>
      </p:sp>
      <p:sp>
        <p:nvSpPr>
          <p:cNvPr id="6" name="Text 4"/>
          <p:cNvSpPr/>
          <p:nvPr/>
        </p:nvSpPr>
        <p:spPr>
          <a:xfrm>
            <a:off x="1097280" y="2331720"/>
            <a:ext cx="9994392" cy="365760"/>
          </a:xfrm>
          <a:prstGeom prst="rect">
            <a:avLst/>
          </a:prstGeom>
          <a:noFill/>
          <a:ln/>
        </p:spPr>
        <p:txBody>
          <a:bodyPr wrap="square" rtlCol="0" anchor="ctr"/>
          <a:lstStyle/>
          <a:p>
            <a:pPr indent="0" marL="0">
              <a:buNone/>
            </a:pPr>
            <a:r>
              <a:rPr lang="en-US" sz="1400" i="1" dirty="0">
                <a:solidFill>
                  <a:srgbClr val="AEB9C6"/>
                </a:solidFill>
                <a:latin typeface="Calibri" pitchFamily="34" charset="0"/>
                <a:ea typeface="Calibri" pitchFamily="34" charset="-122"/>
                <a:cs typeface="Calibri" pitchFamily="34" charset="-120"/>
              </a:rPr>
              <a:t>Your ticket in the door. Nobody leaves without being able to answer it.</a:t>
            </a:r>
            <a:endParaRPr lang="en-US" sz="1400" dirty="0"/>
          </a:p>
        </p:txBody>
      </p:sp>
      <p:sp>
        <p:nvSpPr>
          <p:cNvPr id="7" name="Text 5"/>
          <p:cNvSpPr/>
          <p:nvPr/>
        </p:nvSpPr>
        <p:spPr>
          <a:xfrm>
            <a:off x="640080" y="3154680"/>
            <a:ext cx="5486400" cy="365760"/>
          </a:xfrm>
          <a:prstGeom prst="rect">
            <a:avLst/>
          </a:prstGeom>
          <a:noFill/>
          <a:ln/>
        </p:spPr>
        <p:txBody>
          <a:bodyPr wrap="square" rtlCol="0" anchor="ctr"/>
          <a:lstStyle/>
          <a:p>
            <a:pPr indent="0" marL="0">
              <a:buNone/>
            </a:pPr>
            <a:r>
              <a:rPr lang="en-US" sz="1800" b="1" dirty="0">
                <a:solidFill>
                  <a:srgbClr val="232F3E"/>
                </a:solidFill>
                <a:latin typeface="Calibri" pitchFamily="34" charset="0"/>
                <a:ea typeface="Calibri" pitchFamily="34" charset="-122"/>
                <a:cs typeface="Calibri" pitchFamily="34" charset="-120"/>
              </a:rPr>
              <a:t>Where Lecture 1 left us</a:t>
            </a:r>
            <a:endParaRPr lang="en-US" sz="1800" dirty="0"/>
          </a:p>
        </p:txBody>
      </p:sp>
      <p:sp>
        <p:nvSpPr>
          <p:cNvPr id="8" name="Shape 6"/>
          <p:cNvSpPr/>
          <p:nvPr/>
        </p:nvSpPr>
        <p:spPr>
          <a:xfrm>
            <a:off x="640080" y="3611880"/>
            <a:ext cx="3483864" cy="1828800"/>
          </a:xfrm>
          <a:prstGeom prst="roundRect">
            <a:avLst>
              <a:gd name="adj" fmla="val 5000"/>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sp>
      <p:sp>
        <p:nvSpPr>
          <p:cNvPr id="9" name="Shape 7"/>
          <p:cNvSpPr/>
          <p:nvPr/>
        </p:nvSpPr>
        <p:spPr>
          <a:xfrm>
            <a:off x="640080" y="3611880"/>
            <a:ext cx="137160" cy="1828800"/>
          </a:xfrm>
          <a:prstGeom prst="roundRect">
            <a:avLst>
              <a:gd name="adj" fmla="val 13333"/>
            </a:avLst>
          </a:prstGeom>
          <a:solidFill>
            <a:srgbClr val="1E8FA5"/>
          </a:solidFill>
          <a:ln/>
        </p:spPr>
      </p:sp>
      <p:sp>
        <p:nvSpPr>
          <p:cNvPr id="10" name="Text 8"/>
          <p:cNvSpPr/>
          <p:nvPr/>
        </p:nvSpPr>
        <p:spPr>
          <a:xfrm>
            <a:off x="1005840" y="381304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Cloud = on-demand + pay-as-you-go</a:t>
            </a:r>
            <a:endParaRPr lang="en-US" sz="1600" dirty="0"/>
          </a:p>
        </p:txBody>
      </p:sp>
      <p:sp>
        <p:nvSpPr>
          <p:cNvPr id="11" name="Text 9"/>
          <p:cNvSpPr/>
          <p:nvPr/>
        </p:nvSpPr>
        <p:spPr>
          <a:xfrm>
            <a:off x="1005840" y="4343400"/>
            <a:ext cx="2843784" cy="91440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We defined it. Tonight we find out what “pay-as-you-go” actually costs.</a:t>
            </a:r>
            <a:endParaRPr lang="en-US" sz="1300" dirty="0"/>
          </a:p>
        </p:txBody>
      </p:sp>
      <p:sp>
        <p:nvSpPr>
          <p:cNvPr id="12" name="Shape 10"/>
          <p:cNvSpPr/>
          <p:nvPr/>
        </p:nvSpPr>
        <p:spPr>
          <a:xfrm>
            <a:off x="4352544" y="3611880"/>
            <a:ext cx="3483864" cy="1828800"/>
          </a:xfrm>
          <a:prstGeom prst="roundRect">
            <a:avLst>
              <a:gd name="adj" fmla="val 5000"/>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sp>
      <p:sp>
        <p:nvSpPr>
          <p:cNvPr id="13" name="Shape 11"/>
          <p:cNvSpPr/>
          <p:nvPr/>
        </p:nvSpPr>
        <p:spPr>
          <a:xfrm>
            <a:off x="4352544" y="3611880"/>
            <a:ext cx="137160" cy="1828800"/>
          </a:xfrm>
          <a:prstGeom prst="roundRect">
            <a:avLst>
              <a:gd name="adj" fmla="val 13333"/>
            </a:avLst>
          </a:prstGeom>
          <a:solidFill>
            <a:srgbClr val="EC7211"/>
          </a:solidFill>
          <a:ln/>
        </p:spPr>
      </p:sp>
      <p:sp>
        <p:nvSpPr>
          <p:cNvPr id="14" name="Text 12"/>
          <p:cNvSpPr/>
          <p:nvPr/>
        </p:nvSpPr>
        <p:spPr>
          <a:xfrm>
            <a:off x="4718304" y="381304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Capex → Opex</a:t>
            </a:r>
            <a:endParaRPr lang="en-US" sz="1600" dirty="0"/>
          </a:p>
        </p:txBody>
      </p:sp>
      <p:sp>
        <p:nvSpPr>
          <p:cNvPr id="15" name="Text 13"/>
          <p:cNvSpPr/>
          <p:nvPr/>
        </p:nvSpPr>
        <p:spPr>
          <a:xfrm>
            <a:off x="4718304" y="4343400"/>
            <a:ext cx="2843784" cy="91440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We said renting beats owning. Tonight we prove it with real numbers (TCO).</a:t>
            </a:r>
            <a:endParaRPr lang="en-US" sz="1300" dirty="0"/>
          </a:p>
        </p:txBody>
      </p:sp>
      <p:sp>
        <p:nvSpPr>
          <p:cNvPr id="16" name="Shape 14"/>
          <p:cNvSpPr/>
          <p:nvPr/>
        </p:nvSpPr>
        <p:spPr>
          <a:xfrm>
            <a:off x="8065008" y="3611880"/>
            <a:ext cx="3483864" cy="1828800"/>
          </a:xfrm>
          <a:prstGeom prst="roundRect">
            <a:avLst>
              <a:gd name="adj" fmla="val 5000"/>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sp>
      <p:sp>
        <p:nvSpPr>
          <p:cNvPr id="17" name="Shape 15"/>
          <p:cNvSpPr/>
          <p:nvPr/>
        </p:nvSpPr>
        <p:spPr>
          <a:xfrm>
            <a:off x="8065008" y="3611880"/>
            <a:ext cx="137160" cy="1828800"/>
          </a:xfrm>
          <a:prstGeom prst="roundRect">
            <a:avLst>
              <a:gd name="adj" fmla="val 13333"/>
            </a:avLst>
          </a:prstGeom>
          <a:solidFill>
            <a:srgbClr val="1F8A38"/>
          </a:solidFill>
          <a:ln/>
        </p:spPr>
      </p:sp>
      <p:sp>
        <p:nvSpPr>
          <p:cNvPr id="18" name="Text 16"/>
          <p:cNvSpPr/>
          <p:nvPr/>
        </p:nvSpPr>
        <p:spPr>
          <a:xfrm>
            <a:off x="8430768" y="381304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Pricing principles</a:t>
            </a:r>
            <a:endParaRPr lang="en-US" sz="1600" dirty="0"/>
          </a:p>
        </p:txBody>
      </p:sp>
      <p:sp>
        <p:nvSpPr>
          <p:cNvPr id="19" name="Text 17"/>
          <p:cNvSpPr/>
          <p:nvPr/>
        </p:nvSpPr>
        <p:spPr>
          <a:xfrm>
            <a:off x="8430768" y="4343400"/>
            <a:ext cx="2843784" cy="91440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We previewed four. Tonight we go deep and learn the tools that control the bill.</a:t>
            </a:r>
            <a:endParaRPr lang="en-US" sz="1300" dirty="0"/>
          </a:p>
        </p:txBody>
      </p:sp>
      <p:sp>
        <p:nvSpPr>
          <p:cNvPr id="20" name="Text 18"/>
          <p:cNvSpPr/>
          <p:nvPr/>
        </p:nvSpPr>
        <p:spPr>
          <a:xfrm>
            <a:off x="640080" y="6473952"/>
            <a:ext cx="5943600" cy="274320"/>
          </a:xfrm>
          <a:prstGeom prst="rect">
            <a:avLst/>
          </a:prstGeom>
          <a:noFill/>
          <a:ln/>
        </p:spPr>
        <p:txBody>
          <a:bodyPr wrap="square" rtlCol="0" anchor="ctr"/>
          <a:lstStyle/>
          <a:p>
            <a:pPr indent="0" marL="0">
              <a:buNone/>
            </a:pPr>
            <a:r>
              <a:rPr lang="en-US" sz="900" dirty="0">
                <a:solidFill>
                  <a:srgbClr val="5B6570"/>
                </a:solidFill>
                <a:latin typeface="Calibri" pitchFamily="34" charset="0"/>
                <a:ea typeface="Calibri" pitchFamily="34" charset="-122"/>
                <a:cs typeface="Calibri" pitchFamily="34" charset="-120"/>
              </a:rPr>
              <a:t>AWS SAA-A  ·  Lecture 2  ·  Cloud Economics &amp; Billing</a:t>
            </a:r>
            <a:endParaRPr lang="en-US" sz="900" dirty="0"/>
          </a:p>
        </p:txBody>
      </p:sp>
      <p:sp>
        <p:nvSpPr>
          <p:cNvPr id="21" name="Text 19"/>
          <p:cNvSpPr/>
          <p:nvPr/>
        </p:nvSpPr>
        <p:spPr>
          <a:xfrm>
            <a:off x="11000232" y="6473952"/>
            <a:ext cx="548640" cy="274320"/>
          </a:xfrm>
          <a:prstGeom prst="rect">
            <a:avLst/>
          </a:prstGeom>
          <a:noFill/>
          <a:ln/>
        </p:spPr>
        <p:txBody>
          <a:bodyPr wrap="square" rtlCol="0" anchor="ctr"/>
          <a:lstStyle/>
          <a:p>
            <a:pPr algn="r" indent="0" marL="0">
              <a:buNone/>
            </a:pPr>
            <a:r>
              <a:rPr lang="en-US" sz="900" dirty="0">
                <a:solidFill>
                  <a:srgbClr val="5B657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457200"/>
            <a:ext cx="10908792" cy="274320"/>
          </a:xfrm>
          <a:prstGeom prst="rect">
            <a:avLst/>
          </a:prstGeom>
          <a:noFill/>
          <a:ln/>
        </p:spPr>
        <p:txBody>
          <a:bodyPr wrap="square" rtlCol="0" anchor="ctr"/>
          <a:lstStyle/>
          <a:p>
            <a:pPr indent="0" marL="0">
              <a:buNone/>
            </a:pPr>
            <a:r>
              <a:rPr lang="en-US" sz="1200" b="1" spc="200" kern="0" dirty="0">
                <a:solidFill>
                  <a:srgbClr val="EC7211"/>
                </a:solidFill>
                <a:latin typeface="Calibri" pitchFamily="34" charset="0"/>
                <a:ea typeface="Calibri" pitchFamily="34" charset="-122"/>
                <a:cs typeface="Calibri" pitchFamily="34" charset="-120"/>
              </a:rPr>
              <a:t>TONIGHT'S MISSION</a:t>
            </a:r>
            <a:endParaRPr lang="en-US" sz="1200" dirty="0"/>
          </a:p>
        </p:txBody>
      </p:sp>
      <p:sp>
        <p:nvSpPr>
          <p:cNvPr id="3" name="Text 1"/>
          <p:cNvSpPr/>
          <p:nvPr/>
        </p:nvSpPr>
        <p:spPr>
          <a:xfrm>
            <a:off x="640080" y="731520"/>
            <a:ext cx="10908792" cy="640080"/>
          </a:xfrm>
          <a:prstGeom prst="rect">
            <a:avLst/>
          </a:prstGeom>
          <a:noFill/>
          <a:ln/>
        </p:spPr>
        <p:txBody>
          <a:bodyPr wrap="square" rtlCol="0" anchor="ctr"/>
          <a:lstStyle/>
          <a:p>
            <a:pPr indent="0" marL="0">
              <a:buNone/>
            </a:pPr>
            <a:r>
              <a:rPr lang="en-US" sz="3200" b="1" dirty="0">
                <a:solidFill>
                  <a:srgbClr val="232F3E"/>
                </a:solidFill>
                <a:latin typeface="Calibri" pitchFamily="34" charset="0"/>
                <a:ea typeface="Calibri" pitchFamily="34" charset="-122"/>
                <a:cs typeface="Calibri" pitchFamily="34" charset="-120"/>
              </a:rPr>
              <a:t>What You'll Be Able to Do</a:t>
            </a:r>
            <a:endParaRPr lang="en-US" sz="3200" dirty="0"/>
          </a:p>
        </p:txBody>
      </p:sp>
      <p:sp>
        <p:nvSpPr>
          <p:cNvPr id="4" name="Text 2"/>
          <p:cNvSpPr/>
          <p:nvPr/>
        </p:nvSpPr>
        <p:spPr>
          <a:xfrm>
            <a:off x="640080" y="1417320"/>
            <a:ext cx="10908792" cy="365760"/>
          </a:xfrm>
          <a:prstGeom prst="rect">
            <a:avLst/>
          </a:prstGeom>
          <a:noFill/>
          <a:ln/>
        </p:spPr>
        <p:txBody>
          <a:bodyPr wrap="square" rtlCol="0" anchor="ctr"/>
          <a:lstStyle/>
          <a:p>
            <a:pPr indent="0" marL="0">
              <a:buNone/>
            </a:pPr>
            <a:r>
              <a:rPr lang="en-US" sz="1500" i="1" dirty="0">
                <a:solidFill>
                  <a:srgbClr val="5B6570"/>
                </a:solidFill>
                <a:latin typeface="Calibri" pitchFamily="34" charset="0"/>
                <a:ea typeface="Calibri" pitchFamily="34" charset="-122"/>
                <a:cs typeface="Calibri" pitchFamily="34" charset="-120"/>
              </a:rPr>
              <a:t>By the end of this session you should be able to…</a:t>
            </a:r>
            <a:endParaRPr lang="en-US" sz="1500" dirty="0"/>
          </a:p>
        </p:txBody>
      </p:sp>
      <p:sp>
        <p:nvSpPr>
          <p:cNvPr id="5" name="Shape 3"/>
          <p:cNvSpPr/>
          <p:nvPr/>
        </p:nvSpPr>
        <p:spPr>
          <a:xfrm>
            <a:off x="640080" y="1965960"/>
            <a:ext cx="475488" cy="475488"/>
          </a:xfrm>
          <a:prstGeom prst="ellipse">
            <a:avLst/>
          </a:prstGeom>
          <a:solidFill>
            <a:srgbClr val="EC7211"/>
          </a:solidFill>
          <a:ln/>
        </p:spPr>
      </p:sp>
      <p:sp>
        <p:nvSpPr>
          <p:cNvPr id="6" name="Text 4"/>
          <p:cNvSpPr/>
          <p:nvPr/>
        </p:nvSpPr>
        <p:spPr>
          <a:xfrm>
            <a:off x="640080" y="1965960"/>
            <a:ext cx="475488" cy="47548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325880" y="1965960"/>
            <a:ext cx="10424160" cy="475488"/>
          </a:xfrm>
          <a:prstGeom prst="rect">
            <a:avLst/>
          </a:prstGeom>
          <a:noFill/>
          <a:ln/>
        </p:spPr>
        <p:txBody>
          <a:bodyPr wrap="square" rtlCol="0" anchor="ctr"/>
          <a:lstStyle/>
          <a:p>
            <a:pPr indent="0" marL="0">
              <a:buNone/>
            </a:pPr>
            <a:r>
              <a:rPr lang="en-US" sz="1550" dirty="0">
                <a:solidFill>
                  <a:srgbClr val="232F3E"/>
                </a:solidFill>
                <a:latin typeface="Calibri" pitchFamily="34" charset="0"/>
                <a:ea typeface="Calibri" pitchFamily="34" charset="-122"/>
                <a:cs typeface="Calibri" pitchFamily="34" charset="-120"/>
              </a:rPr>
              <a:t>Explain AWS's pricing philosophy and the fundamentals of how you get charged</a:t>
            </a:r>
            <a:endParaRPr lang="en-US" sz="1550" dirty="0"/>
          </a:p>
        </p:txBody>
      </p:sp>
      <p:sp>
        <p:nvSpPr>
          <p:cNvPr id="8" name="Shape 6"/>
          <p:cNvSpPr/>
          <p:nvPr/>
        </p:nvSpPr>
        <p:spPr>
          <a:xfrm>
            <a:off x="640080" y="2624328"/>
            <a:ext cx="475488" cy="475488"/>
          </a:xfrm>
          <a:prstGeom prst="ellipse">
            <a:avLst/>
          </a:prstGeom>
          <a:solidFill>
            <a:srgbClr val="EC7211"/>
          </a:solidFill>
          <a:ln/>
        </p:spPr>
      </p:sp>
      <p:sp>
        <p:nvSpPr>
          <p:cNvPr id="9" name="Text 7"/>
          <p:cNvSpPr/>
          <p:nvPr/>
        </p:nvSpPr>
        <p:spPr>
          <a:xfrm>
            <a:off x="640080" y="2624328"/>
            <a:ext cx="475488" cy="47548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325880" y="2624328"/>
            <a:ext cx="10424160" cy="475488"/>
          </a:xfrm>
          <a:prstGeom prst="rect">
            <a:avLst/>
          </a:prstGeom>
          <a:noFill/>
          <a:ln/>
        </p:spPr>
        <p:txBody>
          <a:bodyPr wrap="square" rtlCol="0" anchor="ctr"/>
          <a:lstStyle/>
          <a:p>
            <a:pPr indent="0" marL="0">
              <a:buNone/>
            </a:pPr>
            <a:r>
              <a:rPr lang="en-US" sz="1550" dirty="0">
                <a:solidFill>
                  <a:srgbClr val="232F3E"/>
                </a:solidFill>
                <a:latin typeface="Calibri" pitchFamily="34" charset="0"/>
                <a:ea typeface="Calibri" pitchFamily="34" charset="-122"/>
                <a:cs typeface="Calibri" pitchFamily="34" charset="-120"/>
              </a:rPr>
              <a:t>Identify the elements of Total Cost of Ownership (TCO) and why on-prem costs hide</a:t>
            </a:r>
            <a:endParaRPr lang="en-US" sz="1550" dirty="0"/>
          </a:p>
        </p:txBody>
      </p:sp>
      <p:sp>
        <p:nvSpPr>
          <p:cNvPr id="11" name="Shape 9"/>
          <p:cNvSpPr/>
          <p:nvPr/>
        </p:nvSpPr>
        <p:spPr>
          <a:xfrm>
            <a:off x="640080" y="3282696"/>
            <a:ext cx="475488" cy="475488"/>
          </a:xfrm>
          <a:prstGeom prst="ellipse">
            <a:avLst/>
          </a:prstGeom>
          <a:solidFill>
            <a:srgbClr val="EC7211"/>
          </a:solidFill>
          <a:ln/>
        </p:spPr>
      </p:sp>
      <p:sp>
        <p:nvSpPr>
          <p:cNvPr id="12" name="Text 10"/>
          <p:cNvSpPr/>
          <p:nvPr/>
        </p:nvSpPr>
        <p:spPr>
          <a:xfrm>
            <a:off x="640080" y="3282696"/>
            <a:ext cx="475488" cy="47548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p:nvPr/>
        </p:nvSpPr>
        <p:spPr>
          <a:xfrm>
            <a:off x="1325880" y="3282696"/>
            <a:ext cx="10424160" cy="475488"/>
          </a:xfrm>
          <a:prstGeom prst="rect">
            <a:avLst/>
          </a:prstGeom>
          <a:noFill/>
          <a:ln/>
        </p:spPr>
        <p:txBody>
          <a:bodyPr wrap="square" rtlCol="0" anchor="ctr"/>
          <a:lstStyle/>
          <a:p>
            <a:pPr indent="0" marL="0">
              <a:buNone/>
            </a:pPr>
            <a:r>
              <a:rPr lang="en-US" sz="1550" dirty="0">
                <a:solidFill>
                  <a:srgbClr val="232F3E"/>
                </a:solidFill>
                <a:latin typeface="Calibri" pitchFamily="34" charset="0"/>
                <a:ea typeface="Calibri" pitchFamily="34" charset="-122"/>
                <a:cs typeface="Calibri" pitchFamily="34" charset="-120"/>
              </a:rPr>
              <a:t>Build a cost estimate using the AWS Pricing Calculator</a:t>
            </a:r>
            <a:endParaRPr lang="en-US" sz="1550" dirty="0"/>
          </a:p>
        </p:txBody>
      </p:sp>
      <p:sp>
        <p:nvSpPr>
          <p:cNvPr id="14" name="Shape 12"/>
          <p:cNvSpPr/>
          <p:nvPr/>
        </p:nvSpPr>
        <p:spPr>
          <a:xfrm>
            <a:off x="640080" y="3941064"/>
            <a:ext cx="475488" cy="475488"/>
          </a:xfrm>
          <a:prstGeom prst="ellipse">
            <a:avLst/>
          </a:prstGeom>
          <a:solidFill>
            <a:srgbClr val="1E8FA5"/>
          </a:solidFill>
          <a:ln/>
        </p:spPr>
      </p:sp>
      <p:sp>
        <p:nvSpPr>
          <p:cNvPr id="15" name="Text 13"/>
          <p:cNvSpPr/>
          <p:nvPr/>
        </p:nvSpPr>
        <p:spPr>
          <a:xfrm>
            <a:off x="640080" y="3941064"/>
            <a:ext cx="475488" cy="47548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p:nvPr/>
        </p:nvSpPr>
        <p:spPr>
          <a:xfrm>
            <a:off x="1325880" y="3941064"/>
            <a:ext cx="10424160" cy="475488"/>
          </a:xfrm>
          <a:prstGeom prst="rect">
            <a:avLst/>
          </a:prstGeom>
          <a:noFill/>
          <a:ln/>
        </p:spPr>
        <p:txBody>
          <a:bodyPr wrap="square" rtlCol="0" anchor="ctr"/>
          <a:lstStyle/>
          <a:p>
            <a:pPr indent="0" marL="0">
              <a:buNone/>
            </a:pPr>
            <a:r>
              <a:rPr lang="en-US" sz="1550" dirty="0">
                <a:solidFill>
                  <a:srgbClr val="232F3E"/>
                </a:solidFill>
                <a:latin typeface="Calibri" pitchFamily="34" charset="0"/>
                <a:ea typeface="Calibri" pitchFamily="34" charset="-122"/>
                <a:cs typeface="Calibri" pitchFamily="34" charset="-120"/>
              </a:rPr>
              <a:t>Use AWS Organizations to structure accounts and consolidate billing</a:t>
            </a:r>
            <a:endParaRPr lang="en-US" sz="1550" dirty="0"/>
          </a:p>
        </p:txBody>
      </p:sp>
      <p:sp>
        <p:nvSpPr>
          <p:cNvPr id="17" name="Shape 15"/>
          <p:cNvSpPr/>
          <p:nvPr/>
        </p:nvSpPr>
        <p:spPr>
          <a:xfrm>
            <a:off x="640080" y="4599432"/>
            <a:ext cx="475488" cy="475488"/>
          </a:xfrm>
          <a:prstGeom prst="ellipse">
            <a:avLst/>
          </a:prstGeom>
          <a:solidFill>
            <a:srgbClr val="1E8FA5"/>
          </a:solidFill>
          <a:ln/>
        </p:spPr>
      </p:sp>
      <p:sp>
        <p:nvSpPr>
          <p:cNvPr id="18" name="Text 16"/>
          <p:cNvSpPr/>
          <p:nvPr/>
        </p:nvSpPr>
        <p:spPr>
          <a:xfrm>
            <a:off x="640080" y="4599432"/>
            <a:ext cx="475488" cy="47548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9" name="Text 17"/>
          <p:cNvSpPr/>
          <p:nvPr/>
        </p:nvSpPr>
        <p:spPr>
          <a:xfrm>
            <a:off x="1325880" y="4599432"/>
            <a:ext cx="10424160" cy="475488"/>
          </a:xfrm>
          <a:prstGeom prst="rect">
            <a:avLst/>
          </a:prstGeom>
          <a:noFill/>
          <a:ln/>
        </p:spPr>
        <p:txBody>
          <a:bodyPr wrap="square" rtlCol="0" anchor="ctr"/>
          <a:lstStyle/>
          <a:p>
            <a:pPr indent="0" marL="0">
              <a:buNone/>
            </a:pPr>
            <a:r>
              <a:rPr lang="en-US" sz="1550" dirty="0">
                <a:solidFill>
                  <a:srgbClr val="232F3E"/>
                </a:solidFill>
                <a:latin typeface="Calibri" pitchFamily="34" charset="0"/>
                <a:ea typeface="Calibri" pitchFamily="34" charset="-122"/>
                <a:cs typeface="Calibri" pitchFamily="34" charset="-120"/>
              </a:rPr>
              <a:t>Navigate the Billing Dashboard: Bills, Cost Explorer, Budgets, and Cost &amp; Usage Reports</a:t>
            </a:r>
            <a:endParaRPr lang="en-US" sz="1550" dirty="0"/>
          </a:p>
        </p:txBody>
      </p:sp>
      <p:sp>
        <p:nvSpPr>
          <p:cNvPr id="20" name="Shape 18"/>
          <p:cNvSpPr/>
          <p:nvPr/>
        </p:nvSpPr>
        <p:spPr>
          <a:xfrm>
            <a:off x="640080" y="5257800"/>
            <a:ext cx="475488" cy="475488"/>
          </a:xfrm>
          <a:prstGeom prst="ellipse">
            <a:avLst/>
          </a:prstGeom>
          <a:solidFill>
            <a:srgbClr val="1E8FA5"/>
          </a:solidFill>
          <a:ln/>
        </p:spPr>
      </p:sp>
      <p:sp>
        <p:nvSpPr>
          <p:cNvPr id="21" name="Text 19"/>
          <p:cNvSpPr/>
          <p:nvPr/>
        </p:nvSpPr>
        <p:spPr>
          <a:xfrm>
            <a:off x="640080" y="5257800"/>
            <a:ext cx="475488" cy="47548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2" name="Text 20"/>
          <p:cNvSpPr/>
          <p:nvPr/>
        </p:nvSpPr>
        <p:spPr>
          <a:xfrm>
            <a:off x="1325880" y="5257800"/>
            <a:ext cx="10424160" cy="475488"/>
          </a:xfrm>
          <a:prstGeom prst="rect">
            <a:avLst/>
          </a:prstGeom>
          <a:noFill/>
          <a:ln/>
        </p:spPr>
        <p:txBody>
          <a:bodyPr wrap="square" rtlCol="0" anchor="ctr"/>
          <a:lstStyle/>
          <a:p>
            <a:pPr indent="0" marL="0">
              <a:buNone/>
            </a:pPr>
            <a:r>
              <a:rPr lang="en-US" sz="1550" dirty="0">
                <a:solidFill>
                  <a:srgbClr val="232F3E"/>
                </a:solidFill>
                <a:latin typeface="Calibri" pitchFamily="34" charset="0"/>
                <a:ea typeface="Calibri" pitchFamily="34" charset="-122"/>
                <a:cs typeface="Calibri" pitchFamily="34" charset="-120"/>
              </a:rPr>
              <a:t>Compare the AWS technical support plans and pick the right one for a scenario</a:t>
            </a:r>
            <a:endParaRPr lang="en-US" sz="1550" dirty="0"/>
          </a:p>
        </p:txBody>
      </p:sp>
      <p:sp>
        <p:nvSpPr>
          <p:cNvPr id="23" name="Text 21"/>
          <p:cNvSpPr/>
          <p:nvPr/>
        </p:nvSpPr>
        <p:spPr>
          <a:xfrm>
            <a:off x="640080" y="6473952"/>
            <a:ext cx="5943600" cy="274320"/>
          </a:xfrm>
          <a:prstGeom prst="rect">
            <a:avLst/>
          </a:prstGeom>
          <a:noFill/>
          <a:ln/>
        </p:spPr>
        <p:txBody>
          <a:bodyPr wrap="square" rtlCol="0" anchor="ctr"/>
          <a:lstStyle/>
          <a:p>
            <a:pPr indent="0" marL="0">
              <a:buNone/>
            </a:pPr>
            <a:r>
              <a:rPr lang="en-US" sz="900" dirty="0">
                <a:solidFill>
                  <a:srgbClr val="5B6570"/>
                </a:solidFill>
                <a:latin typeface="Calibri" pitchFamily="34" charset="0"/>
                <a:ea typeface="Calibri" pitchFamily="34" charset="-122"/>
                <a:cs typeface="Calibri" pitchFamily="34" charset="-120"/>
              </a:rPr>
              <a:t>AWS SAA-A  ·  Lecture 2  ·  Cloud Economics &amp; Billing</a:t>
            </a:r>
            <a:endParaRPr lang="en-US" sz="900" dirty="0"/>
          </a:p>
        </p:txBody>
      </p:sp>
      <p:sp>
        <p:nvSpPr>
          <p:cNvPr id="24" name="Text 22"/>
          <p:cNvSpPr/>
          <p:nvPr/>
        </p:nvSpPr>
        <p:spPr>
          <a:xfrm>
            <a:off x="11000232" y="6473952"/>
            <a:ext cx="548640" cy="274320"/>
          </a:xfrm>
          <a:prstGeom prst="rect">
            <a:avLst/>
          </a:prstGeom>
          <a:noFill/>
          <a:ln/>
        </p:spPr>
        <p:txBody>
          <a:bodyPr wrap="square" rtlCol="0" anchor="ctr"/>
          <a:lstStyle/>
          <a:p>
            <a:pPr algn="r" indent="0" marL="0">
              <a:buNone/>
            </a:pPr>
            <a:r>
              <a:rPr lang="en-US" sz="900" dirty="0">
                <a:solidFill>
                  <a:srgbClr val="5B657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32F3E"/>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indent="0" marL="0">
              <a:buNone/>
            </a:pPr>
            <a:r>
              <a:rPr lang="en-US" sz="1200" b="1" spc="200" kern="0" dirty="0">
                <a:solidFill>
                  <a:srgbClr val="FF9900"/>
                </a:solidFill>
                <a:latin typeface="Calibri" pitchFamily="34" charset="0"/>
                <a:ea typeface="Calibri" pitchFamily="34" charset="-122"/>
                <a:cs typeface="Calibri" pitchFamily="34" charset="-120"/>
              </a:rPr>
              <a:t>THE MENTAL MODEL</a:t>
            </a:r>
            <a:endParaRPr lang="en-US" sz="1200" dirty="0"/>
          </a:p>
        </p:txBody>
      </p:sp>
      <p:sp>
        <p:nvSpPr>
          <p:cNvPr id="3" name="Text 1"/>
          <p:cNvSpPr/>
          <p:nvPr/>
        </p:nvSpPr>
        <p:spPr>
          <a:xfrm>
            <a:off x="640080" y="822960"/>
            <a:ext cx="105156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AWS's Pricing Philosophy</a:t>
            </a:r>
            <a:endParaRPr lang="en-US" sz="3200" dirty="0"/>
          </a:p>
        </p:txBody>
      </p:sp>
      <p:sp>
        <p:nvSpPr>
          <p:cNvPr id="4" name="Text 2"/>
          <p:cNvSpPr/>
          <p:nvPr/>
        </p:nvSpPr>
        <p:spPr>
          <a:xfrm>
            <a:off x="640080" y="1508760"/>
            <a:ext cx="10515600" cy="365760"/>
          </a:xfrm>
          <a:prstGeom prst="rect">
            <a:avLst/>
          </a:prstGeom>
          <a:noFill/>
          <a:ln/>
        </p:spPr>
        <p:txBody>
          <a:bodyPr wrap="square" rtlCol="0" anchor="ctr"/>
          <a:lstStyle/>
          <a:p>
            <a:pPr indent="0" marL="0">
              <a:buNone/>
            </a:pPr>
            <a:r>
              <a:rPr lang="en-US" sz="1500" i="1" dirty="0">
                <a:solidFill>
                  <a:srgbClr val="AEB9C6"/>
                </a:solidFill>
                <a:latin typeface="Calibri" pitchFamily="34" charset="0"/>
                <a:ea typeface="Calibri" pitchFamily="34" charset="-122"/>
                <a:cs typeface="Calibri" pitchFamily="34" charset="-120"/>
              </a:rPr>
              <a:t>Four principles. Everything about AWS billing flows from these.</a:t>
            </a:r>
            <a:endParaRPr lang="en-US" sz="1500" dirty="0"/>
          </a:p>
        </p:txBody>
      </p:sp>
      <p:sp>
        <p:nvSpPr>
          <p:cNvPr id="5" name="Shape 3"/>
          <p:cNvSpPr/>
          <p:nvPr/>
        </p:nvSpPr>
        <p:spPr>
          <a:xfrm>
            <a:off x="640080" y="2148840"/>
            <a:ext cx="5257800" cy="1783080"/>
          </a:xfrm>
          <a:prstGeom prst="roundRect">
            <a:avLst>
              <a:gd name="adj" fmla="val 6154"/>
            </a:avLst>
          </a:prstGeom>
          <a:solidFill>
            <a:srgbClr val="2E3E52"/>
          </a:solidFill>
          <a:ln/>
        </p:spPr>
      </p:sp>
      <p:sp>
        <p:nvSpPr>
          <p:cNvPr id="6" name="Shape 4"/>
          <p:cNvSpPr/>
          <p:nvPr/>
        </p:nvSpPr>
        <p:spPr>
          <a:xfrm>
            <a:off x="960120" y="2423160"/>
            <a:ext cx="548640" cy="548640"/>
          </a:xfrm>
          <a:prstGeom prst="ellipse">
            <a:avLst/>
          </a:prstGeom>
          <a:solidFill>
            <a:srgbClr val="FF9900"/>
          </a:solidFill>
          <a:ln/>
        </p:spPr>
      </p:sp>
      <p:sp>
        <p:nvSpPr>
          <p:cNvPr id="7" name="Text 5"/>
          <p:cNvSpPr/>
          <p:nvPr/>
        </p:nvSpPr>
        <p:spPr>
          <a:xfrm>
            <a:off x="960120" y="2423160"/>
            <a:ext cx="548640" cy="548640"/>
          </a:xfrm>
          <a:prstGeom prst="rect">
            <a:avLst/>
          </a:prstGeom>
          <a:noFill/>
          <a:ln/>
        </p:spPr>
        <p:txBody>
          <a:bodyPr wrap="square" rtlCol="0" anchor="ctr"/>
          <a:lstStyle/>
          <a:p>
            <a:pPr algn="ctr" indent="0" marL="0">
              <a:buNone/>
            </a:pPr>
            <a:r>
              <a:rPr lang="en-US" sz="1400" b="1" dirty="0">
                <a:solidFill>
                  <a:srgbClr val="232F3E"/>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645920" y="2468880"/>
            <a:ext cx="3931920" cy="45720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Pay as you go</a:t>
            </a:r>
            <a:endParaRPr lang="en-US" sz="1900" dirty="0"/>
          </a:p>
        </p:txBody>
      </p:sp>
      <p:sp>
        <p:nvSpPr>
          <p:cNvPr id="9" name="Text 7"/>
          <p:cNvSpPr/>
          <p:nvPr/>
        </p:nvSpPr>
        <p:spPr>
          <a:xfrm>
            <a:off x="1005840" y="3108960"/>
            <a:ext cx="4572000" cy="685800"/>
          </a:xfrm>
          <a:prstGeom prst="rect">
            <a:avLst/>
          </a:prstGeom>
          <a:noFill/>
          <a:ln/>
        </p:spPr>
        <p:txBody>
          <a:bodyPr wrap="square" rtlCol="0" anchor="ctr"/>
          <a:lstStyle/>
          <a:p>
            <a:pPr indent="0" marL="0">
              <a:lnSpc>
                <a:spcPct val="103000"/>
              </a:lnSpc>
              <a:buNone/>
            </a:pPr>
            <a:r>
              <a:rPr lang="en-US" sz="1350" dirty="0">
                <a:solidFill>
                  <a:srgbClr val="C7D2DE"/>
                </a:solidFill>
                <a:latin typeface="Calibri" pitchFamily="34" charset="0"/>
                <a:ea typeface="Calibri" pitchFamily="34" charset="-122"/>
                <a:cs typeface="Calibri" pitchFamily="34" charset="-120"/>
              </a:rPr>
              <a:t>No upfront commitment, no long-term contract. Turn it on, pay; turn it off, stop paying.</a:t>
            </a:r>
            <a:endParaRPr lang="en-US" sz="1350" dirty="0"/>
          </a:p>
        </p:txBody>
      </p:sp>
      <p:sp>
        <p:nvSpPr>
          <p:cNvPr id="10" name="Shape 8"/>
          <p:cNvSpPr/>
          <p:nvPr/>
        </p:nvSpPr>
        <p:spPr>
          <a:xfrm>
            <a:off x="6217920" y="2148840"/>
            <a:ext cx="5257800" cy="1783080"/>
          </a:xfrm>
          <a:prstGeom prst="roundRect">
            <a:avLst>
              <a:gd name="adj" fmla="val 6154"/>
            </a:avLst>
          </a:prstGeom>
          <a:solidFill>
            <a:srgbClr val="2E3E52"/>
          </a:solidFill>
          <a:ln/>
        </p:spPr>
      </p:sp>
      <p:sp>
        <p:nvSpPr>
          <p:cNvPr id="11" name="Shape 9"/>
          <p:cNvSpPr/>
          <p:nvPr/>
        </p:nvSpPr>
        <p:spPr>
          <a:xfrm>
            <a:off x="6537960" y="2423160"/>
            <a:ext cx="548640" cy="548640"/>
          </a:xfrm>
          <a:prstGeom prst="ellipse">
            <a:avLst/>
          </a:prstGeom>
          <a:solidFill>
            <a:srgbClr val="FF9900"/>
          </a:solidFill>
          <a:ln/>
        </p:spPr>
      </p:sp>
      <p:sp>
        <p:nvSpPr>
          <p:cNvPr id="12" name="Text 10"/>
          <p:cNvSpPr/>
          <p:nvPr/>
        </p:nvSpPr>
        <p:spPr>
          <a:xfrm>
            <a:off x="6537960" y="2423160"/>
            <a:ext cx="548640" cy="548640"/>
          </a:xfrm>
          <a:prstGeom prst="rect">
            <a:avLst/>
          </a:prstGeom>
          <a:noFill/>
          <a:ln/>
        </p:spPr>
        <p:txBody>
          <a:bodyPr wrap="square" rtlCol="0" anchor="ctr"/>
          <a:lstStyle/>
          <a:p>
            <a:pPr algn="ctr" indent="0" marL="0">
              <a:buNone/>
            </a:pPr>
            <a:r>
              <a:rPr lang="en-US" sz="1400" b="1" dirty="0">
                <a:solidFill>
                  <a:srgbClr val="232F3E"/>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7223760" y="2468880"/>
            <a:ext cx="3931920" cy="45720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Save when you reserve</a:t>
            </a:r>
            <a:endParaRPr lang="en-US" sz="1900" dirty="0"/>
          </a:p>
        </p:txBody>
      </p:sp>
      <p:sp>
        <p:nvSpPr>
          <p:cNvPr id="14" name="Text 12"/>
          <p:cNvSpPr/>
          <p:nvPr/>
        </p:nvSpPr>
        <p:spPr>
          <a:xfrm>
            <a:off x="6583680" y="3108960"/>
            <a:ext cx="4572000" cy="685800"/>
          </a:xfrm>
          <a:prstGeom prst="rect">
            <a:avLst/>
          </a:prstGeom>
          <a:noFill/>
          <a:ln/>
        </p:spPr>
        <p:txBody>
          <a:bodyPr wrap="square" rtlCol="0" anchor="ctr"/>
          <a:lstStyle/>
          <a:p>
            <a:pPr indent="0" marL="0">
              <a:lnSpc>
                <a:spcPct val="103000"/>
              </a:lnSpc>
              <a:buNone/>
            </a:pPr>
            <a:r>
              <a:rPr lang="en-US" sz="1350" dirty="0">
                <a:solidFill>
                  <a:srgbClr val="C7D2DE"/>
                </a:solidFill>
                <a:latin typeface="Calibri" pitchFamily="34" charset="0"/>
                <a:ea typeface="Calibri" pitchFamily="34" charset="-122"/>
                <a:cs typeface="Calibri" pitchFamily="34" charset="-120"/>
              </a:rPr>
              <a:t>Commit to 1 or 3 years of usage and pay substantially less than on-demand rates.</a:t>
            </a:r>
            <a:endParaRPr lang="en-US" sz="1350" dirty="0"/>
          </a:p>
        </p:txBody>
      </p:sp>
      <p:sp>
        <p:nvSpPr>
          <p:cNvPr id="15" name="Shape 13"/>
          <p:cNvSpPr/>
          <p:nvPr/>
        </p:nvSpPr>
        <p:spPr>
          <a:xfrm>
            <a:off x="640080" y="4114800"/>
            <a:ext cx="5257800" cy="1783080"/>
          </a:xfrm>
          <a:prstGeom prst="roundRect">
            <a:avLst>
              <a:gd name="adj" fmla="val 6154"/>
            </a:avLst>
          </a:prstGeom>
          <a:solidFill>
            <a:srgbClr val="2E3E52"/>
          </a:solidFill>
          <a:ln/>
        </p:spPr>
      </p:sp>
      <p:sp>
        <p:nvSpPr>
          <p:cNvPr id="16" name="Shape 14"/>
          <p:cNvSpPr/>
          <p:nvPr/>
        </p:nvSpPr>
        <p:spPr>
          <a:xfrm>
            <a:off x="960120" y="4389120"/>
            <a:ext cx="548640" cy="548640"/>
          </a:xfrm>
          <a:prstGeom prst="ellipse">
            <a:avLst/>
          </a:prstGeom>
          <a:solidFill>
            <a:srgbClr val="FF9900"/>
          </a:solidFill>
          <a:ln/>
        </p:spPr>
      </p:sp>
      <p:sp>
        <p:nvSpPr>
          <p:cNvPr id="17" name="Text 15"/>
          <p:cNvSpPr/>
          <p:nvPr/>
        </p:nvSpPr>
        <p:spPr>
          <a:xfrm>
            <a:off x="960120" y="4389120"/>
            <a:ext cx="548640" cy="548640"/>
          </a:xfrm>
          <a:prstGeom prst="rect">
            <a:avLst/>
          </a:prstGeom>
          <a:noFill/>
          <a:ln/>
        </p:spPr>
        <p:txBody>
          <a:bodyPr wrap="square" rtlCol="0" anchor="ctr"/>
          <a:lstStyle/>
          <a:p>
            <a:pPr algn="ctr" indent="0" marL="0">
              <a:buNone/>
            </a:pPr>
            <a:r>
              <a:rPr lang="en-US" sz="1400" b="1" dirty="0">
                <a:solidFill>
                  <a:srgbClr val="232F3E"/>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1645920" y="4434840"/>
            <a:ext cx="3931920" cy="45720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Pay less by using more</a:t>
            </a:r>
            <a:endParaRPr lang="en-US" sz="1900" dirty="0"/>
          </a:p>
        </p:txBody>
      </p:sp>
      <p:sp>
        <p:nvSpPr>
          <p:cNvPr id="19" name="Text 17"/>
          <p:cNvSpPr/>
          <p:nvPr/>
        </p:nvSpPr>
        <p:spPr>
          <a:xfrm>
            <a:off x="1005840" y="5074920"/>
            <a:ext cx="4572000" cy="685800"/>
          </a:xfrm>
          <a:prstGeom prst="rect">
            <a:avLst/>
          </a:prstGeom>
          <a:noFill/>
          <a:ln/>
        </p:spPr>
        <p:txBody>
          <a:bodyPr wrap="square" rtlCol="0" anchor="ctr"/>
          <a:lstStyle/>
          <a:p>
            <a:pPr indent="0" marL="0">
              <a:lnSpc>
                <a:spcPct val="103000"/>
              </a:lnSpc>
              <a:buNone/>
            </a:pPr>
            <a:r>
              <a:rPr lang="en-US" sz="1350" dirty="0">
                <a:solidFill>
                  <a:srgbClr val="C7D2DE"/>
                </a:solidFill>
                <a:latin typeface="Calibri" pitchFamily="34" charset="0"/>
                <a:ea typeface="Calibri" pitchFamily="34" charset="-122"/>
                <a:cs typeface="Calibri" pitchFamily="34" charset="-120"/>
              </a:rPr>
              <a:t>Volume-based tiers — the more you consume, the lower the per-unit price.</a:t>
            </a:r>
            <a:endParaRPr lang="en-US" sz="1350" dirty="0"/>
          </a:p>
        </p:txBody>
      </p:sp>
      <p:sp>
        <p:nvSpPr>
          <p:cNvPr id="20" name="Shape 18"/>
          <p:cNvSpPr/>
          <p:nvPr/>
        </p:nvSpPr>
        <p:spPr>
          <a:xfrm>
            <a:off x="6217920" y="4114800"/>
            <a:ext cx="5257800" cy="1783080"/>
          </a:xfrm>
          <a:prstGeom prst="roundRect">
            <a:avLst>
              <a:gd name="adj" fmla="val 6154"/>
            </a:avLst>
          </a:prstGeom>
          <a:solidFill>
            <a:srgbClr val="2E3E52"/>
          </a:solidFill>
          <a:ln/>
        </p:spPr>
      </p:sp>
      <p:sp>
        <p:nvSpPr>
          <p:cNvPr id="21" name="Shape 19"/>
          <p:cNvSpPr/>
          <p:nvPr/>
        </p:nvSpPr>
        <p:spPr>
          <a:xfrm>
            <a:off x="6537960" y="4389120"/>
            <a:ext cx="548640" cy="548640"/>
          </a:xfrm>
          <a:prstGeom prst="ellipse">
            <a:avLst/>
          </a:prstGeom>
          <a:solidFill>
            <a:srgbClr val="FF9900"/>
          </a:solidFill>
          <a:ln/>
        </p:spPr>
      </p:sp>
      <p:sp>
        <p:nvSpPr>
          <p:cNvPr id="22" name="Text 20"/>
          <p:cNvSpPr/>
          <p:nvPr/>
        </p:nvSpPr>
        <p:spPr>
          <a:xfrm>
            <a:off x="6537960" y="4389120"/>
            <a:ext cx="548640" cy="548640"/>
          </a:xfrm>
          <a:prstGeom prst="rect">
            <a:avLst/>
          </a:prstGeom>
          <a:noFill/>
          <a:ln/>
        </p:spPr>
        <p:txBody>
          <a:bodyPr wrap="square" rtlCol="0" anchor="ctr"/>
          <a:lstStyle/>
          <a:p>
            <a:pPr algn="ctr" indent="0" marL="0">
              <a:buNone/>
            </a:pPr>
            <a:r>
              <a:rPr lang="en-US" sz="1400" b="1" dirty="0">
                <a:solidFill>
                  <a:srgbClr val="232F3E"/>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7223760" y="4434840"/>
            <a:ext cx="3931920" cy="45720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Pay less as AWS grows</a:t>
            </a:r>
            <a:endParaRPr lang="en-US" sz="1900" dirty="0"/>
          </a:p>
        </p:txBody>
      </p:sp>
      <p:sp>
        <p:nvSpPr>
          <p:cNvPr id="24" name="Text 22"/>
          <p:cNvSpPr/>
          <p:nvPr/>
        </p:nvSpPr>
        <p:spPr>
          <a:xfrm>
            <a:off x="6583680" y="5074920"/>
            <a:ext cx="4572000" cy="685800"/>
          </a:xfrm>
          <a:prstGeom prst="rect">
            <a:avLst/>
          </a:prstGeom>
          <a:noFill/>
          <a:ln/>
        </p:spPr>
        <p:txBody>
          <a:bodyPr wrap="square" rtlCol="0" anchor="ctr"/>
          <a:lstStyle/>
          <a:p>
            <a:pPr indent="0" marL="0">
              <a:lnSpc>
                <a:spcPct val="103000"/>
              </a:lnSpc>
              <a:buNone/>
            </a:pPr>
            <a:r>
              <a:rPr lang="en-US" sz="1350" dirty="0">
                <a:solidFill>
                  <a:srgbClr val="C7D2DE"/>
                </a:solidFill>
                <a:latin typeface="Calibri" pitchFamily="34" charset="0"/>
                <a:ea typeface="Calibri" pitchFamily="34" charset="-122"/>
                <a:cs typeface="Calibri" pitchFamily="34" charset="-120"/>
              </a:rPr>
              <a:t>AWS gains efficiency at scale and has cut prices many times over the years.</a:t>
            </a:r>
            <a:endParaRPr lang="en-US" sz="1350" dirty="0"/>
          </a:p>
        </p:txBody>
      </p:sp>
      <p:sp>
        <p:nvSpPr>
          <p:cNvPr id="25" name="Text 23"/>
          <p:cNvSpPr/>
          <p:nvPr/>
        </p:nvSpPr>
        <p:spPr>
          <a:xfrm>
            <a:off x="640080" y="6473952"/>
            <a:ext cx="5943600" cy="274320"/>
          </a:xfrm>
          <a:prstGeom prst="rect">
            <a:avLst/>
          </a:prstGeom>
          <a:noFill/>
          <a:ln/>
        </p:spPr>
        <p:txBody>
          <a:bodyPr wrap="square" rtlCol="0" anchor="ctr"/>
          <a:lstStyle/>
          <a:p>
            <a:pPr indent="0" marL="0">
              <a:buNone/>
            </a:pPr>
            <a:r>
              <a:rPr lang="en-US" sz="900" dirty="0">
                <a:solidFill>
                  <a:srgbClr val="5B6570"/>
                </a:solidFill>
                <a:latin typeface="Calibri" pitchFamily="34" charset="0"/>
                <a:ea typeface="Calibri" pitchFamily="34" charset="-122"/>
                <a:cs typeface="Calibri" pitchFamily="34" charset="-120"/>
              </a:rPr>
              <a:t>AWS SAA-A  ·  Lecture 2  ·  Cloud Economics &amp; Billing</a:t>
            </a:r>
            <a:endParaRPr lang="en-US" sz="900" dirty="0"/>
          </a:p>
        </p:txBody>
      </p:sp>
      <p:sp>
        <p:nvSpPr>
          <p:cNvPr id="26" name="Text 24"/>
          <p:cNvSpPr/>
          <p:nvPr/>
        </p:nvSpPr>
        <p:spPr>
          <a:xfrm>
            <a:off x="11000232" y="6473952"/>
            <a:ext cx="548640" cy="274320"/>
          </a:xfrm>
          <a:prstGeom prst="rect">
            <a:avLst/>
          </a:prstGeom>
          <a:noFill/>
          <a:ln/>
        </p:spPr>
        <p:txBody>
          <a:bodyPr wrap="square" rtlCol="0" anchor="ctr"/>
          <a:lstStyle/>
          <a:p>
            <a:pPr algn="r" indent="0" marL="0">
              <a:buNone/>
            </a:pPr>
            <a:r>
              <a:rPr lang="en-US" sz="900" dirty="0">
                <a:solidFill>
                  <a:srgbClr val="5B657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457200"/>
            <a:ext cx="10908792" cy="274320"/>
          </a:xfrm>
          <a:prstGeom prst="rect">
            <a:avLst/>
          </a:prstGeom>
          <a:noFill/>
          <a:ln/>
        </p:spPr>
        <p:txBody>
          <a:bodyPr wrap="square" rtlCol="0" anchor="ctr"/>
          <a:lstStyle/>
          <a:p>
            <a:pPr indent="0" marL="0">
              <a:buNone/>
            </a:pPr>
            <a:r>
              <a:rPr lang="en-US" sz="1200" b="1" spc="200" kern="0" dirty="0">
                <a:solidFill>
                  <a:srgbClr val="EC7211"/>
                </a:solidFill>
                <a:latin typeface="Calibri" pitchFamily="34" charset="0"/>
                <a:ea typeface="Calibri" pitchFamily="34" charset="-122"/>
                <a:cs typeface="Calibri" pitchFamily="34" charset="-120"/>
              </a:rPr>
              <a:t>THE FUNDAMENTALS</a:t>
            </a:r>
            <a:endParaRPr lang="en-US" sz="1200" dirty="0"/>
          </a:p>
        </p:txBody>
      </p:sp>
      <p:sp>
        <p:nvSpPr>
          <p:cNvPr id="3" name="Text 1"/>
          <p:cNvSpPr/>
          <p:nvPr/>
        </p:nvSpPr>
        <p:spPr>
          <a:xfrm>
            <a:off x="640080" y="731520"/>
            <a:ext cx="10908792" cy="640080"/>
          </a:xfrm>
          <a:prstGeom prst="rect">
            <a:avLst/>
          </a:prstGeom>
          <a:noFill/>
          <a:ln/>
        </p:spPr>
        <p:txBody>
          <a:bodyPr wrap="square" rtlCol="0" anchor="ctr"/>
          <a:lstStyle/>
          <a:p>
            <a:pPr indent="0" marL="0">
              <a:buNone/>
            </a:pPr>
            <a:r>
              <a:rPr lang="en-US" sz="3200" b="1" dirty="0">
                <a:solidFill>
                  <a:srgbClr val="232F3E"/>
                </a:solidFill>
                <a:latin typeface="Calibri" pitchFamily="34" charset="0"/>
                <a:ea typeface="Calibri" pitchFamily="34" charset="-122"/>
                <a:cs typeface="Calibri" pitchFamily="34" charset="-120"/>
              </a:rPr>
              <a:t>Three Things Drive Almost Every Bill</a:t>
            </a:r>
            <a:endParaRPr lang="en-US" sz="3200" dirty="0"/>
          </a:p>
        </p:txBody>
      </p:sp>
      <p:sp>
        <p:nvSpPr>
          <p:cNvPr id="4" name="Text 2"/>
          <p:cNvSpPr/>
          <p:nvPr/>
        </p:nvSpPr>
        <p:spPr>
          <a:xfrm>
            <a:off x="640080" y="1417320"/>
            <a:ext cx="10908792" cy="365760"/>
          </a:xfrm>
          <a:prstGeom prst="rect">
            <a:avLst/>
          </a:prstGeom>
          <a:noFill/>
          <a:ln/>
        </p:spPr>
        <p:txBody>
          <a:bodyPr wrap="square" rtlCol="0" anchor="ctr"/>
          <a:lstStyle/>
          <a:p>
            <a:pPr indent="0" marL="0">
              <a:buNone/>
            </a:pPr>
            <a:r>
              <a:rPr lang="en-US" sz="1500" i="1" dirty="0">
                <a:solidFill>
                  <a:srgbClr val="5B6570"/>
                </a:solidFill>
                <a:latin typeface="Calibri" pitchFamily="34" charset="0"/>
                <a:ea typeface="Calibri" pitchFamily="34" charset="-122"/>
                <a:cs typeface="Calibri" pitchFamily="34" charset="-120"/>
              </a:rPr>
              <a:t>If you can only remember three words about AWS cost, remember these.</a:t>
            </a:r>
            <a:endParaRPr lang="en-US" sz="1500" dirty="0"/>
          </a:p>
        </p:txBody>
      </p:sp>
      <p:sp>
        <p:nvSpPr>
          <p:cNvPr id="5" name="Shape 3"/>
          <p:cNvSpPr/>
          <p:nvPr/>
        </p:nvSpPr>
        <p:spPr>
          <a:xfrm>
            <a:off x="640080" y="1965960"/>
            <a:ext cx="3383280" cy="2834640"/>
          </a:xfrm>
          <a:prstGeom prst="roundRect">
            <a:avLst>
              <a:gd name="adj" fmla="val 3871"/>
            </a:avLst>
          </a:prstGeom>
          <a:solidFill>
            <a:srgbClr val="FFFFFF"/>
          </a:solidFill>
          <a:ln w="12700">
            <a:solidFill>
              <a:srgbClr val="DCE1E6"/>
            </a:solidFill>
            <a:prstDash val="solid"/>
          </a:ln>
          <a:effectLst>
            <a:outerShdw sx="100000" sy="100000" kx="0" ky="0" algn="bl" rotWithShape="0" blurRad="101600" dist="38100" dir="5400000">
              <a:srgbClr val="C6CDD4">
                <a:alpha val="50000"/>
              </a:srgbClr>
            </a:outerShdw>
          </a:effectLst>
        </p:spPr>
      </p:sp>
      <p:sp>
        <p:nvSpPr>
          <p:cNvPr id="6" name="Shape 4"/>
          <p:cNvSpPr/>
          <p:nvPr/>
        </p:nvSpPr>
        <p:spPr>
          <a:xfrm>
            <a:off x="640080" y="1965960"/>
            <a:ext cx="3383280" cy="146304"/>
          </a:xfrm>
          <a:prstGeom prst="roundRect">
            <a:avLst>
              <a:gd name="adj" fmla="val 12500"/>
            </a:avLst>
          </a:prstGeom>
          <a:solidFill>
            <a:srgbClr val="EC7211"/>
          </a:solidFill>
          <a:ln/>
        </p:spPr>
      </p:sp>
      <p:sp>
        <p:nvSpPr>
          <p:cNvPr id="7" name="Text 5"/>
          <p:cNvSpPr/>
          <p:nvPr/>
        </p:nvSpPr>
        <p:spPr>
          <a:xfrm>
            <a:off x="960120" y="2331720"/>
            <a:ext cx="2743200" cy="457200"/>
          </a:xfrm>
          <a:prstGeom prst="rect">
            <a:avLst/>
          </a:prstGeom>
          <a:noFill/>
          <a:ln/>
        </p:spPr>
        <p:txBody>
          <a:bodyPr wrap="square" rtlCol="0" anchor="ctr"/>
          <a:lstStyle/>
          <a:p>
            <a:pPr indent="0" marL="0">
              <a:buNone/>
            </a:pPr>
            <a:r>
              <a:rPr lang="en-US" sz="1800" b="1" dirty="0">
                <a:solidFill>
                  <a:srgbClr val="EC7211"/>
                </a:solidFill>
                <a:latin typeface="Calibri" pitchFamily="34" charset="0"/>
                <a:ea typeface="Calibri" pitchFamily="34" charset="-122"/>
                <a:cs typeface="Calibri" pitchFamily="34" charset="-120"/>
              </a:rPr>
              <a:t>1 · Compute</a:t>
            </a:r>
            <a:endParaRPr lang="en-US" sz="1800" dirty="0"/>
          </a:p>
        </p:txBody>
      </p:sp>
      <p:sp>
        <p:nvSpPr>
          <p:cNvPr id="8" name="Text 6"/>
          <p:cNvSpPr/>
          <p:nvPr/>
        </p:nvSpPr>
        <p:spPr>
          <a:xfrm>
            <a:off x="960120" y="2834640"/>
            <a:ext cx="2743200" cy="1783080"/>
          </a:xfrm>
          <a:prstGeom prst="rect">
            <a:avLst/>
          </a:prstGeom>
          <a:noFill/>
          <a:ln/>
        </p:spPr>
        <p:txBody>
          <a:bodyPr wrap="square" rtlCol="0" anchor="ctr"/>
          <a:lstStyle/>
          <a:p>
            <a:pPr indent="0" marL="0">
              <a:lnSpc>
                <a:spcPct val="105000"/>
              </a:lnSpc>
              <a:buNone/>
            </a:pPr>
            <a:r>
              <a:rPr lang="en-US" sz="1350" dirty="0">
                <a:solidFill>
                  <a:srgbClr val="5B6570"/>
                </a:solidFill>
                <a:latin typeface="Calibri" pitchFamily="34" charset="0"/>
                <a:ea typeface="Calibri" pitchFamily="34" charset="-122"/>
                <a:cs typeface="Calibri" pitchFamily="34" charset="-120"/>
              </a:rPr>
              <a:t>You pay for the time your compute runs — usually per second or per hour. Stop the instance, stop the charge.</a:t>
            </a:r>
            <a:endParaRPr lang="en-US" sz="1350" dirty="0"/>
          </a:p>
        </p:txBody>
      </p:sp>
      <p:sp>
        <p:nvSpPr>
          <p:cNvPr id="9" name="Shape 7"/>
          <p:cNvSpPr/>
          <p:nvPr/>
        </p:nvSpPr>
        <p:spPr>
          <a:xfrm>
            <a:off x="4343400" y="1965960"/>
            <a:ext cx="3383280" cy="2834640"/>
          </a:xfrm>
          <a:prstGeom prst="roundRect">
            <a:avLst>
              <a:gd name="adj" fmla="val 3871"/>
            </a:avLst>
          </a:prstGeom>
          <a:solidFill>
            <a:srgbClr val="FFFFFF"/>
          </a:solidFill>
          <a:ln w="12700">
            <a:solidFill>
              <a:srgbClr val="DCE1E6"/>
            </a:solidFill>
            <a:prstDash val="solid"/>
          </a:ln>
          <a:effectLst>
            <a:outerShdw sx="100000" sy="100000" kx="0" ky="0" algn="bl" rotWithShape="0" blurRad="101600" dist="38100" dir="5400000">
              <a:srgbClr val="C6CDD4">
                <a:alpha val="50000"/>
              </a:srgbClr>
            </a:outerShdw>
          </a:effectLst>
        </p:spPr>
      </p:sp>
      <p:sp>
        <p:nvSpPr>
          <p:cNvPr id="10" name="Shape 8"/>
          <p:cNvSpPr/>
          <p:nvPr/>
        </p:nvSpPr>
        <p:spPr>
          <a:xfrm>
            <a:off x="4343400" y="1965960"/>
            <a:ext cx="3383280" cy="146304"/>
          </a:xfrm>
          <a:prstGeom prst="roundRect">
            <a:avLst>
              <a:gd name="adj" fmla="val 12500"/>
            </a:avLst>
          </a:prstGeom>
          <a:solidFill>
            <a:srgbClr val="1E8FA5"/>
          </a:solidFill>
          <a:ln/>
        </p:spPr>
      </p:sp>
      <p:sp>
        <p:nvSpPr>
          <p:cNvPr id="11" name="Text 9"/>
          <p:cNvSpPr/>
          <p:nvPr/>
        </p:nvSpPr>
        <p:spPr>
          <a:xfrm>
            <a:off x="4663440" y="2331720"/>
            <a:ext cx="2743200" cy="457200"/>
          </a:xfrm>
          <a:prstGeom prst="rect">
            <a:avLst/>
          </a:prstGeom>
          <a:noFill/>
          <a:ln/>
        </p:spPr>
        <p:txBody>
          <a:bodyPr wrap="square" rtlCol="0" anchor="ctr"/>
          <a:lstStyle/>
          <a:p>
            <a:pPr indent="0" marL="0">
              <a:buNone/>
            </a:pPr>
            <a:r>
              <a:rPr lang="en-US" sz="1800" b="1" dirty="0">
                <a:solidFill>
                  <a:srgbClr val="1E8FA5"/>
                </a:solidFill>
                <a:latin typeface="Calibri" pitchFamily="34" charset="0"/>
                <a:ea typeface="Calibri" pitchFamily="34" charset="-122"/>
                <a:cs typeface="Calibri" pitchFamily="34" charset="-120"/>
              </a:rPr>
              <a:t>2 · Storage</a:t>
            </a:r>
            <a:endParaRPr lang="en-US" sz="1800" dirty="0"/>
          </a:p>
        </p:txBody>
      </p:sp>
      <p:sp>
        <p:nvSpPr>
          <p:cNvPr id="12" name="Text 10"/>
          <p:cNvSpPr/>
          <p:nvPr/>
        </p:nvSpPr>
        <p:spPr>
          <a:xfrm>
            <a:off x="4663440" y="2834640"/>
            <a:ext cx="2743200" cy="1783080"/>
          </a:xfrm>
          <a:prstGeom prst="rect">
            <a:avLst/>
          </a:prstGeom>
          <a:noFill/>
          <a:ln/>
        </p:spPr>
        <p:txBody>
          <a:bodyPr wrap="square" rtlCol="0" anchor="ctr"/>
          <a:lstStyle/>
          <a:p>
            <a:pPr indent="0" marL="0">
              <a:lnSpc>
                <a:spcPct val="105000"/>
              </a:lnSpc>
              <a:buNone/>
            </a:pPr>
            <a:r>
              <a:rPr lang="en-US" sz="1350" dirty="0">
                <a:solidFill>
                  <a:srgbClr val="5B6570"/>
                </a:solidFill>
                <a:latin typeface="Calibri" pitchFamily="34" charset="0"/>
                <a:ea typeface="Calibri" pitchFamily="34" charset="-122"/>
                <a:cs typeface="Calibri" pitchFamily="34" charset="-120"/>
              </a:rPr>
              <a:t>You pay for the data you keep, typically per GB per month. Data sitting still still costs money.</a:t>
            </a:r>
            <a:endParaRPr lang="en-US" sz="1350" dirty="0"/>
          </a:p>
        </p:txBody>
      </p:sp>
      <p:sp>
        <p:nvSpPr>
          <p:cNvPr id="13" name="Shape 11"/>
          <p:cNvSpPr/>
          <p:nvPr/>
        </p:nvSpPr>
        <p:spPr>
          <a:xfrm>
            <a:off x="8046720" y="1965960"/>
            <a:ext cx="3383280" cy="2834640"/>
          </a:xfrm>
          <a:prstGeom prst="roundRect">
            <a:avLst>
              <a:gd name="adj" fmla="val 3871"/>
            </a:avLst>
          </a:prstGeom>
          <a:solidFill>
            <a:srgbClr val="FFFFFF"/>
          </a:solidFill>
          <a:ln w="12700">
            <a:solidFill>
              <a:srgbClr val="DCE1E6"/>
            </a:solidFill>
            <a:prstDash val="solid"/>
          </a:ln>
          <a:effectLst>
            <a:outerShdw sx="100000" sy="100000" kx="0" ky="0" algn="bl" rotWithShape="0" blurRad="101600" dist="38100" dir="5400000">
              <a:srgbClr val="C6CDD4">
                <a:alpha val="50000"/>
              </a:srgbClr>
            </a:outerShdw>
          </a:effectLst>
        </p:spPr>
      </p:sp>
      <p:sp>
        <p:nvSpPr>
          <p:cNvPr id="14" name="Shape 12"/>
          <p:cNvSpPr/>
          <p:nvPr/>
        </p:nvSpPr>
        <p:spPr>
          <a:xfrm>
            <a:off x="8046720" y="1965960"/>
            <a:ext cx="3383280" cy="146304"/>
          </a:xfrm>
          <a:prstGeom prst="roundRect">
            <a:avLst>
              <a:gd name="adj" fmla="val 12500"/>
            </a:avLst>
          </a:prstGeom>
          <a:solidFill>
            <a:srgbClr val="C0392B"/>
          </a:solidFill>
          <a:ln/>
        </p:spPr>
      </p:sp>
      <p:sp>
        <p:nvSpPr>
          <p:cNvPr id="15" name="Text 13"/>
          <p:cNvSpPr/>
          <p:nvPr/>
        </p:nvSpPr>
        <p:spPr>
          <a:xfrm>
            <a:off x="8366760" y="2331720"/>
            <a:ext cx="2743200" cy="457200"/>
          </a:xfrm>
          <a:prstGeom prst="rect">
            <a:avLst/>
          </a:prstGeom>
          <a:noFill/>
          <a:ln/>
        </p:spPr>
        <p:txBody>
          <a:bodyPr wrap="square" rtlCol="0" anchor="ctr"/>
          <a:lstStyle/>
          <a:p>
            <a:pPr indent="0" marL="0">
              <a:buNone/>
            </a:pPr>
            <a:r>
              <a:rPr lang="en-US" sz="1800" b="1" dirty="0">
                <a:solidFill>
                  <a:srgbClr val="C0392B"/>
                </a:solidFill>
                <a:latin typeface="Calibri" pitchFamily="34" charset="0"/>
                <a:ea typeface="Calibri" pitchFamily="34" charset="-122"/>
                <a:cs typeface="Calibri" pitchFamily="34" charset="-120"/>
              </a:rPr>
              <a:t>3 · Data Transfer</a:t>
            </a:r>
            <a:endParaRPr lang="en-US" sz="1800" dirty="0"/>
          </a:p>
        </p:txBody>
      </p:sp>
      <p:sp>
        <p:nvSpPr>
          <p:cNvPr id="16" name="Text 14"/>
          <p:cNvSpPr/>
          <p:nvPr/>
        </p:nvSpPr>
        <p:spPr>
          <a:xfrm>
            <a:off x="8366760" y="2834640"/>
            <a:ext cx="2743200" cy="1783080"/>
          </a:xfrm>
          <a:prstGeom prst="rect">
            <a:avLst/>
          </a:prstGeom>
          <a:noFill/>
          <a:ln/>
        </p:spPr>
        <p:txBody>
          <a:bodyPr wrap="square" rtlCol="0" anchor="ctr"/>
          <a:lstStyle/>
          <a:p>
            <a:pPr indent="0" marL="0">
              <a:lnSpc>
                <a:spcPct val="105000"/>
              </a:lnSpc>
              <a:buNone/>
            </a:pPr>
            <a:r>
              <a:rPr lang="en-US" sz="1350" dirty="0">
                <a:solidFill>
                  <a:srgbClr val="5B6570"/>
                </a:solidFill>
                <a:latin typeface="Calibri" pitchFamily="34" charset="0"/>
                <a:ea typeface="Calibri" pitchFamily="34" charset="-122"/>
                <a:cs typeface="Calibri" pitchFamily="34" charset="-120"/>
              </a:rPr>
              <a:t>You pay to move data OUT of AWS. Inbound is generally free; outbound is metered per GB.</a:t>
            </a:r>
            <a:endParaRPr lang="en-US" sz="1350" dirty="0"/>
          </a:p>
        </p:txBody>
      </p:sp>
      <p:sp>
        <p:nvSpPr>
          <p:cNvPr id="17" name="Shape 15"/>
          <p:cNvSpPr/>
          <p:nvPr/>
        </p:nvSpPr>
        <p:spPr>
          <a:xfrm>
            <a:off x="640080" y="5029200"/>
            <a:ext cx="10908792" cy="914400"/>
          </a:xfrm>
          <a:prstGeom prst="roundRect">
            <a:avLst>
              <a:gd name="adj" fmla="val 10000"/>
            </a:avLst>
          </a:prstGeom>
          <a:solidFill>
            <a:srgbClr val="232F3E"/>
          </a:solidFill>
          <a:ln/>
        </p:spPr>
      </p:sp>
      <p:sp>
        <p:nvSpPr>
          <p:cNvPr id="18" name="Text 16"/>
          <p:cNvSpPr/>
          <p:nvPr/>
        </p:nvSpPr>
        <p:spPr>
          <a:xfrm>
            <a:off x="1051560" y="5212080"/>
            <a:ext cx="10085832" cy="640080"/>
          </a:xfrm>
          <a:prstGeom prst="rect">
            <a:avLst/>
          </a:prstGeom>
          <a:noFill/>
          <a:ln/>
        </p:spPr>
        <p:txBody>
          <a:bodyPr wrap="square" rtlCol="0" anchor="ctr"/>
          <a:lstStyle/>
          <a:p>
            <a:pPr indent="0" marL="0">
              <a:lnSpc>
                <a:spcPct val="103000"/>
              </a:lnSpc>
              <a:buNone/>
            </a:pPr>
            <a:r>
              <a:rPr lang="en-US" sz="1500" b="1" dirty="0">
                <a:solidFill>
                  <a:srgbClr val="FF9900"/>
                </a:solidFill>
                <a:latin typeface="Calibri" pitchFamily="34" charset="0"/>
                <a:ea typeface="Calibri" pitchFamily="34" charset="-122"/>
                <a:cs typeface="Calibri" pitchFamily="34" charset="-120"/>
              </a:rPr>
              <a:t>The classic gotcha:  </a:t>
            </a:r>
            <a:pPr indent="0" marL="0">
              <a:lnSpc>
                <a:spcPct val="103000"/>
              </a:lnSpc>
              <a:buNone/>
            </a:pPr>
            <a:r>
              <a:rPr lang="en-US" sz="1500" dirty="0">
                <a:solidFill>
                  <a:srgbClr val="D6DEE7"/>
                </a:solidFill>
                <a:latin typeface="Calibri" pitchFamily="34" charset="0"/>
                <a:ea typeface="Calibri" pitchFamily="34" charset="-122"/>
                <a:cs typeface="Calibri" pitchFamily="34" charset="-120"/>
              </a:rPr>
              <a:t>data IN is free, data OUT costs. AWS makes it cheap to bring your data in and charges you to take it out. This shows up on bills AND on exams.</a:t>
            </a:r>
            <a:endParaRPr lang="en-US" sz="1500" dirty="0"/>
          </a:p>
        </p:txBody>
      </p:sp>
      <p:sp>
        <p:nvSpPr>
          <p:cNvPr id="19" name="Text 17"/>
          <p:cNvSpPr/>
          <p:nvPr/>
        </p:nvSpPr>
        <p:spPr>
          <a:xfrm>
            <a:off x="640080" y="6473952"/>
            <a:ext cx="5943600" cy="274320"/>
          </a:xfrm>
          <a:prstGeom prst="rect">
            <a:avLst/>
          </a:prstGeom>
          <a:noFill/>
          <a:ln/>
        </p:spPr>
        <p:txBody>
          <a:bodyPr wrap="square" rtlCol="0" anchor="ctr"/>
          <a:lstStyle/>
          <a:p>
            <a:pPr indent="0" marL="0">
              <a:buNone/>
            </a:pPr>
            <a:r>
              <a:rPr lang="en-US" sz="900" dirty="0">
                <a:solidFill>
                  <a:srgbClr val="5B6570"/>
                </a:solidFill>
                <a:latin typeface="Calibri" pitchFamily="34" charset="0"/>
                <a:ea typeface="Calibri" pitchFamily="34" charset="-122"/>
                <a:cs typeface="Calibri" pitchFamily="34" charset="-120"/>
              </a:rPr>
              <a:t>AWS SAA-A  ·  Lecture 2  ·  Cloud Economics &amp; Billing</a:t>
            </a:r>
            <a:endParaRPr lang="en-US" sz="900" dirty="0"/>
          </a:p>
        </p:txBody>
      </p:sp>
      <p:sp>
        <p:nvSpPr>
          <p:cNvPr id="20" name="Text 18"/>
          <p:cNvSpPr/>
          <p:nvPr/>
        </p:nvSpPr>
        <p:spPr>
          <a:xfrm>
            <a:off x="11000232" y="6473952"/>
            <a:ext cx="548640" cy="274320"/>
          </a:xfrm>
          <a:prstGeom prst="rect">
            <a:avLst/>
          </a:prstGeom>
          <a:noFill/>
          <a:ln/>
        </p:spPr>
        <p:txBody>
          <a:bodyPr wrap="square" rtlCol="0" anchor="ctr"/>
          <a:lstStyle/>
          <a:p>
            <a:pPr algn="r" indent="0" marL="0">
              <a:buNone/>
            </a:pPr>
            <a:r>
              <a:rPr lang="en-US" sz="900" dirty="0">
                <a:solidFill>
                  <a:srgbClr val="5B657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457200"/>
            <a:ext cx="10908792" cy="274320"/>
          </a:xfrm>
          <a:prstGeom prst="rect">
            <a:avLst/>
          </a:prstGeom>
          <a:noFill/>
          <a:ln/>
        </p:spPr>
        <p:txBody>
          <a:bodyPr wrap="square" rtlCol="0" anchor="ctr"/>
          <a:lstStyle/>
          <a:p>
            <a:pPr indent="0" marL="0">
              <a:buNone/>
            </a:pPr>
            <a:r>
              <a:rPr lang="en-US" sz="1200" b="1" spc="200" kern="0" dirty="0">
                <a:solidFill>
                  <a:srgbClr val="EC7211"/>
                </a:solidFill>
                <a:latin typeface="Calibri" pitchFamily="34" charset="0"/>
                <a:ea typeface="Calibri" pitchFamily="34" charset="-122"/>
                <a:cs typeface="Calibri" pitchFamily="34" charset="-120"/>
              </a:rPr>
              <a:t>COST DRIVER #1</a:t>
            </a:r>
            <a:endParaRPr lang="en-US" sz="1200" dirty="0"/>
          </a:p>
        </p:txBody>
      </p:sp>
      <p:sp>
        <p:nvSpPr>
          <p:cNvPr id="3" name="Text 1"/>
          <p:cNvSpPr/>
          <p:nvPr/>
        </p:nvSpPr>
        <p:spPr>
          <a:xfrm>
            <a:off x="640080" y="731520"/>
            <a:ext cx="10908792" cy="640080"/>
          </a:xfrm>
          <a:prstGeom prst="rect">
            <a:avLst/>
          </a:prstGeom>
          <a:noFill/>
          <a:ln/>
        </p:spPr>
        <p:txBody>
          <a:bodyPr wrap="square" rtlCol="0" anchor="ctr"/>
          <a:lstStyle/>
          <a:p>
            <a:pPr indent="0" marL="0">
              <a:buNone/>
            </a:pPr>
            <a:r>
              <a:rPr lang="en-US" sz="3200" b="1" dirty="0">
                <a:solidFill>
                  <a:srgbClr val="232F3E"/>
                </a:solidFill>
                <a:latin typeface="Calibri" pitchFamily="34" charset="0"/>
                <a:ea typeface="Calibri" pitchFamily="34" charset="-122"/>
                <a:cs typeface="Calibri" pitchFamily="34" charset="-120"/>
              </a:rPr>
              <a:t>Paying for Compute: The Purchase Options</a:t>
            </a:r>
            <a:endParaRPr lang="en-US" sz="3200" dirty="0"/>
          </a:p>
        </p:txBody>
      </p:sp>
      <p:sp>
        <p:nvSpPr>
          <p:cNvPr id="4" name="Text 2"/>
          <p:cNvSpPr/>
          <p:nvPr/>
        </p:nvSpPr>
        <p:spPr>
          <a:xfrm>
            <a:off x="640080" y="1417320"/>
            <a:ext cx="10908792" cy="365760"/>
          </a:xfrm>
          <a:prstGeom prst="rect">
            <a:avLst/>
          </a:prstGeom>
          <a:noFill/>
          <a:ln/>
        </p:spPr>
        <p:txBody>
          <a:bodyPr wrap="square" rtlCol="0" anchor="ctr"/>
          <a:lstStyle/>
          <a:p>
            <a:pPr indent="0" marL="0">
              <a:buNone/>
            </a:pPr>
            <a:r>
              <a:rPr lang="en-US" sz="1500" i="1" dirty="0">
                <a:solidFill>
                  <a:srgbClr val="5B6570"/>
                </a:solidFill>
                <a:latin typeface="Calibri" pitchFamily="34" charset="0"/>
                <a:ea typeface="Calibri" pitchFamily="34" charset="-122"/>
                <a:cs typeface="Calibri" pitchFamily="34" charset="-120"/>
              </a:rPr>
              <a:t>Same server, four ways to buy it — up to ~90% price difference. This is a guaranteed exam topic.</a:t>
            </a:r>
            <a:endParaRPr lang="en-US" sz="1500" dirty="0"/>
          </a:p>
        </p:txBody>
      </p:sp>
      <p:sp>
        <p:nvSpPr>
          <p:cNvPr id="5" name="Shape 3"/>
          <p:cNvSpPr/>
          <p:nvPr/>
        </p:nvSpPr>
        <p:spPr>
          <a:xfrm>
            <a:off x="640080" y="1965960"/>
            <a:ext cx="5340096" cy="1965960"/>
          </a:xfrm>
          <a:prstGeom prst="roundRect">
            <a:avLst>
              <a:gd name="adj" fmla="val 4651"/>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sp>
      <p:sp>
        <p:nvSpPr>
          <p:cNvPr id="6" name="Shape 4"/>
          <p:cNvSpPr/>
          <p:nvPr/>
        </p:nvSpPr>
        <p:spPr>
          <a:xfrm>
            <a:off x="640080" y="1965960"/>
            <a:ext cx="137160" cy="1965960"/>
          </a:xfrm>
          <a:prstGeom prst="roundRect">
            <a:avLst>
              <a:gd name="adj" fmla="val 13333"/>
            </a:avLst>
          </a:prstGeom>
          <a:solidFill>
            <a:srgbClr val="EC7211"/>
          </a:solidFill>
          <a:ln/>
        </p:spPr>
      </p:sp>
      <p:sp>
        <p:nvSpPr>
          <p:cNvPr id="7" name="Text 5"/>
          <p:cNvSpPr/>
          <p:nvPr/>
        </p:nvSpPr>
        <p:spPr>
          <a:xfrm>
            <a:off x="1005840" y="2167128"/>
            <a:ext cx="4745736"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On-Demand</a:t>
            </a:r>
            <a:endParaRPr lang="en-US" sz="1600" dirty="0"/>
          </a:p>
        </p:txBody>
      </p:sp>
      <p:sp>
        <p:nvSpPr>
          <p:cNvPr id="8" name="Text 6"/>
          <p:cNvSpPr/>
          <p:nvPr/>
        </p:nvSpPr>
        <p:spPr>
          <a:xfrm>
            <a:off x="1005840" y="2697480"/>
            <a:ext cx="4700016" cy="105156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Pay by the second/hour, no commitment. Most flexible, most expensive. Use for spiky or unknown workloads.</a:t>
            </a:r>
            <a:endParaRPr lang="en-US" sz="1300" dirty="0"/>
          </a:p>
        </p:txBody>
      </p:sp>
      <p:sp>
        <p:nvSpPr>
          <p:cNvPr id="9" name="Shape 7"/>
          <p:cNvSpPr/>
          <p:nvPr/>
        </p:nvSpPr>
        <p:spPr>
          <a:xfrm>
            <a:off x="6208776" y="1965960"/>
            <a:ext cx="5340096" cy="1965960"/>
          </a:xfrm>
          <a:prstGeom prst="roundRect">
            <a:avLst>
              <a:gd name="adj" fmla="val 4651"/>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sp>
      <p:sp>
        <p:nvSpPr>
          <p:cNvPr id="10" name="Shape 8"/>
          <p:cNvSpPr/>
          <p:nvPr/>
        </p:nvSpPr>
        <p:spPr>
          <a:xfrm>
            <a:off x="6208776" y="1965960"/>
            <a:ext cx="137160" cy="1965960"/>
          </a:xfrm>
          <a:prstGeom prst="roundRect">
            <a:avLst>
              <a:gd name="adj" fmla="val 13333"/>
            </a:avLst>
          </a:prstGeom>
          <a:solidFill>
            <a:srgbClr val="1F8A38"/>
          </a:solidFill>
          <a:ln/>
        </p:spPr>
      </p:sp>
      <p:sp>
        <p:nvSpPr>
          <p:cNvPr id="11" name="Text 9"/>
          <p:cNvSpPr/>
          <p:nvPr/>
        </p:nvSpPr>
        <p:spPr>
          <a:xfrm>
            <a:off x="6574536" y="2167128"/>
            <a:ext cx="4745736"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Savings Plans / Reserved</a:t>
            </a:r>
            <a:endParaRPr lang="en-US" sz="1600" dirty="0"/>
          </a:p>
        </p:txBody>
      </p:sp>
      <p:sp>
        <p:nvSpPr>
          <p:cNvPr id="12" name="Text 10"/>
          <p:cNvSpPr/>
          <p:nvPr/>
        </p:nvSpPr>
        <p:spPr>
          <a:xfrm>
            <a:off x="6574536" y="2697480"/>
            <a:ext cx="4700016" cy="105156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Commit to 1 or 3 years of usage for a big discount. Use for steady, predictable baseline workloads.</a:t>
            </a:r>
            <a:endParaRPr lang="en-US" sz="1300" dirty="0"/>
          </a:p>
        </p:txBody>
      </p:sp>
      <p:sp>
        <p:nvSpPr>
          <p:cNvPr id="13" name="Shape 11"/>
          <p:cNvSpPr/>
          <p:nvPr/>
        </p:nvSpPr>
        <p:spPr>
          <a:xfrm>
            <a:off x="640080" y="4160520"/>
            <a:ext cx="5340096" cy="1965960"/>
          </a:xfrm>
          <a:prstGeom prst="roundRect">
            <a:avLst>
              <a:gd name="adj" fmla="val 4651"/>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sp>
      <p:sp>
        <p:nvSpPr>
          <p:cNvPr id="14" name="Shape 12"/>
          <p:cNvSpPr/>
          <p:nvPr/>
        </p:nvSpPr>
        <p:spPr>
          <a:xfrm>
            <a:off x="640080" y="4160520"/>
            <a:ext cx="137160" cy="1965960"/>
          </a:xfrm>
          <a:prstGeom prst="roundRect">
            <a:avLst>
              <a:gd name="adj" fmla="val 13333"/>
            </a:avLst>
          </a:prstGeom>
          <a:solidFill>
            <a:srgbClr val="1E8FA5"/>
          </a:solidFill>
          <a:ln/>
        </p:spPr>
      </p:sp>
      <p:sp>
        <p:nvSpPr>
          <p:cNvPr id="15" name="Text 13"/>
          <p:cNvSpPr/>
          <p:nvPr/>
        </p:nvSpPr>
        <p:spPr>
          <a:xfrm>
            <a:off x="1005840" y="4361688"/>
            <a:ext cx="4745736"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Spot Instances</a:t>
            </a:r>
            <a:endParaRPr lang="en-US" sz="1600" dirty="0"/>
          </a:p>
        </p:txBody>
      </p:sp>
      <p:sp>
        <p:nvSpPr>
          <p:cNvPr id="16" name="Text 14"/>
          <p:cNvSpPr/>
          <p:nvPr/>
        </p:nvSpPr>
        <p:spPr>
          <a:xfrm>
            <a:off x="1005840" y="4892040"/>
            <a:ext cx="4700016" cy="105156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Bid on spare AWS capacity for deep discounts — but AWS can reclaim it with little notice. Use for fault-tolerant batch work.</a:t>
            </a:r>
            <a:endParaRPr lang="en-US" sz="1300" dirty="0"/>
          </a:p>
        </p:txBody>
      </p:sp>
      <p:sp>
        <p:nvSpPr>
          <p:cNvPr id="17" name="Shape 15"/>
          <p:cNvSpPr/>
          <p:nvPr/>
        </p:nvSpPr>
        <p:spPr>
          <a:xfrm>
            <a:off x="6208776" y="4160520"/>
            <a:ext cx="5340096" cy="1965960"/>
          </a:xfrm>
          <a:prstGeom prst="roundRect">
            <a:avLst>
              <a:gd name="adj" fmla="val 4651"/>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sp>
      <p:sp>
        <p:nvSpPr>
          <p:cNvPr id="18" name="Shape 16"/>
          <p:cNvSpPr/>
          <p:nvPr/>
        </p:nvSpPr>
        <p:spPr>
          <a:xfrm>
            <a:off x="6208776" y="4160520"/>
            <a:ext cx="137160" cy="1965960"/>
          </a:xfrm>
          <a:prstGeom prst="roundRect">
            <a:avLst>
              <a:gd name="adj" fmla="val 13333"/>
            </a:avLst>
          </a:prstGeom>
          <a:solidFill>
            <a:srgbClr val="7A5C9E"/>
          </a:solidFill>
          <a:ln/>
        </p:spPr>
      </p:sp>
      <p:sp>
        <p:nvSpPr>
          <p:cNvPr id="19" name="Text 17"/>
          <p:cNvSpPr/>
          <p:nvPr/>
        </p:nvSpPr>
        <p:spPr>
          <a:xfrm>
            <a:off x="6574536" y="4361688"/>
            <a:ext cx="4745736"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Dedicated Hosts</a:t>
            </a:r>
            <a:endParaRPr lang="en-US" sz="1600" dirty="0"/>
          </a:p>
        </p:txBody>
      </p:sp>
      <p:sp>
        <p:nvSpPr>
          <p:cNvPr id="20" name="Text 18"/>
          <p:cNvSpPr/>
          <p:nvPr/>
        </p:nvSpPr>
        <p:spPr>
          <a:xfrm>
            <a:off x="6574536" y="4892040"/>
            <a:ext cx="4700016" cy="105156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A physical server reserved just for you. Most expensive. Use when licensing or compliance demands isolation.</a:t>
            </a:r>
            <a:endParaRPr lang="en-US" sz="1300" dirty="0"/>
          </a:p>
        </p:txBody>
      </p:sp>
      <p:sp>
        <p:nvSpPr>
          <p:cNvPr id="21" name="Shape 19"/>
          <p:cNvSpPr/>
          <p:nvPr/>
        </p:nvSpPr>
        <p:spPr>
          <a:xfrm>
            <a:off x="640080" y="6080760"/>
            <a:ext cx="10908792" cy="914"/>
          </a:xfrm>
          <a:prstGeom prst="roundRect">
            <a:avLst/>
          </a:prstGeom>
          <a:solidFill>
            <a:srgbClr val="F4F6F8"/>
          </a:solidFill>
          <a:ln/>
        </p:spPr>
      </p:sp>
      <p:sp>
        <p:nvSpPr>
          <p:cNvPr id="22" name="Text 20"/>
          <p:cNvSpPr/>
          <p:nvPr/>
        </p:nvSpPr>
        <p:spPr>
          <a:xfrm>
            <a:off x="640080" y="5989320"/>
            <a:ext cx="10908792" cy="365760"/>
          </a:xfrm>
          <a:prstGeom prst="rect">
            <a:avLst/>
          </a:prstGeom>
          <a:noFill/>
          <a:ln/>
        </p:spPr>
        <p:txBody>
          <a:bodyPr wrap="square" rtlCol="0" anchor="ctr"/>
          <a:lstStyle/>
          <a:p>
            <a:pPr algn="ctr" indent="0" marL="0">
              <a:buNone/>
            </a:pPr>
            <a:r>
              <a:rPr lang="en-US" sz="1300" i="1" dirty="0">
                <a:solidFill>
                  <a:srgbClr val="5B6570"/>
                </a:solidFill>
                <a:latin typeface="Calibri" pitchFamily="34" charset="0"/>
                <a:ea typeface="Calibri" pitchFamily="34" charset="-122"/>
                <a:cs typeface="Calibri" pitchFamily="34" charset="-120"/>
              </a:rPr>
              <a:t>Exam cue:  “steady 3-year workload” → Reserved/Savings Plan  ·  “can tolerate interruption” → Spot  ·  “unpredictable” → On-Demand</a:t>
            </a:r>
            <a:endParaRPr lang="en-US" sz="1300" dirty="0"/>
          </a:p>
        </p:txBody>
      </p:sp>
      <p:sp>
        <p:nvSpPr>
          <p:cNvPr id="23" name="Text 21"/>
          <p:cNvSpPr/>
          <p:nvPr/>
        </p:nvSpPr>
        <p:spPr>
          <a:xfrm>
            <a:off x="640080" y="6473952"/>
            <a:ext cx="5943600" cy="274320"/>
          </a:xfrm>
          <a:prstGeom prst="rect">
            <a:avLst/>
          </a:prstGeom>
          <a:noFill/>
          <a:ln/>
        </p:spPr>
        <p:txBody>
          <a:bodyPr wrap="square" rtlCol="0" anchor="ctr"/>
          <a:lstStyle/>
          <a:p>
            <a:pPr indent="0" marL="0">
              <a:buNone/>
            </a:pPr>
            <a:r>
              <a:rPr lang="en-US" sz="900" dirty="0">
                <a:solidFill>
                  <a:srgbClr val="5B6570"/>
                </a:solidFill>
                <a:latin typeface="Calibri" pitchFamily="34" charset="0"/>
                <a:ea typeface="Calibri" pitchFamily="34" charset="-122"/>
                <a:cs typeface="Calibri" pitchFamily="34" charset="-120"/>
              </a:rPr>
              <a:t>AWS SAA-A  ·  Lecture 2  ·  Cloud Economics &amp; Billing</a:t>
            </a:r>
            <a:endParaRPr lang="en-US" sz="900" dirty="0"/>
          </a:p>
        </p:txBody>
      </p:sp>
      <p:sp>
        <p:nvSpPr>
          <p:cNvPr id="24" name="Text 22"/>
          <p:cNvSpPr/>
          <p:nvPr/>
        </p:nvSpPr>
        <p:spPr>
          <a:xfrm>
            <a:off x="11000232" y="6473952"/>
            <a:ext cx="548640" cy="274320"/>
          </a:xfrm>
          <a:prstGeom prst="rect">
            <a:avLst/>
          </a:prstGeom>
          <a:noFill/>
          <a:ln/>
        </p:spPr>
        <p:txBody>
          <a:bodyPr wrap="square" rtlCol="0" anchor="ctr"/>
          <a:lstStyle/>
          <a:p>
            <a:pPr algn="r" indent="0" marL="0">
              <a:buNone/>
            </a:pPr>
            <a:r>
              <a:rPr lang="en-US" sz="900" dirty="0">
                <a:solidFill>
                  <a:srgbClr val="5B657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457200"/>
            <a:ext cx="10908792" cy="274320"/>
          </a:xfrm>
          <a:prstGeom prst="rect">
            <a:avLst/>
          </a:prstGeom>
          <a:noFill/>
          <a:ln/>
        </p:spPr>
        <p:txBody>
          <a:bodyPr wrap="square" rtlCol="0" anchor="ctr"/>
          <a:lstStyle/>
          <a:p>
            <a:pPr indent="0" marL="0">
              <a:buNone/>
            </a:pPr>
            <a:r>
              <a:rPr lang="en-US" sz="1200" b="1" spc="200" kern="0" dirty="0">
                <a:solidFill>
                  <a:srgbClr val="EC7211"/>
                </a:solidFill>
                <a:latin typeface="Calibri" pitchFamily="34" charset="0"/>
                <a:ea typeface="Calibri" pitchFamily="34" charset="-122"/>
                <a:cs typeface="Calibri" pitchFamily="34" charset="-120"/>
              </a:rPr>
              <a:t>COST DRIVERS #2 AND #3</a:t>
            </a:r>
            <a:endParaRPr lang="en-US" sz="1200" dirty="0"/>
          </a:p>
        </p:txBody>
      </p:sp>
      <p:sp>
        <p:nvSpPr>
          <p:cNvPr id="3" name="Text 1"/>
          <p:cNvSpPr/>
          <p:nvPr/>
        </p:nvSpPr>
        <p:spPr>
          <a:xfrm>
            <a:off x="640080" y="731520"/>
            <a:ext cx="10908792" cy="640080"/>
          </a:xfrm>
          <a:prstGeom prst="rect">
            <a:avLst/>
          </a:prstGeom>
          <a:noFill/>
          <a:ln/>
        </p:spPr>
        <p:txBody>
          <a:bodyPr wrap="square" rtlCol="0" anchor="ctr"/>
          <a:lstStyle/>
          <a:p>
            <a:pPr indent="0" marL="0">
              <a:buNone/>
            </a:pPr>
            <a:r>
              <a:rPr lang="en-US" sz="3200" b="1" dirty="0">
                <a:solidFill>
                  <a:srgbClr val="232F3E"/>
                </a:solidFill>
                <a:latin typeface="Calibri" pitchFamily="34" charset="0"/>
                <a:ea typeface="Calibri" pitchFamily="34" charset="-122"/>
                <a:cs typeface="Calibri" pitchFamily="34" charset="-120"/>
              </a:rPr>
              <a:t>Storage and Data Transfer</a:t>
            </a:r>
            <a:endParaRPr lang="en-US" sz="3200" dirty="0"/>
          </a:p>
        </p:txBody>
      </p:sp>
      <p:sp>
        <p:nvSpPr>
          <p:cNvPr id="4" name="Shape 2"/>
          <p:cNvSpPr/>
          <p:nvPr/>
        </p:nvSpPr>
        <p:spPr>
          <a:xfrm>
            <a:off x="640080" y="1645920"/>
            <a:ext cx="5257800" cy="4114800"/>
          </a:xfrm>
          <a:prstGeom prst="roundRect">
            <a:avLst>
              <a:gd name="adj" fmla="val 2667"/>
            </a:avLst>
          </a:prstGeom>
          <a:solidFill>
            <a:srgbClr val="FFFFFF"/>
          </a:solidFill>
          <a:ln w="12700">
            <a:solidFill>
              <a:srgbClr val="DCE1E6"/>
            </a:solidFill>
            <a:prstDash val="solid"/>
          </a:ln>
          <a:effectLst>
            <a:outerShdw sx="100000" sy="100000" kx="0" ky="0" algn="bl" rotWithShape="0" blurRad="101600" dist="38100" dir="5400000">
              <a:srgbClr val="C6CDD4">
                <a:alpha val="50000"/>
              </a:srgbClr>
            </a:outerShdw>
          </a:effectLst>
        </p:spPr>
      </p:sp>
      <p:sp>
        <p:nvSpPr>
          <p:cNvPr id="5" name="Text 3"/>
          <p:cNvSpPr/>
          <p:nvPr/>
        </p:nvSpPr>
        <p:spPr>
          <a:xfrm>
            <a:off x="1005840" y="1874520"/>
            <a:ext cx="4572000" cy="320040"/>
          </a:xfrm>
          <a:prstGeom prst="rect">
            <a:avLst/>
          </a:prstGeom>
          <a:noFill/>
          <a:ln/>
        </p:spPr>
        <p:txBody>
          <a:bodyPr wrap="square" rtlCol="0" anchor="ctr"/>
          <a:lstStyle/>
          <a:p>
            <a:pPr indent="0" marL="0">
              <a:buNone/>
            </a:pPr>
            <a:r>
              <a:rPr lang="en-US" sz="1200" b="1" spc="200" kern="0" dirty="0">
                <a:solidFill>
                  <a:srgbClr val="1E8FA5"/>
                </a:solidFill>
                <a:latin typeface="Calibri" pitchFamily="34" charset="0"/>
                <a:ea typeface="Calibri" pitchFamily="34" charset="-122"/>
                <a:cs typeface="Calibri" pitchFamily="34" charset="-120"/>
              </a:rPr>
              <a:t>STORAGE</a:t>
            </a:r>
            <a:endParaRPr lang="en-US" sz="1200" dirty="0"/>
          </a:p>
        </p:txBody>
      </p:sp>
      <p:sp>
        <p:nvSpPr>
          <p:cNvPr id="6" name="Text 4"/>
          <p:cNvSpPr/>
          <p:nvPr/>
        </p:nvSpPr>
        <p:spPr>
          <a:xfrm>
            <a:off x="1005840" y="2331720"/>
            <a:ext cx="4572000" cy="320040"/>
          </a:xfrm>
          <a:prstGeom prst="rect">
            <a:avLst/>
          </a:prstGeom>
          <a:noFill/>
          <a:ln/>
        </p:spPr>
        <p:txBody>
          <a:bodyPr wrap="square" rtlCol="0" anchor="ctr"/>
          <a:lstStyle/>
          <a:p>
            <a:pPr indent="0" marL="0">
              <a:buNone/>
            </a:pPr>
            <a:r>
              <a:rPr lang="en-US" sz="1500" b="1" dirty="0">
                <a:solidFill>
                  <a:srgbClr val="232F3E"/>
                </a:solidFill>
                <a:latin typeface="Calibri" pitchFamily="34" charset="0"/>
                <a:ea typeface="Calibri" pitchFamily="34" charset="-122"/>
                <a:cs typeface="Calibri" pitchFamily="34" charset="-120"/>
              </a:rPr>
              <a:t>Priced per GB per month</a:t>
            </a:r>
            <a:endParaRPr lang="en-US" sz="1500" dirty="0"/>
          </a:p>
        </p:txBody>
      </p:sp>
      <p:sp>
        <p:nvSpPr>
          <p:cNvPr id="7" name="Text 5"/>
          <p:cNvSpPr/>
          <p:nvPr/>
        </p:nvSpPr>
        <p:spPr>
          <a:xfrm>
            <a:off x="1005840" y="2624328"/>
            <a:ext cx="4572000" cy="457200"/>
          </a:xfrm>
          <a:prstGeom prst="rect">
            <a:avLst/>
          </a:prstGeom>
          <a:noFill/>
          <a:ln/>
        </p:spPr>
        <p:txBody>
          <a:bodyPr wrap="square" rtlCol="0" anchor="ctr"/>
          <a:lstStyle/>
          <a:p>
            <a:pPr indent="0" marL="0">
              <a:buNone/>
            </a:pPr>
            <a:r>
              <a:rPr lang="en-US" sz="1300" dirty="0">
                <a:solidFill>
                  <a:srgbClr val="5B6570"/>
                </a:solidFill>
                <a:latin typeface="Calibri" pitchFamily="34" charset="0"/>
                <a:ea typeface="Calibri" pitchFamily="34" charset="-122"/>
                <a:cs typeface="Calibri" pitchFamily="34" charset="-120"/>
              </a:rPr>
              <a:t>you pay for what you store, while you store it</a:t>
            </a:r>
            <a:endParaRPr lang="en-US" sz="1300" dirty="0"/>
          </a:p>
        </p:txBody>
      </p:sp>
      <p:sp>
        <p:nvSpPr>
          <p:cNvPr id="8" name="Text 6"/>
          <p:cNvSpPr/>
          <p:nvPr/>
        </p:nvSpPr>
        <p:spPr>
          <a:xfrm>
            <a:off x="1005840" y="3172968"/>
            <a:ext cx="4572000" cy="320040"/>
          </a:xfrm>
          <a:prstGeom prst="rect">
            <a:avLst/>
          </a:prstGeom>
          <a:noFill/>
          <a:ln/>
        </p:spPr>
        <p:txBody>
          <a:bodyPr wrap="square" rtlCol="0" anchor="ctr"/>
          <a:lstStyle/>
          <a:p>
            <a:pPr indent="0" marL="0">
              <a:buNone/>
            </a:pPr>
            <a:r>
              <a:rPr lang="en-US" sz="1500" b="1" dirty="0">
                <a:solidFill>
                  <a:srgbClr val="232F3E"/>
                </a:solidFill>
                <a:latin typeface="Calibri" pitchFamily="34" charset="0"/>
                <a:ea typeface="Calibri" pitchFamily="34" charset="-122"/>
                <a:cs typeface="Calibri" pitchFamily="34" charset="-120"/>
              </a:rPr>
              <a:t>Storage classes change the price</a:t>
            </a:r>
            <a:endParaRPr lang="en-US" sz="1500" dirty="0"/>
          </a:p>
        </p:txBody>
      </p:sp>
      <p:sp>
        <p:nvSpPr>
          <p:cNvPr id="9" name="Text 7"/>
          <p:cNvSpPr/>
          <p:nvPr/>
        </p:nvSpPr>
        <p:spPr>
          <a:xfrm>
            <a:off x="1005840" y="3465576"/>
            <a:ext cx="4572000" cy="457200"/>
          </a:xfrm>
          <a:prstGeom prst="rect">
            <a:avLst/>
          </a:prstGeom>
          <a:noFill/>
          <a:ln/>
        </p:spPr>
        <p:txBody>
          <a:bodyPr wrap="square" rtlCol="0" anchor="ctr"/>
          <a:lstStyle/>
          <a:p>
            <a:pPr indent="0" marL="0">
              <a:buNone/>
            </a:pPr>
            <a:r>
              <a:rPr lang="en-US" sz="1300" dirty="0">
                <a:solidFill>
                  <a:srgbClr val="5B6570"/>
                </a:solidFill>
                <a:latin typeface="Calibri" pitchFamily="34" charset="0"/>
                <a:ea typeface="Calibri" pitchFamily="34" charset="-122"/>
                <a:cs typeface="Calibri" pitchFamily="34" charset="-120"/>
              </a:rPr>
              <a:t>frequently-accessed costs more than archive</a:t>
            </a:r>
            <a:endParaRPr lang="en-US" sz="1300" dirty="0"/>
          </a:p>
        </p:txBody>
      </p:sp>
      <p:sp>
        <p:nvSpPr>
          <p:cNvPr id="10" name="Text 8"/>
          <p:cNvSpPr/>
          <p:nvPr/>
        </p:nvSpPr>
        <p:spPr>
          <a:xfrm>
            <a:off x="1005840" y="4014216"/>
            <a:ext cx="4572000" cy="320040"/>
          </a:xfrm>
          <a:prstGeom prst="rect">
            <a:avLst/>
          </a:prstGeom>
          <a:noFill/>
          <a:ln/>
        </p:spPr>
        <p:txBody>
          <a:bodyPr wrap="square" rtlCol="0" anchor="ctr"/>
          <a:lstStyle/>
          <a:p>
            <a:pPr indent="0" marL="0">
              <a:buNone/>
            </a:pPr>
            <a:r>
              <a:rPr lang="en-US" sz="1500" b="1" dirty="0">
                <a:solidFill>
                  <a:srgbClr val="232F3E"/>
                </a:solidFill>
                <a:latin typeface="Calibri" pitchFamily="34" charset="0"/>
                <a:ea typeface="Calibri" pitchFamily="34" charset="-122"/>
                <a:cs typeface="Calibri" pitchFamily="34" charset="-120"/>
              </a:rPr>
              <a:t>Requests can cost too</a:t>
            </a:r>
            <a:endParaRPr lang="en-US" sz="1500" dirty="0"/>
          </a:p>
        </p:txBody>
      </p:sp>
      <p:sp>
        <p:nvSpPr>
          <p:cNvPr id="11" name="Text 9"/>
          <p:cNvSpPr/>
          <p:nvPr/>
        </p:nvSpPr>
        <p:spPr>
          <a:xfrm>
            <a:off x="1005840" y="4306824"/>
            <a:ext cx="4572000" cy="457200"/>
          </a:xfrm>
          <a:prstGeom prst="rect">
            <a:avLst/>
          </a:prstGeom>
          <a:noFill/>
          <a:ln/>
        </p:spPr>
        <p:txBody>
          <a:bodyPr wrap="square" rtlCol="0" anchor="ctr"/>
          <a:lstStyle/>
          <a:p>
            <a:pPr indent="0" marL="0">
              <a:buNone/>
            </a:pPr>
            <a:r>
              <a:rPr lang="en-US" sz="1300" dirty="0">
                <a:solidFill>
                  <a:srgbClr val="5B6570"/>
                </a:solidFill>
                <a:latin typeface="Calibri" pitchFamily="34" charset="0"/>
                <a:ea typeface="Calibri" pitchFamily="34" charset="-122"/>
                <a:cs typeface="Calibri" pitchFamily="34" charset="-120"/>
              </a:rPr>
              <a:t>reading/writing objects carries small per-request fees</a:t>
            </a:r>
            <a:endParaRPr lang="en-US" sz="1300" dirty="0"/>
          </a:p>
        </p:txBody>
      </p:sp>
      <p:sp>
        <p:nvSpPr>
          <p:cNvPr id="12" name="Text 10"/>
          <p:cNvSpPr/>
          <p:nvPr/>
        </p:nvSpPr>
        <p:spPr>
          <a:xfrm>
            <a:off x="1005840" y="4855464"/>
            <a:ext cx="4572000" cy="320040"/>
          </a:xfrm>
          <a:prstGeom prst="rect">
            <a:avLst/>
          </a:prstGeom>
          <a:noFill/>
          <a:ln/>
        </p:spPr>
        <p:txBody>
          <a:bodyPr wrap="square" rtlCol="0" anchor="ctr"/>
          <a:lstStyle/>
          <a:p>
            <a:pPr indent="0" marL="0">
              <a:buNone/>
            </a:pPr>
            <a:r>
              <a:rPr lang="en-US" sz="1500" b="1" dirty="0">
                <a:solidFill>
                  <a:srgbClr val="232F3E"/>
                </a:solidFill>
                <a:latin typeface="Calibri" pitchFamily="34" charset="0"/>
                <a:ea typeface="Calibri" pitchFamily="34" charset="-122"/>
                <a:cs typeface="Calibri" pitchFamily="34" charset="-120"/>
              </a:rPr>
              <a:t>Retrieval fees on archives</a:t>
            </a:r>
            <a:endParaRPr lang="en-US" sz="1500" dirty="0"/>
          </a:p>
        </p:txBody>
      </p:sp>
      <p:sp>
        <p:nvSpPr>
          <p:cNvPr id="13" name="Text 11"/>
          <p:cNvSpPr/>
          <p:nvPr/>
        </p:nvSpPr>
        <p:spPr>
          <a:xfrm>
            <a:off x="1005840" y="5148072"/>
            <a:ext cx="4572000" cy="457200"/>
          </a:xfrm>
          <a:prstGeom prst="rect">
            <a:avLst/>
          </a:prstGeom>
          <a:noFill/>
          <a:ln/>
        </p:spPr>
        <p:txBody>
          <a:bodyPr wrap="square" rtlCol="0" anchor="ctr"/>
          <a:lstStyle/>
          <a:p>
            <a:pPr indent="0" marL="0">
              <a:buNone/>
            </a:pPr>
            <a:r>
              <a:rPr lang="en-US" sz="1300" dirty="0">
                <a:solidFill>
                  <a:srgbClr val="5B6570"/>
                </a:solidFill>
                <a:latin typeface="Calibri" pitchFamily="34" charset="0"/>
                <a:ea typeface="Calibri" pitchFamily="34" charset="-122"/>
                <a:cs typeface="Calibri" pitchFamily="34" charset="-120"/>
              </a:rPr>
              <a:t>cheap to store, but you pay to get it back quickly</a:t>
            </a:r>
            <a:endParaRPr lang="en-US" sz="1300" dirty="0"/>
          </a:p>
        </p:txBody>
      </p:sp>
      <p:sp>
        <p:nvSpPr>
          <p:cNvPr id="14" name="Shape 12"/>
          <p:cNvSpPr/>
          <p:nvPr/>
        </p:nvSpPr>
        <p:spPr>
          <a:xfrm>
            <a:off x="6263640" y="1645920"/>
            <a:ext cx="5257800" cy="4114800"/>
          </a:xfrm>
          <a:prstGeom prst="roundRect">
            <a:avLst>
              <a:gd name="adj" fmla="val 2667"/>
            </a:avLst>
          </a:prstGeom>
          <a:solidFill>
            <a:srgbClr val="232F3E"/>
          </a:solidFill>
          <a:ln/>
        </p:spPr>
      </p:sp>
      <p:sp>
        <p:nvSpPr>
          <p:cNvPr id="15" name="Text 13"/>
          <p:cNvSpPr/>
          <p:nvPr/>
        </p:nvSpPr>
        <p:spPr>
          <a:xfrm>
            <a:off x="6629400" y="1874520"/>
            <a:ext cx="4572000" cy="320040"/>
          </a:xfrm>
          <a:prstGeom prst="rect">
            <a:avLst/>
          </a:prstGeom>
          <a:noFill/>
          <a:ln/>
        </p:spPr>
        <p:txBody>
          <a:bodyPr wrap="square" rtlCol="0" anchor="ctr"/>
          <a:lstStyle/>
          <a:p>
            <a:pPr indent="0" marL="0">
              <a:buNone/>
            </a:pPr>
            <a:r>
              <a:rPr lang="en-US" sz="1200" b="1" spc="200" kern="0" dirty="0">
                <a:solidFill>
                  <a:srgbClr val="FF9900"/>
                </a:solidFill>
                <a:latin typeface="Calibri" pitchFamily="34" charset="0"/>
                <a:ea typeface="Calibri" pitchFamily="34" charset="-122"/>
                <a:cs typeface="Calibri" pitchFamily="34" charset="-120"/>
              </a:rPr>
              <a:t>DATA TRANSFER</a:t>
            </a:r>
            <a:endParaRPr lang="en-US" sz="1200" dirty="0"/>
          </a:p>
        </p:txBody>
      </p:sp>
      <p:sp>
        <p:nvSpPr>
          <p:cNvPr id="16" name="Text 14"/>
          <p:cNvSpPr/>
          <p:nvPr/>
        </p:nvSpPr>
        <p:spPr>
          <a:xfrm>
            <a:off x="6629400" y="2331720"/>
            <a:ext cx="4572000" cy="320040"/>
          </a:xfrm>
          <a:prstGeom prst="rect">
            <a:avLst/>
          </a:prstGeom>
          <a:noFill/>
          <a:ln/>
        </p:spPr>
        <p:txBody>
          <a:bodyPr wrap="square" rtlCol="0" anchor="ctr"/>
          <a:lstStyle/>
          <a:p>
            <a:pPr indent="0" marL="0">
              <a:buNone/>
            </a:pPr>
            <a:r>
              <a:rPr lang="en-US" sz="1500" b="1" dirty="0">
                <a:solidFill>
                  <a:srgbClr val="5FD08A"/>
                </a:solidFill>
                <a:latin typeface="Calibri" pitchFamily="34" charset="0"/>
                <a:ea typeface="Calibri" pitchFamily="34" charset="-122"/>
                <a:cs typeface="Calibri" pitchFamily="34" charset="-120"/>
              </a:rPr>
              <a:t>Inbound to AWS</a:t>
            </a:r>
            <a:endParaRPr lang="en-US" sz="1500" dirty="0"/>
          </a:p>
        </p:txBody>
      </p:sp>
      <p:sp>
        <p:nvSpPr>
          <p:cNvPr id="17" name="Text 15"/>
          <p:cNvSpPr/>
          <p:nvPr/>
        </p:nvSpPr>
        <p:spPr>
          <a:xfrm>
            <a:off x="6629400" y="2624328"/>
            <a:ext cx="4572000" cy="457200"/>
          </a:xfrm>
          <a:prstGeom prst="rect">
            <a:avLst/>
          </a:prstGeom>
          <a:noFill/>
          <a:ln/>
        </p:spPr>
        <p:txBody>
          <a:bodyPr wrap="square" rtlCol="0" anchor="ctr"/>
          <a:lstStyle/>
          <a:p>
            <a:pPr indent="0" marL="0">
              <a:buNone/>
            </a:pPr>
            <a:r>
              <a:rPr lang="en-US" sz="1300" dirty="0">
                <a:solidFill>
                  <a:srgbClr val="C7D2DE"/>
                </a:solidFill>
                <a:latin typeface="Calibri" pitchFamily="34" charset="0"/>
                <a:ea typeface="Calibri" pitchFamily="34" charset="-122"/>
                <a:cs typeface="Calibri" pitchFamily="34" charset="-120"/>
              </a:rPr>
              <a:t>generally free — they want your data</a:t>
            </a:r>
            <a:endParaRPr lang="en-US" sz="1300" dirty="0"/>
          </a:p>
        </p:txBody>
      </p:sp>
      <p:sp>
        <p:nvSpPr>
          <p:cNvPr id="18" name="Text 16"/>
          <p:cNvSpPr/>
          <p:nvPr/>
        </p:nvSpPr>
        <p:spPr>
          <a:xfrm>
            <a:off x="6629400" y="3172968"/>
            <a:ext cx="4572000" cy="320040"/>
          </a:xfrm>
          <a:prstGeom prst="rect">
            <a:avLst/>
          </a:prstGeom>
          <a:noFill/>
          <a:ln/>
        </p:spPr>
        <p:txBody>
          <a:bodyPr wrap="square" rtlCol="0" anchor="ctr"/>
          <a:lstStyle/>
          <a:p>
            <a:pPr indent="0" marL="0">
              <a:buNone/>
            </a:pPr>
            <a:r>
              <a:rPr lang="en-US" sz="1500" b="1" dirty="0">
                <a:solidFill>
                  <a:srgbClr val="FF8A80"/>
                </a:solidFill>
                <a:latin typeface="Calibri" pitchFamily="34" charset="0"/>
                <a:ea typeface="Calibri" pitchFamily="34" charset="-122"/>
                <a:cs typeface="Calibri" pitchFamily="34" charset="-120"/>
              </a:rPr>
              <a:t>Outbound to internet</a:t>
            </a:r>
            <a:endParaRPr lang="en-US" sz="1500" dirty="0"/>
          </a:p>
        </p:txBody>
      </p:sp>
      <p:sp>
        <p:nvSpPr>
          <p:cNvPr id="19" name="Text 17"/>
          <p:cNvSpPr/>
          <p:nvPr/>
        </p:nvSpPr>
        <p:spPr>
          <a:xfrm>
            <a:off x="6629400" y="3465576"/>
            <a:ext cx="4572000" cy="457200"/>
          </a:xfrm>
          <a:prstGeom prst="rect">
            <a:avLst/>
          </a:prstGeom>
          <a:noFill/>
          <a:ln/>
        </p:spPr>
        <p:txBody>
          <a:bodyPr wrap="square" rtlCol="0" anchor="ctr"/>
          <a:lstStyle/>
          <a:p>
            <a:pPr indent="0" marL="0">
              <a:buNone/>
            </a:pPr>
            <a:r>
              <a:rPr lang="en-US" sz="1300" dirty="0">
                <a:solidFill>
                  <a:srgbClr val="C7D2DE"/>
                </a:solidFill>
                <a:latin typeface="Calibri" pitchFamily="34" charset="0"/>
                <a:ea typeface="Calibri" pitchFamily="34" charset="-122"/>
                <a:cs typeface="Calibri" pitchFamily="34" charset="-120"/>
              </a:rPr>
              <a:t>metered per GB — this is the one that surprises people</a:t>
            </a:r>
            <a:endParaRPr lang="en-US" sz="1300" dirty="0"/>
          </a:p>
        </p:txBody>
      </p:sp>
      <p:sp>
        <p:nvSpPr>
          <p:cNvPr id="20" name="Text 18"/>
          <p:cNvSpPr/>
          <p:nvPr/>
        </p:nvSpPr>
        <p:spPr>
          <a:xfrm>
            <a:off x="6629400" y="4014216"/>
            <a:ext cx="4572000" cy="320040"/>
          </a:xfrm>
          <a:prstGeom prst="rect">
            <a:avLst/>
          </a:prstGeom>
          <a:noFill/>
          <a:ln/>
        </p:spPr>
        <p:txBody>
          <a:bodyPr wrap="square" rtlCol="0" anchor="ctr"/>
          <a:lstStyle/>
          <a:p>
            <a:pPr indent="0" marL="0">
              <a:buNone/>
            </a:pPr>
            <a:r>
              <a:rPr lang="en-US" sz="1500" b="1" dirty="0">
                <a:solidFill>
                  <a:srgbClr val="FFC46B"/>
                </a:solidFill>
                <a:latin typeface="Calibri" pitchFamily="34" charset="0"/>
                <a:ea typeface="Calibri" pitchFamily="34" charset="-122"/>
                <a:cs typeface="Calibri" pitchFamily="34" charset="-120"/>
              </a:rPr>
              <a:t>Between Regions</a:t>
            </a:r>
            <a:endParaRPr lang="en-US" sz="1500" dirty="0"/>
          </a:p>
        </p:txBody>
      </p:sp>
      <p:sp>
        <p:nvSpPr>
          <p:cNvPr id="21" name="Text 19"/>
          <p:cNvSpPr/>
          <p:nvPr/>
        </p:nvSpPr>
        <p:spPr>
          <a:xfrm>
            <a:off x="6629400" y="4306824"/>
            <a:ext cx="4572000" cy="457200"/>
          </a:xfrm>
          <a:prstGeom prst="rect">
            <a:avLst/>
          </a:prstGeom>
          <a:noFill/>
          <a:ln/>
        </p:spPr>
        <p:txBody>
          <a:bodyPr wrap="square" rtlCol="0" anchor="ctr"/>
          <a:lstStyle/>
          <a:p>
            <a:pPr indent="0" marL="0">
              <a:buNone/>
            </a:pPr>
            <a:r>
              <a:rPr lang="en-US" sz="1300" dirty="0">
                <a:solidFill>
                  <a:srgbClr val="C7D2DE"/>
                </a:solidFill>
                <a:latin typeface="Calibri" pitchFamily="34" charset="0"/>
                <a:ea typeface="Calibri" pitchFamily="34" charset="-122"/>
                <a:cs typeface="Calibri" pitchFamily="34" charset="-120"/>
              </a:rPr>
              <a:t>costs money — crossing Regions isn't free</a:t>
            </a:r>
            <a:endParaRPr lang="en-US" sz="1300" dirty="0"/>
          </a:p>
        </p:txBody>
      </p:sp>
      <p:sp>
        <p:nvSpPr>
          <p:cNvPr id="22" name="Text 20"/>
          <p:cNvSpPr/>
          <p:nvPr/>
        </p:nvSpPr>
        <p:spPr>
          <a:xfrm>
            <a:off x="6629400" y="4855464"/>
            <a:ext cx="4572000" cy="320040"/>
          </a:xfrm>
          <a:prstGeom prst="rect">
            <a:avLst/>
          </a:prstGeom>
          <a:noFill/>
          <a:ln/>
        </p:spPr>
        <p:txBody>
          <a:bodyPr wrap="square" rtlCol="0" anchor="ctr"/>
          <a:lstStyle/>
          <a:p>
            <a:pPr indent="0" marL="0">
              <a:buNone/>
            </a:pPr>
            <a:r>
              <a:rPr lang="en-US" sz="1500" b="1" dirty="0">
                <a:solidFill>
                  <a:srgbClr val="FFC46B"/>
                </a:solidFill>
                <a:latin typeface="Calibri" pitchFamily="34" charset="0"/>
                <a:ea typeface="Calibri" pitchFamily="34" charset="-122"/>
                <a:cs typeface="Calibri" pitchFamily="34" charset="-120"/>
              </a:rPr>
              <a:t>Between AZs</a:t>
            </a:r>
            <a:endParaRPr lang="en-US" sz="1500" dirty="0"/>
          </a:p>
        </p:txBody>
      </p:sp>
      <p:sp>
        <p:nvSpPr>
          <p:cNvPr id="23" name="Text 21"/>
          <p:cNvSpPr/>
          <p:nvPr/>
        </p:nvSpPr>
        <p:spPr>
          <a:xfrm>
            <a:off x="6629400" y="5148072"/>
            <a:ext cx="4572000" cy="457200"/>
          </a:xfrm>
          <a:prstGeom prst="rect">
            <a:avLst/>
          </a:prstGeom>
          <a:noFill/>
          <a:ln/>
        </p:spPr>
        <p:txBody>
          <a:bodyPr wrap="square" rtlCol="0" anchor="ctr"/>
          <a:lstStyle/>
          <a:p>
            <a:pPr indent="0" marL="0">
              <a:buNone/>
            </a:pPr>
            <a:r>
              <a:rPr lang="en-US" sz="1300" dirty="0">
                <a:solidFill>
                  <a:srgbClr val="C7D2DE"/>
                </a:solidFill>
                <a:latin typeface="Calibri" pitchFamily="34" charset="0"/>
                <a:ea typeface="Calibri" pitchFamily="34" charset="-122"/>
                <a:cs typeface="Calibri" pitchFamily="34" charset="-120"/>
              </a:rPr>
              <a:t>also generally charged — even inside one Region</a:t>
            </a:r>
            <a:endParaRPr lang="en-US" sz="1300" dirty="0"/>
          </a:p>
        </p:txBody>
      </p:sp>
      <p:sp>
        <p:nvSpPr>
          <p:cNvPr id="24" name="Text 22"/>
          <p:cNvSpPr/>
          <p:nvPr/>
        </p:nvSpPr>
        <p:spPr>
          <a:xfrm>
            <a:off x="640080" y="6473952"/>
            <a:ext cx="5943600" cy="274320"/>
          </a:xfrm>
          <a:prstGeom prst="rect">
            <a:avLst/>
          </a:prstGeom>
          <a:noFill/>
          <a:ln/>
        </p:spPr>
        <p:txBody>
          <a:bodyPr wrap="square" rtlCol="0" anchor="ctr"/>
          <a:lstStyle/>
          <a:p>
            <a:pPr indent="0" marL="0">
              <a:buNone/>
            </a:pPr>
            <a:r>
              <a:rPr lang="en-US" sz="900" dirty="0">
                <a:solidFill>
                  <a:srgbClr val="5B6570"/>
                </a:solidFill>
                <a:latin typeface="Calibri" pitchFamily="34" charset="0"/>
                <a:ea typeface="Calibri" pitchFamily="34" charset="-122"/>
                <a:cs typeface="Calibri" pitchFamily="34" charset="-120"/>
              </a:rPr>
              <a:t>AWS SAA-A  ·  Lecture 2  ·  Cloud Economics &amp; Billing</a:t>
            </a:r>
            <a:endParaRPr lang="en-US" sz="900" dirty="0"/>
          </a:p>
        </p:txBody>
      </p:sp>
      <p:sp>
        <p:nvSpPr>
          <p:cNvPr id="25" name="Text 23"/>
          <p:cNvSpPr/>
          <p:nvPr/>
        </p:nvSpPr>
        <p:spPr>
          <a:xfrm>
            <a:off x="11000232" y="6473952"/>
            <a:ext cx="548640" cy="274320"/>
          </a:xfrm>
          <a:prstGeom prst="rect">
            <a:avLst/>
          </a:prstGeom>
          <a:noFill/>
          <a:ln/>
        </p:spPr>
        <p:txBody>
          <a:bodyPr wrap="square" rtlCol="0" anchor="ctr"/>
          <a:lstStyle/>
          <a:p>
            <a:pPr algn="r" indent="0" marL="0">
              <a:buNone/>
            </a:pPr>
            <a:r>
              <a:rPr lang="en-US" sz="900" dirty="0">
                <a:solidFill>
                  <a:srgbClr val="5B657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457200"/>
            <a:ext cx="10908792" cy="274320"/>
          </a:xfrm>
          <a:prstGeom prst="rect">
            <a:avLst/>
          </a:prstGeom>
          <a:noFill/>
          <a:ln/>
        </p:spPr>
        <p:txBody>
          <a:bodyPr wrap="square" rtlCol="0" anchor="ctr"/>
          <a:lstStyle/>
          <a:p>
            <a:pPr indent="0" marL="0">
              <a:buNone/>
            </a:pPr>
            <a:r>
              <a:rPr lang="en-US" sz="1200" b="1" spc="200" kern="0" dirty="0">
                <a:solidFill>
                  <a:srgbClr val="EC7211"/>
                </a:solidFill>
                <a:latin typeface="Calibri" pitchFamily="34" charset="0"/>
                <a:ea typeface="Calibri" pitchFamily="34" charset="-122"/>
                <a:cs typeface="Calibri" pitchFamily="34" charset="-120"/>
              </a:rPr>
              <a:t>DON'T OVERPAY FOR NOTHING</a:t>
            </a:r>
            <a:endParaRPr lang="en-US" sz="1200" dirty="0"/>
          </a:p>
        </p:txBody>
      </p:sp>
      <p:sp>
        <p:nvSpPr>
          <p:cNvPr id="3" name="Text 1"/>
          <p:cNvSpPr/>
          <p:nvPr/>
        </p:nvSpPr>
        <p:spPr>
          <a:xfrm>
            <a:off x="640080" y="731520"/>
            <a:ext cx="10908792" cy="640080"/>
          </a:xfrm>
          <a:prstGeom prst="rect">
            <a:avLst/>
          </a:prstGeom>
          <a:noFill/>
          <a:ln/>
        </p:spPr>
        <p:txBody>
          <a:bodyPr wrap="square" rtlCol="0" anchor="ctr"/>
          <a:lstStyle/>
          <a:p>
            <a:pPr indent="0" marL="0">
              <a:buNone/>
            </a:pPr>
            <a:r>
              <a:rPr lang="en-US" sz="3200" b="1" dirty="0">
                <a:solidFill>
                  <a:srgbClr val="232F3E"/>
                </a:solidFill>
                <a:latin typeface="Calibri" pitchFamily="34" charset="0"/>
                <a:ea typeface="Calibri" pitchFamily="34" charset="-122"/>
                <a:cs typeface="Calibri" pitchFamily="34" charset="-120"/>
              </a:rPr>
              <a:t>Services That Cost Nothing to Use</a:t>
            </a:r>
            <a:endParaRPr lang="en-US" sz="3200" dirty="0"/>
          </a:p>
        </p:txBody>
      </p:sp>
      <p:sp>
        <p:nvSpPr>
          <p:cNvPr id="4" name="Text 2"/>
          <p:cNvSpPr/>
          <p:nvPr/>
        </p:nvSpPr>
        <p:spPr>
          <a:xfrm>
            <a:off x="640080" y="1417320"/>
            <a:ext cx="10908792" cy="365760"/>
          </a:xfrm>
          <a:prstGeom prst="rect">
            <a:avLst/>
          </a:prstGeom>
          <a:noFill/>
          <a:ln/>
        </p:spPr>
        <p:txBody>
          <a:bodyPr wrap="square" rtlCol="0" anchor="ctr"/>
          <a:lstStyle/>
          <a:p>
            <a:pPr indent="0" marL="0">
              <a:buNone/>
            </a:pPr>
            <a:r>
              <a:rPr lang="en-US" sz="1500" i="1" dirty="0">
                <a:solidFill>
                  <a:srgbClr val="5B6570"/>
                </a:solidFill>
                <a:latin typeface="Calibri" pitchFamily="34" charset="0"/>
                <a:ea typeface="Calibri" pitchFamily="34" charset="-122"/>
                <a:cs typeface="Calibri" pitchFamily="34" charset="-120"/>
              </a:rPr>
              <a:t>These services are free — but you still pay for the resources they create or manage. Classic exam distinction.</a:t>
            </a:r>
            <a:endParaRPr lang="en-US" sz="1500" dirty="0"/>
          </a:p>
        </p:txBody>
      </p:sp>
      <p:sp>
        <p:nvSpPr>
          <p:cNvPr id="5" name="Shape 3"/>
          <p:cNvSpPr/>
          <p:nvPr/>
        </p:nvSpPr>
        <p:spPr>
          <a:xfrm>
            <a:off x="640080" y="1965960"/>
            <a:ext cx="3483864" cy="1828800"/>
          </a:xfrm>
          <a:prstGeom prst="roundRect">
            <a:avLst>
              <a:gd name="adj" fmla="val 5000"/>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sp>
      <p:sp>
        <p:nvSpPr>
          <p:cNvPr id="6" name="Shape 4"/>
          <p:cNvSpPr/>
          <p:nvPr/>
        </p:nvSpPr>
        <p:spPr>
          <a:xfrm>
            <a:off x="640080" y="1965960"/>
            <a:ext cx="137160" cy="1828800"/>
          </a:xfrm>
          <a:prstGeom prst="roundRect">
            <a:avLst>
              <a:gd name="adj" fmla="val 13333"/>
            </a:avLst>
          </a:prstGeom>
          <a:solidFill>
            <a:srgbClr val="1E8FA5"/>
          </a:solidFill>
          <a:ln/>
        </p:spPr>
      </p:sp>
      <p:sp>
        <p:nvSpPr>
          <p:cNvPr id="7" name="Text 5"/>
          <p:cNvSpPr/>
          <p:nvPr/>
        </p:nvSpPr>
        <p:spPr>
          <a:xfrm>
            <a:off x="1005840" y="216712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Amazon VPC</a:t>
            </a:r>
            <a:endParaRPr lang="en-US" sz="1600" dirty="0"/>
          </a:p>
        </p:txBody>
      </p:sp>
      <p:sp>
        <p:nvSpPr>
          <p:cNvPr id="8" name="Text 6"/>
          <p:cNvSpPr/>
          <p:nvPr/>
        </p:nvSpPr>
        <p:spPr>
          <a:xfrm>
            <a:off x="1005840" y="2697480"/>
            <a:ext cx="2843784" cy="91440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Building a virtual network costs nothing. The NAT gateways and traffic inside it do cost.</a:t>
            </a:r>
            <a:endParaRPr lang="en-US" sz="1300" dirty="0"/>
          </a:p>
        </p:txBody>
      </p:sp>
      <p:sp>
        <p:nvSpPr>
          <p:cNvPr id="9" name="Shape 7"/>
          <p:cNvSpPr/>
          <p:nvPr/>
        </p:nvSpPr>
        <p:spPr>
          <a:xfrm>
            <a:off x="4352544" y="1965960"/>
            <a:ext cx="3483864" cy="1828800"/>
          </a:xfrm>
          <a:prstGeom prst="roundRect">
            <a:avLst>
              <a:gd name="adj" fmla="val 5000"/>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sp>
      <p:sp>
        <p:nvSpPr>
          <p:cNvPr id="10" name="Shape 8"/>
          <p:cNvSpPr/>
          <p:nvPr/>
        </p:nvSpPr>
        <p:spPr>
          <a:xfrm>
            <a:off x="4352544" y="1965960"/>
            <a:ext cx="137160" cy="1828800"/>
          </a:xfrm>
          <a:prstGeom prst="roundRect">
            <a:avLst>
              <a:gd name="adj" fmla="val 13333"/>
            </a:avLst>
          </a:prstGeom>
          <a:solidFill>
            <a:srgbClr val="1F8A38"/>
          </a:solidFill>
          <a:ln/>
        </p:spPr>
      </p:sp>
      <p:sp>
        <p:nvSpPr>
          <p:cNvPr id="11" name="Text 9"/>
          <p:cNvSpPr/>
          <p:nvPr/>
        </p:nvSpPr>
        <p:spPr>
          <a:xfrm>
            <a:off x="4718304" y="216712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IAM</a:t>
            </a:r>
            <a:endParaRPr lang="en-US" sz="1600" dirty="0"/>
          </a:p>
        </p:txBody>
      </p:sp>
      <p:sp>
        <p:nvSpPr>
          <p:cNvPr id="12" name="Text 10"/>
          <p:cNvSpPr/>
          <p:nvPr/>
        </p:nvSpPr>
        <p:spPr>
          <a:xfrm>
            <a:off x="4718304" y="2697480"/>
            <a:ext cx="2843784" cy="91440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Users, groups, roles, and policies are free. Always.</a:t>
            </a:r>
            <a:endParaRPr lang="en-US" sz="1300" dirty="0"/>
          </a:p>
        </p:txBody>
      </p:sp>
      <p:sp>
        <p:nvSpPr>
          <p:cNvPr id="13" name="Shape 11"/>
          <p:cNvSpPr/>
          <p:nvPr/>
        </p:nvSpPr>
        <p:spPr>
          <a:xfrm>
            <a:off x="8065008" y="1965960"/>
            <a:ext cx="3483864" cy="1828800"/>
          </a:xfrm>
          <a:prstGeom prst="roundRect">
            <a:avLst>
              <a:gd name="adj" fmla="val 5000"/>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sp>
      <p:sp>
        <p:nvSpPr>
          <p:cNvPr id="14" name="Shape 12"/>
          <p:cNvSpPr/>
          <p:nvPr/>
        </p:nvSpPr>
        <p:spPr>
          <a:xfrm>
            <a:off x="8065008" y="1965960"/>
            <a:ext cx="137160" cy="1828800"/>
          </a:xfrm>
          <a:prstGeom prst="roundRect">
            <a:avLst>
              <a:gd name="adj" fmla="val 13333"/>
            </a:avLst>
          </a:prstGeom>
          <a:solidFill>
            <a:srgbClr val="EC7211"/>
          </a:solidFill>
          <a:ln/>
        </p:spPr>
      </p:sp>
      <p:sp>
        <p:nvSpPr>
          <p:cNvPr id="15" name="Text 13"/>
          <p:cNvSpPr/>
          <p:nvPr/>
        </p:nvSpPr>
        <p:spPr>
          <a:xfrm>
            <a:off x="8430768" y="216712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Auto Scaling</a:t>
            </a:r>
            <a:endParaRPr lang="en-US" sz="1600" dirty="0"/>
          </a:p>
        </p:txBody>
      </p:sp>
      <p:sp>
        <p:nvSpPr>
          <p:cNvPr id="16" name="Text 14"/>
          <p:cNvSpPr/>
          <p:nvPr/>
        </p:nvSpPr>
        <p:spPr>
          <a:xfrm>
            <a:off x="8430768" y="2697480"/>
            <a:ext cx="2843784" cy="91440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The scaling service is free — you pay for the instances it launches.</a:t>
            </a:r>
            <a:endParaRPr lang="en-US" sz="1300" dirty="0"/>
          </a:p>
        </p:txBody>
      </p:sp>
      <p:sp>
        <p:nvSpPr>
          <p:cNvPr id="17" name="Shape 15"/>
          <p:cNvSpPr/>
          <p:nvPr/>
        </p:nvSpPr>
        <p:spPr>
          <a:xfrm>
            <a:off x="640080" y="4023360"/>
            <a:ext cx="3483864" cy="1828800"/>
          </a:xfrm>
          <a:prstGeom prst="roundRect">
            <a:avLst>
              <a:gd name="adj" fmla="val 5000"/>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sp>
      <p:sp>
        <p:nvSpPr>
          <p:cNvPr id="18" name="Shape 16"/>
          <p:cNvSpPr/>
          <p:nvPr/>
        </p:nvSpPr>
        <p:spPr>
          <a:xfrm>
            <a:off x="640080" y="4023360"/>
            <a:ext cx="137160" cy="1828800"/>
          </a:xfrm>
          <a:prstGeom prst="roundRect">
            <a:avLst>
              <a:gd name="adj" fmla="val 13333"/>
            </a:avLst>
          </a:prstGeom>
          <a:solidFill>
            <a:srgbClr val="7A5C9E"/>
          </a:solidFill>
          <a:ln/>
        </p:spPr>
      </p:sp>
      <p:sp>
        <p:nvSpPr>
          <p:cNvPr id="19" name="Text 17"/>
          <p:cNvSpPr/>
          <p:nvPr/>
        </p:nvSpPr>
        <p:spPr>
          <a:xfrm>
            <a:off x="1005840" y="422452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CloudFormation</a:t>
            </a:r>
            <a:endParaRPr lang="en-US" sz="1600" dirty="0"/>
          </a:p>
        </p:txBody>
      </p:sp>
      <p:sp>
        <p:nvSpPr>
          <p:cNvPr id="20" name="Text 18"/>
          <p:cNvSpPr/>
          <p:nvPr/>
        </p:nvSpPr>
        <p:spPr>
          <a:xfrm>
            <a:off x="1005840" y="4754880"/>
            <a:ext cx="2843784" cy="91440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Infrastructure-as-code templates are free; the stack's resources are not.</a:t>
            </a:r>
            <a:endParaRPr lang="en-US" sz="1300" dirty="0"/>
          </a:p>
        </p:txBody>
      </p:sp>
      <p:sp>
        <p:nvSpPr>
          <p:cNvPr id="21" name="Shape 19"/>
          <p:cNvSpPr/>
          <p:nvPr/>
        </p:nvSpPr>
        <p:spPr>
          <a:xfrm>
            <a:off x="4352544" y="4023360"/>
            <a:ext cx="3483864" cy="1828800"/>
          </a:xfrm>
          <a:prstGeom prst="roundRect">
            <a:avLst>
              <a:gd name="adj" fmla="val 5000"/>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sp>
      <p:sp>
        <p:nvSpPr>
          <p:cNvPr id="22" name="Shape 20"/>
          <p:cNvSpPr/>
          <p:nvPr/>
        </p:nvSpPr>
        <p:spPr>
          <a:xfrm>
            <a:off x="4352544" y="4023360"/>
            <a:ext cx="137160" cy="1828800"/>
          </a:xfrm>
          <a:prstGeom prst="roundRect">
            <a:avLst>
              <a:gd name="adj" fmla="val 13333"/>
            </a:avLst>
          </a:prstGeom>
          <a:solidFill>
            <a:srgbClr val="4B6584"/>
          </a:solidFill>
          <a:ln/>
        </p:spPr>
      </p:sp>
      <p:sp>
        <p:nvSpPr>
          <p:cNvPr id="23" name="Text 21"/>
          <p:cNvSpPr/>
          <p:nvPr/>
        </p:nvSpPr>
        <p:spPr>
          <a:xfrm>
            <a:off x="4718304" y="422452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AWS Organizations</a:t>
            </a:r>
            <a:endParaRPr lang="en-US" sz="1600" dirty="0"/>
          </a:p>
        </p:txBody>
      </p:sp>
      <p:sp>
        <p:nvSpPr>
          <p:cNvPr id="24" name="Text 22"/>
          <p:cNvSpPr/>
          <p:nvPr/>
        </p:nvSpPr>
        <p:spPr>
          <a:xfrm>
            <a:off x="4718304" y="4754880"/>
            <a:ext cx="2843784" cy="91440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Account structure and consolidated billing cost nothing.</a:t>
            </a:r>
            <a:endParaRPr lang="en-US" sz="1300" dirty="0"/>
          </a:p>
        </p:txBody>
      </p:sp>
      <p:sp>
        <p:nvSpPr>
          <p:cNvPr id="25" name="Shape 23"/>
          <p:cNvSpPr/>
          <p:nvPr/>
        </p:nvSpPr>
        <p:spPr>
          <a:xfrm>
            <a:off x="8065008" y="4023360"/>
            <a:ext cx="3483864" cy="1828800"/>
          </a:xfrm>
          <a:prstGeom prst="roundRect">
            <a:avLst>
              <a:gd name="adj" fmla="val 5000"/>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sp>
      <p:sp>
        <p:nvSpPr>
          <p:cNvPr id="26" name="Shape 24"/>
          <p:cNvSpPr/>
          <p:nvPr/>
        </p:nvSpPr>
        <p:spPr>
          <a:xfrm>
            <a:off x="8065008" y="4023360"/>
            <a:ext cx="137160" cy="1828800"/>
          </a:xfrm>
          <a:prstGeom prst="roundRect">
            <a:avLst>
              <a:gd name="adj" fmla="val 13333"/>
            </a:avLst>
          </a:prstGeom>
          <a:solidFill>
            <a:srgbClr val="B7791F"/>
          </a:solidFill>
          <a:ln/>
        </p:spPr>
      </p:sp>
      <p:sp>
        <p:nvSpPr>
          <p:cNvPr id="27" name="Text 25"/>
          <p:cNvSpPr/>
          <p:nvPr/>
        </p:nvSpPr>
        <p:spPr>
          <a:xfrm>
            <a:off x="8430768" y="422452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Elastic Beanstalk</a:t>
            </a:r>
            <a:endParaRPr lang="en-US" sz="1600" dirty="0"/>
          </a:p>
        </p:txBody>
      </p:sp>
      <p:sp>
        <p:nvSpPr>
          <p:cNvPr id="28" name="Text 26"/>
          <p:cNvSpPr/>
          <p:nvPr/>
        </p:nvSpPr>
        <p:spPr>
          <a:xfrm>
            <a:off x="8430768" y="4754880"/>
            <a:ext cx="2843784" cy="91440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The orchestration is free; the EC2 and storage underneath are billed.</a:t>
            </a:r>
            <a:endParaRPr lang="en-US" sz="1300" dirty="0"/>
          </a:p>
        </p:txBody>
      </p:sp>
      <p:sp>
        <p:nvSpPr>
          <p:cNvPr id="29" name="Text 27"/>
          <p:cNvSpPr/>
          <p:nvPr/>
        </p:nvSpPr>
        <p:spPr>
          <a:xfrm>
            <a:off x="640080" y="5943600"/>
            <a:ext cx="10908792" cy="365760"/>
          </a:xfrm>
          <a:prstGeom prst="rect">
            <a:avLst/>
          </a:prstGeom>
          <a:noFill/>
          <a:ln/>
        </p:spPr>
        <p:txBody>
          <a:bodyPr wrap="square" rtlCol="0" anchor="ctr"/>
          <a:lstStyle/>
          <a:p>
            <a:pPr algn="ctr" indent="0" marL="0">
              <a:buNone/>
            </a:pPr>
            <a:r>
              <a:rPr lang="en-US" sz="1400" b="1" i="1" dirty="0">
                <a:solidFill>
                  <a:srgbClr val="232F3E"/>
                </a:solidFill>
                <a:latin typeface="Calibri" pitchFamily="34" charset="0"/>
                <a:ea typeface="Calibri" pitchFamily="34" charset="-122"/>
                <a:cs typeface="Calibri" pitchFamily="34" charset="-120"/>
              </a:rPr>
              <a:t>The pattern:  the management layer is free — the compute, storage, and traffic underneath are not.</a:t>
            </a:r>
            <a:endParaRPr lang="en-US" sz="1400" dirty="0"/>
          </a:p>
        </p:txBody>
      </p:sp>
      <p:sp>
        <p:nvSpPr>
          <p:cNvPr id="30" name="Text 28"/>
          <p:cNvSpPr/>
          <p:nvPr/>
        </p:nvSpPr>
        <p:spPr>
          <a:xfrm>
            <a:off x="640080" y="6473952"/>
            <a:ext cx="5943600" cy="274320"/>
          </a:xfrm>
          <a:prstGeom prst="rect">
            <a:avLst/>
          </a:prstGeom>
          <a:noFill/>
          <a:ln/>
        </p:spPr>
        <p:txBody>
          <a:bodyPr wrap="square" rtlCol="0" anchor="ctr"/>
          <a:lstStyle/>
          <a:p>
            <a:pPr indent="0" marL="0">
              <a:buNone/>
            </a:pPr>
            <a:r>
              <a:rPr lang="en-US" sz="900" dirty="0">
                <a:solidFill>
                  <a:srgbClr val="5B6570"/>
                </a:solidFill>
                <a:latin typeface="Calibri" pitchFamily="34" charset="0"/>
                <a:ea typeface="Calibri" pitchFamily="34" charset="-122"/>
                <a:cs typeface="Calibri" pitchFamily="34" charset="-120"/>
              </a:rPr>
              <a:t>AWS SAA-A  ·  Lecture 2  ·  Cloud Economics &amp; Billing</a:t>
            </a:r>
            <a:endParaRPr lang="en-US" sz="900" dirty="0"/>
          </a:p>
        </p:txBody>
      </p:sp>
      <p:sp>
        <p:nvSpPr>
          <p:cNvPr id="31" name="Text 29"/>
          <p:cNvSpPr/>
          <p:nvPr/>
        </p:nvSpPr>
        <p:spPr>
          <a:xfrm>
            <a:off x="11000232" y="6473952"/>
            <a:ext cx="548640" cy="274320"/>
          </a:xfrm>
          <a:prstGeom prst="rect">
            <a:avLst/>
          </a:prstGeom>
          <a:noFill/>
          <a:ln/>
        </p:spPr>
        <p:txBody>
          <a:bodyPr wrap="square" rtlCol="0" anchor="ctr"/>
          <a:lstStyle/>
          <a:p>
            <a:pPr algn="r" indent="0" marL="0">
              <a:buNone/>
            </a:pPr>
            <a:r>
              <a:rPr lang="en-US" sz="900" dirty="0">
                <a:solidFill>
                  <a:srgbClr val="5B657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640080" y="457200"/>
            <a:ext cx="3291840" cy="384048"/>
          </a:xfrm>
          <a:prstGeom prst="roundRect">
            <a:avLst>
              <a:gd name="adj" fmla="val 19048"/>
            </a:avLst>
          </a:prstGeom>
          <a:solidFill>
            <a:srgbClr val="C0392B"/>
          </a:solidFill>
          <a:ln/>
        </p:spPr>
      </p:sp>
      <p:sp>
        <p:nvSpPr>
          <p:cNvPr id="3" name="Text 1"/>
          <p:cNvSpPr/>
          <p:nvPr/>
        </p:nvSpPr>
        <p:spPr>
          <a:xfrm>
            <a:off x="640080" y="457200"/>
            <a:ext cx="3291840" cy="384048"/>
          </a:xfrm>
          <a:prstGeom prst="rect">
            <a:avLst/>
          </a:prstGeom>
          <a:noFill/>
          <a:ln/>
        </p:spPr>
        <p:txBody>
          <a:bodyPr wrap="square"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  THIS CHANGED RECENTLY</a:t>
            </a:r>
            <a:endParaRPr lang="en-US" sz="1150" dirty="0"/>
          </a:p>
        </p:txBody>
      </p:sp>
      <p:sp>
        <p:nvSpPr>
          <p:cNvPr id="4" name="Text 2"/>
          <p:cNvSpPr/>
          <p:nvPr/>
        </p:nvSpPr>
        <p:spPr>
          <a:xfrm>
            <a:off x="640080" y="960120"/>
            <a:ext cx="105156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The AWS Free Tier Works Differently Now</a:t>
            </a:r>
            <a:endParaRPr lang="en-US" sz="3200" dirty="0"/>
          </a:p>
        </p:txBody>
      </p:sp>
      <p:sp>
        <p:nvSpPr>
          <p:cNvPr id="5" name="Text 3"/>
          <p:cNvSpPr/>
          <p:nvPr/>
        </p:nvSpPr>
        <p:spPr>
          <a:xfrm>
            <a:off x="640080" y="1645920"/>
            <a:ext cx="10515600" cy="365760"/>
          </a:xfrm>
          <a:prstGeom prst="rect">
            <a:avLst/>
          </a:prstGeom>
          <a:noFill/>
          <a:ln/>
        </p:spPr>
        <p:txBody>
          <a:bodyPr wrap="square" rtlCol="0" anchor="ctr"/>
          <a:lstStyle/>
          <a:p>
            <a:pPr indent="0" marL="0">
              <a:buNone/>
            </a:pPr>
            <a:r>
              <a:rPr lang="en-US" sz="1500" i="1" dirty="0">
                <a:solidFill>
                  <a:srgbClr val="AEB9C6"/>
                </a:solidFill>
                <a:latin typeface="Calibri" pitchFamily="34" charset="0"/>
                <a:ea typeface="Calibri" pitchFamily="34" charset="-122"/>
                <a:cs typeface="Calibri" pitchFamily="34" charset="-120"/>
              </a:rPr>
              <a:t>Accounts created since mid-2025 use a credit model — not the old “12 months free” everyone still writes about.</a:t>
            </a:r>
            <a:endParaRPr lang="en-US" sz="1500" dirty="0"/>
          </a:p>
        </p:txBody>
      </p:sp>
      <p:sp>
        <p:nvSpPr>
          <p:cNvPr id="6" name="Shape 4"/>
          <p:cNvSpPr/>
          <p:nvPr/>
        </p:nvSpPr>
        <p:spPr>
          <a:xfrm>
            <a:off x="640080" y="2194560"/>
            <a:ext cx="5257800" cy="1234440"/>
          </a:xfrm>
          <a:prstGeom prst="roundRect">
            <a:avLst>
              <a:gd name="adj" fmla="val 7407"/>
            </a:avLst>
          </a:prstGeom>
          <a:solidFill>
            <a:srgbClr val="2E3E52"/>
          </a:solidFill>
          <a:ln/>
        </p:spPr>
      </p:sp>
      <p:sp>
        <p:nvSpPr>
          <p:cNvPr id="7" name="Text 5"/>
          <p:cNvSpPr/>
          <p:nvPr/>
        </p:nvSpPr>
        <p:spPr>
          <a:xfrm>
            <a:off x="1005840" y="2377440"/>
            <a:ext cx="4572000" cy="365760"/>
          </a:xfrm>
          <a:prstGeom prst="rect">
            <a:avLst/>
          </a:prstGeom>
          <a:noFill/>
          <a:ln/>
        </p:spPr>
        <p:txBody>
          <a:bodyPr wrap="square" rtlCol="0" anchor="ctr"/>
          <a:lstStyle/>
          <a:p>
            <a:pPr indent="0" marL="0">
              <a:buNone/>
            </a:pPr>
            <a:r>
              <a:rPr lang="en-US" sz="1650" b="1" dirty="0">
                <a:solidFill>
                  <a:srgbClr val="FF9900"/>
                </a:solidFill>
                <a:latin typeface="Calibri" pitchFamily="34" charset="0"/>
                <a:ea typeface="Calibri" pitchFamily="34" charset="-122"/>
                <a:cs typeface="Calibri" pitchFamily="34" charset="-120"/>
              </a:rPr>
              <a:t>$100 in credits at signup</a:t>
            </a:r>
            <a:endParaRPr lang="en-US" sz="1650" dirty="0"/>
          </a:p>
        </p:txBody>
      </p:sp>
      <p:sp>
        <p:nvSpPr>
          <p:cNvPr id="8" name="Text 6"/>
          <p:cNvSpPr/>
          <p:nvPr/>
        </p:nvSpPr>
        <p:spPr>
          <a:xfrm>
            <a:off x="1005840" y="2761488"/>
            <a:ext cx="4572000" cy="548640"/>
          </a:xfrm>
          <a:prstGeom prst="rect">
            <a:avLst/>
          </a:prstGeom>
          <a:noFill/>
          <a:ln/>
        </p:spPr>
        <p:txBody>
          <a:bodyPr wrap="square" rtlCol="0" anchor="ctr"/>
          <a:lstStyle/>
          <a:p>
            <a:pPr indent="0" marL="0">
              <a:buNone/>
            </a:pPr>
            <a:r>
              <a:rPr lang="en-US" sz="1350" dirty="0">
                <a:solidFill>
                  <a:srgbClr val="C7D2DE"/>
                </a:solidFill>
                <a:latin typeface="Calibri" pitchFamily="34" charset="0"/>
                <a:ea typeface="Calibri" pitchFamily="34" charset="-122"/>
                <a:cs typeface="Calibri" pitchFamily="34" charset="-120"/>
              </a:rPr>
              <a:t>Applied automatically when you create the account.</a:t>
            </a:r>
            <a:endParaRPr lang="en-US" sz="1350" dirty="0"/>
          </a:p>
        </p:txBody>
      </p:sp>
      <p:sp>
        <p:nvSpPr>
          <p:cNvPr id="9" name="Shape 7"/>
          <p:cNvSpPr/>
          <p:nvPr/>
        </p:nvSpPr>
        <p:spPr>
          <a:xfrm>
            <a:off x="6217920" y="2194560"/>
            <a:ext cx="5257800" cy="1234440"/>
          </a:xfrm>
          <a:prstGeom prst="roundRect">
            <a:avLst>
              <a:gd name="adj" fmla="val 7407"/>
            </a:avLst>
          </a:prstGeom>
          <a:solidFill>
            <a:srgbClr val="2E3E52"/>
          </a:solidFill>
          <a:ln/>
        </p:spPr>
      </p:sp>
      <p:sp>
        <p:nvSpPr>
          <p:cNvPr id="10" name="Text 8"/>
          <p:cNvSpPr/>
          <p:nvPr/>
        </p:nvSpPr>
        <p:spPr>
          <a:xfrm>
            <a:off x="6583680" y="2377440"/>
            <a:ext cx="4572000" cy="365760"/>
          </a:xfrm>
          <a:prstGeom prst="rect">
            <a:avLst/>
          </a:prstGeom>
          <a:noFill/>
          <a:ln/>
        </p:spPr>
        <p:txBody>
          <a:bodyPr wrap="square" rtlCol="0" anchor="ctr"/>
          <a:lstStyle/>
          <a:p>
            <a:pPr indent="0" marL="0">
              <a:buNone/>
            </a:pPr>
            <a:r>
              <a:rPr lang="en-US" sz="1650" b="1" dirty="0">
                <a:solidFill>
                  <a:srgbClr val="FF9900"/>
                </a:solidFill>
                <a:latin typeface="Calibri" pitchFamily="34" charset="0"/>
                <a:ea typeface="Calibri" pitchFamily="34" charset="-122"/>
                <a:cs typeface="Calibri" pitchFamily="34" charset="-120"/>
              </a:rPr>
              <a:t>Up to $100 more</a:t>
            </a:r>
            <a:endParaRPr lang="en-US" sz="1650" dirty="0"/>
          </a:p>
        </p:txBody>
      </p:sp>
      <p:sp>
        <p:nvSpPr>
          <p:cNvPr id="11" name="Text 9"/>
          <p:cNvSpPr/>
          <p:nvPr/>
        </p:nvSpPr>
        <p:spPr>
          <a:xfrm>
            <a:off x="6583680" y="2761488"/>
            <a:ext cx="4572000" cy="548640"/>
          </a:xfrm>
          <a:prstGeom prst="rect">
            <a:avLst/>
          </a:prstGeom>
          <a:noFill/>
          <a:ln/>
        </p:spPr>
        <p:txBody>
          <a:bodyPr wrap="square" rtlCol="0" anchor="ctr"/>
          <a:lstStyle/>
          <a:p>
            <a:pPr indent="0" marL="0">
              <a:buNone/>
            </a:pPr>
            <a:r>
              <a:rPr lang="en-US" sz="1350" dirty="0">
                <a:solidFill>
                  <a:srgbClr val="C7D2DE"/>
                </a:solidFill>
                <a:latin typeface="Calibri" pitchFamily="34" charset="0"/>
                <a:ea typeface="Calibri" pitchFamily="34" charset="-122"/>
                <a:cs typeface="Calibri" pitchFamily="34" charset="-120"/>
              </a:rPr>
              <a:t>Earned by completing onboarding activities in the console.</a:t>
            </a:r>
            <a:endParaRPr lang="en-US" sz="1350" dirty="0"/>
          </a:p>
        </p:txBody>
      </p:sp>
      <p:sp>
        <p:nvSpPr>
          <p:cNvPr id="12" name="Shape 10"/>
          <p:cNvSpPr/>
          <p:nvPr/>
        </p:nvSpPr>
        <p:spPr>
          <a:xfrm>
            <a:off x="640080" y="3611880"/>
            <a:ext cx="5257800" cy="1234440"/>
          </a:xfrm>
          <a:prstGeom prst="roundRect">
            <a:avLst>
              <a:gd name="adj" fmla="val 7407"/>
            </a:avLst>
          </a:prstGeom>
          <a:solidFill>
            <a:srgbClr val="2E3E52"/>
          </a:solidFill>
          <a:ln/>
        </p:spPr>
      </p:sp>
      <p:sp>
        <p:nvSpPr>
          <p:cNvPr id="13" name="Text 11"/>
          <p:cNvSpPr/>
          <p:nvPr/>
        </p:nvSpPr>
        <p:spPr>
          <a:xfrm>
            <a:off x="1005840" y="3794760"/>
            <a:ext cx="4572000" cy="365760"/>
          </a:xfrm>
          <a:prstGeom prst="rect">
            <a:avLst/>
          </a:prstGeom>
          <a:noFill/>
          <a:ln/>
        </p:spPr>
        <p:txBody>
          <a:bodyPr wrap="square" rtlCol="0" anchor="ctr"/>
          <a:lstStyle/>
          <a:p>
            <a:pPr indent="0" marL="0">
              <a:buNone/>
            </a:pPr>
            <a:r>
              <a:rPr lang="en-US" sz="1650" b="1" dirty="0">
                <a:solidFill>
                  <a:srgbClr val="FF9900"/>
                </a:solidFill>
                <a:latin typeface="Calibri" pitchFamily="34" charset="0"/>
                <a:ea typeface="Calibri" pitchFamily="34" charset="-122"/>
                <a:cs typeface="Calibri" pitchFamily="34" charset="-120"/>
              </a:rPr>
              <a:t>Free Plan ends early</a:t>
            </a:r>
            <a:endParaRPr lang="en-US" sz="1650" dirty="0"/>
          </a:p>
        </p:txBody>
      </p:sp>
      <p:sp>
        <p:nvSpPr>
          <p:cNvPr id="14" name="Text 12"/>
          <p:cNvSpPr/>
          <p:nvPr/>
        </p:nvSpPr>
        <p:spPr>
          <a:xfrm>
            <a:off x="1005840" y="4178808"/>
            <a:ext cx="4572000" cy="548640"/>
          </a:xfrm>
          <a:prstGeom prst="rect">
            <a:avLst/>
          </a:prstGeom>
          <a:noFill/>
          <a:ln/>
        </p:spPr>
        <p:txBody>
          <a:bodyPr wrap="square" rtlCol="0" anchor="ctr"/>
          <a:lstStyle/>
          <a:p>
            <a:pPr indent="0" marL="0">
              <a:buNone/>
            </a:pPr>
            <a:r>
              <a:rPr lang="en-US" sz="1350" dirty="0">
                <a:solidFill>
                  <a:srgbClr val="C7D2DE"/>
                </a:solidFill>
                <a:latin typeface="Calibri" pitchFamily="34" charset="0"/>
                <a:ea typeface="Calibri" pitchFamily="34" charset="-122"/>
                <a:cs typeface="Calibri" pitchFamily="34" charset="-120"/>
              </a:rPr>
              <a:t>It expires at 6 months OR when credits run out — whichever comes first.</a:t>
            </a:r>
            <a:endParaRPr lang="en-US" sz="1350" dirty="0"/>
          </a:p>
        </p:txBody>
      </p:sp>
      <p:sp>
        <p:nvSpPr>
          <p:cNvPr id="15" name="Shape 13"/>
          <p:cNvSpPr/>
          <p:nvPr/>
        </p:nvSpPr>
        <p:spPr>
          <a:xfrm>
            <a:off x="6217920" y="3611880"/>
            <a:ext cx="5257800" cy="1234440"/>
          </a:xfrm>
          <a:prstGeom prst="roundRect">
            <a:avLst>
              <a:gd name="adj" fmla="val 7407"/>
            </a:avLst>
          </a:prstGeom>
          <a:solidFill>
            <a:srgbClr val="2E3E52"/>
          </a:solidFill>
          <a:ln/>
        </p:spPr>
      </p:sp>
      <p:sp>
        <p:nvSpPr>
          <p:cNvPr id="16" name="Text 14"/>
          <p:cNvSpPr/>
          <p:nvPr/>
        </p:nvSpPr>
        <p:spPr>
          <a:xfrm>
            <a:off x="6583680" y="3794760"/>
            <a:ext cx="4572000" cy="365760"/>
          </a:xfrm>
          <a:prstGeom prst="rect">
            <a:avLst/>
          </a:prstGeom>
          <a:noFill/>
          <a:ln/>
        </p:spPr>
        <p:txBody>
          <a:bodyPr wrap="square" rtlCol="0" anchor="ctr"/>
          <a:lstStyle/>
          <a:p>
            <a:pPr indent="0" marL="0">
              <a:buNone/>
            </a:pPr>
            <a:r>
              <a:rPr lang="en-US" sz="1650" b="1" dirty="0">
                <a:solidFill>
                  <a:srgbClr val="FF9900"/>
                </a:solidFill>
                <a:latin typeface="Calibri" pitchFamily="34" charset="0"/>
                <a:ea typeface="Calibri" pitchFamily="34" charset="-122"/>
                <a:cs typeface="Calibri" pitchFamily="34" charset="-120"/>
              </a:rPr>
              <a:t>30+ always-free services</a:t>
            </a:r>
            <a:endParaRPr lang="en-US" sz="1650" dirty="0"/>
          </a:p>
        </p:txBody>
      </p:sp>
      <p:sp>
        <p:nvSpPr>
          <p:cNvPr id="17" name="Text 15"/>
          <p:cNvSpPr/>
          <p:nvPr/>
        </p:nvSpPr>
        <p:spPr>
          <a:xfrm>
            <a:off x="6583680" y="4178808"/>
            <a:ext cx="4572000" cy="548640"/>
          </a:xfrm>
          <a:prstGeom prst="rect">
            <a:avLst/>
          </a:prstGeom>
          <a:noFill/>
          <a:ln/>
        </p:spPr>
        <p:txBody>
          <a:bodyPr wrap="square" rtlCol="0" anchor="ctr"/>
          <a:lstStyle/>
          <a:p>
            <a:pPr indent="0" marL="0">
              <a:buNone/>
            </a:pPr>
            <a:r>
              <a:rPr lang="en-US" sz="1350" dirty="0">
                <a:solidFill>
                  <a:srgbClr val="C7D2DE"/>
                </a:solidFill>
                <a:latin typeface="Calibri" pitchFamily="34" charset="0"/>
                <a:ea typeface="Calibri" pitchFamily="34" charset="-122"/>
                <a:cs typeface="Calibri" pitchFamily="34" charset="-120"/>
              </a:rPr>
              <a:t>Permanent monthly free allowances that continue regardless.</a:t>
            </a:r>
            <a:endParaRPr lang="en-US" sz="1350" dirty="0"/>
          </a:p>
        </p:txBody>
      </p:sp>
      <p:sp>
        <p:nvSpPr>
          <p:cNvPr id="18" name="Shape 16"/>
          <p:cNvSpPr/>
          <p:nvPr/>
        </p:nvSpPr>
        <p:spPr>
          <a:xfrm>
            <a:off x="640080" y="5120640"/>
            <a:ext cx="10908792" cy="914400"/>
          </a:xfrm>
          <a:prstGeom prst="roundRect">
            <a:avLst>
              <a:gd name="adj" fmla="val 10000"/>
            </a:avLst>
          </a:prstGeom>
          <a:solidFill>
            <a:srgbClr val="C0392B"/>
          </a:solidFill>
          <a:ln/>
        </p:spPr>
      </p:sp>
      <p:sp>
        <p:nvSpPr>
          <p:cNvPr id="19" name="Text 17"/>
          <p:cNvSpPr/>
          <p:nvPr/>
        </p:nvSpPr>
        <p:spPr>
          <a:xfrm>
            <a:off x="1051560" y="5303520"/>
            <a:ext cx="10085832" cy="640080"/>
          </a:xfrm>
          <a:prstGeom prst="rect">
            <a:avLst/>
          </a:prstGeom>
          <a:noFill/>
          <a:ln/>
        </p:spPr>
        <p:txBody>
          <a:bodyPr wrap="square" rtlCol="0" anchor="ctr"/>
          <a:lstStyle/>
          <a:p>
            <a:pPr indent="0" marL="0">
              <a:lnSpc>
                <a:spcPct val="103000"/>
              </a:lnSpc>
              <a:buNone/>
            </a:pPr>
            <a:r>
              <a:rPr lang="en-US" sz="1450" b="1" dirty="0">
                <a:solidFill>
                  <a:srgbClr val="FFFFFF"/>
                </a:solidFill>
                <a:latin typeface="Calibri" pitchFamily="34" charset="0"/>
                <a:ea typeface="Calibri" pitchFamily="34" charset="-122"/>
                <a:cs typeface="Calibri" pitchFamily="34" charset="-120"/>
              </a:rPr>
              <a:t>Trap to know:  </a:t>
            </a:r>
            <a:pPr indent="0" marL="0">
              <a:lnSpc>
                <a:spcPct val="103000"/>
              </a:lnSpc>
              <a:buNone/>
            </a:pPr>
            <a:r>
              <a:rPr lang="en-US" sz="1450" dirty="0">
                <a:solidFill>
                  <a:srgbClr val="FFE3E0"/>
                </a:solidFill>
                <a:latin typeface="Calibri" pitchFamily="34" charset="0"/>
                <a:ea typeface="Calibri" pitchFamily="34" charset="-122"/>
                <a:cs typeface="Calibri" pitchFamily="34" charset="-120"/>
              </a:rPr>
              <a:t>on the Free Plan, the account can auto-close when credits are exhausted — and joining an AWS Organization can end your credits. Set a budget on day one.</a:t>
            </a:r>
            <a:endParaRPr lang="en-US" sz="1450" dirty="0"/>
          </a:p>
        </p:txBody>
      </p:sp>
      <p:sp>
        <p:nvSpPr>
          <p:cNvPr id="20" name="Text 18"/>
          <p:cNvSpPr/>
          <p:nvPr/>
        </p:nvSpPr>
        <p:spPr>
          <a:xfrm>
            <a:off x="640080" y="6473952"/>
            <a:ext cx="5943600" cy="274320"/>
          </a:xfrm>
          <a:prstGeom prst="rect">
            <a:avLst/>
          </a:prstGeom>
          <a:noFill/>
          <a:ln/>
        </p:spPr>
        <p:txBody>
          <a:bodyPr wrap="square" rtlCol="0" anchor="ctr"/>
          <a:lstStyle/>
          <a:p>
            <a:pPr indent="0" marL="0">
              <a:buNone/>
            </a:pPr>
            <a:r>
              <a:rPr lang="en-US" sz="900" dirty="0">
                <a:solidFill>
                  <a:srgbClr val="5B6570"/>
                </a:solidFill>
                <a:latin typeface="Calibri" pitchFamily="34" charset="0"/>
                <a:ea typeface="Calibri" pitchFamily="34" charset="-122"/>
                <a:cs typeface="Calibri" pitchFamily="34" charset="-120"/>
              </a:rPr>
              <a:t>AWS SAA-A  ·  Lecture 2  ·  Cloud Economics &amp; Billing</a:t>
            </a:r>
            <a:endParaRPr lang="en-US" sz="900" dirty="0"/>
          </a:p>
        </p:txBody>
      </p:sp>
      <p:sp>
        <p:nvSpPr>
          <p:cNvPr id="21" name="Text 19"/>
          <p:cNvSpPr/>
          <p:nvPr/>
        </p:nvSpPr>
        <p:spPr>
          <a:xfrm>
            <a:off x="11000232" y="6473952"/>
            <a:ext cx="548640" cy="274320"/>
          </a:xfrm>
          <a:prstGeom prst="rect">
            <a:avLst/>
          </a:prstGeom>
          <a:noFill/>
          <a:ln/>
        </p:spPr>
        <p:txBody>
          <a:bodyPr wrap="square" rtlCol="0" anchor="ctr"/>
          <a:lstStyle/>
          <a:p>
            <a:pPr algn="r" indent="0" marL="0">
              <a:buNone/>
            </a:pPr>
            <a:r>
              <a:rPr lang="en-US" sz="900" dirty="0">
                <a:solidFill>
                  <a:srgbClr val="5B657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457200"/>
            <a:ext cx="10908792" cy="274320"/>
          </a:xfrm>
          <a:prstGeom prst="rect">
            <a:avLst/>
          </a:prstGeom>
          <a:noFill/>
          <a:ln/>
        </p:spPr>
        <p:txBody>
          <a:bodyPr wrap="square" rtlCol="0" anchor="ctr"/>
          <a:lstStyle/>
          <a:p>
            <a:pPr indent="0" marL="0">
              <a:buNone/>
            </a:pPr>
            <a:r>
              <a:rPr lang="en-US" sz="1200" b="1" spc="200" kern="0" dirty="0">
                <a:solidFill>
                  <a:srgbClr val="EC7211"/>
                </a:solidFill>
                <a:latin typeface="Calibri" pitchFamily="34" charset="0"/>
                <a:ea typeface="Calibri" pitchFamily="34" charset="-122"/>
                <a:cs typeface="Calibri" pitchFamily="34" charset="-120"/>
              </a:rPr>
              <a:t>COMPARING HONESTLY</a:t>
            </a:r>
            <a:endParaRPr lang="en-US" sz="1200" dirty="0"/>
          </a:p>
        </p:txBody>
      </p:sp>
      <p:sp>
        <p:nvSpPr>
          <p:cNvPr id="3" name="Text 1"/>
          <p:cNvSpPr/>
          <p:nvPr/>
        </p:nvSpPr>
        <p:spPr>
          <a:xfrm>
            <a:off x="640080" y="731520"/>
            <a:ext cx="10908792" cy="640080"/>
          </a:xfrm>
          <a:prstGeom prst="rect">
            <a:avLst/>
          </a:prstGeom>
          <a:noFill/>
          <a:ln/>
        </p:spPr>
        <p:txBody>
          <a:bodyPr wrap="square" rtlCol="0" anchor="ctr"/>
          <a:lstStyle/>
          <a:p>
            <a:pPr indent="0" marL="0">
              <a:buNone/>
            </a:pPr>
            <a:r>
              <a:rPr lang="en-US" sz="3200" b="1" dirty="0">
                <a:solidFill>
                  <a:srgbClr val="232F3E"/>
                </a:solidFill>
                <a:latin typeface="Calibri" pitchFamily="34" charset="0"/>
                <a:ea typeface="Calibri" pitchFamily="34" charset="-122"/>
                <a:cs typeface="Calibri" pitchFamily="34" charset="-120"/>
              </a:rPr>
              <a:t>Total Cost of Ownership (TCO)</a:t>
            </a:r>
            <a:endParaRPr lang="en-US" sz="3200" dirty="0"/>
          </a:p>
        </p:txBody>
      </p:sp>
      <p:sp>
        <p:nvSpPr>
          <p:cNvPr id="4" name="Text 2"/>
          <p:cNvSpPr/>
          <p:nvPr/>
        </p:nvSpPr>
        <p:spPr>
          <a:xfrm>
            <a:off x="640080" y="1417320"/>
            <a:ext cx="10908792" cy="365760"/>
          </a:xfrm>
          <a:prstGeom prst="rect">
            <a:avLst/>
          </a:prstGeom>
          <a:noFill/>
          <a:ln/>
        </p:spPr>
        <p:txBody>
          <a:bodyPr wrap="square" rtlCol="0" anchor="ctr"/>
          <a:lstStyle/>
          <a:p>
            <a:pPr indent="0" marL="0">
              <a:buNone/>
            </a:pPr>
            <a:r>
              <a:rPr lang="en-US" sz="1500" i="1" dirty="0">
                <a:solidFill>
                  <a:srgbClr val="5B6570"/>
                </a:solidFill>
                <a:latin typeface="Calibri" pitchFamily="34" charset="0"/>
                <a:ea typeface="Calibri" pitchFamily="34" charset="-122"/>
                <a:cs typeface="Calibri" pitchFamily="34" charset="-120"/>
              </a:rPr>
              <a:t>Comparing a server's price tag to an EC2 bill is not a fair fight. TCO counts everything.</a:t>
            </a:r>
            <a:endParaRPr lang="en-US" sz="1500" dirty="0"/>
          </a:p>
        </p:txBody>
      </p:sp>
      <p:sp>
        <p:nvSpPr>
          <p:cNvPr id="5" name="Shape 3"/>
          <p:cNvSpPr/>
          <p:nvPr/>
        </p:nvSpPr>
        <p:spPr>
          <a:xfrm>
            <a:off x="640080" y="1920240"/>
            <a:ext cx="10908792" cy="1005840"/>
          </a:xfrm>
          <a:prstGeom prst="roundRect">
            <a:avLst>
              <a:gd name="adj" fmla="val 9091"/>
            </a:avLst>
          </a:prstGeom>
          <a:solidFill>
            <a:srgbClr val="232F3E"/>
          </a:solidFill>
          <a:ln/>
        </p:spPr>
      </p:sp>
      <p:sp>
        <p:nvSpPr>
          <p:cNvPr id="6" name="Text 4"/>
          <p:cNvSpPr/>
          <p:nvPr/>
        </p:nvSpPr>
        <p:spPr>
          <a:xfrm>
            <a:off x="1097280" y="2103120"/>
            <a:ext cx="9994392" cy="64008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TCO = every cost of running a system over its life — not just what you paid at purchase.</a:t>
            </a:r>
            <a:endParaRPr lang="en-US" sz="1900" dirty="0"/>
          </a:p>
        </p:txBody>
      </p:sp>
      <p:sp>
        <p:nvSpPr>
          <p:cNvPr id="7" name="Text 5"/>
          <p:cNvSpPr/>
          <p:nvPr/>
        </p:nvSpPr>
        <p:spPr>
          <a:xfrm>
            <a:off x="640080" y="3154680"/>
            <a:ext cx="5486400" cy="365760"/>
          </a:xfrm>
          <a:prstGeom prst="rect">
            <a:avLst/>
          </a:prstGeom>
          <a:noFill/>
          <a:ln/>
        </p:spPr>
        <p:txBody>
          <a:bodyPr wrap="square" rtlCol="0" anchor="ctr"/>
          <a:lstStyle/>
          <a:p>
            <a:pPr indent="0" marL="0">
              <a:buNone/>
            </a:pPr>
            <a:r>
              <a:rPr lang="en-US" sz="1800" b="1" dirty="0">
                <a:solidFill>
                  <a:srgbClr val="232F3E"/>
                </a:solidFill>
                <a:latin typeface="Calibri" pitchFamily="34" charset="0"/>
                <a:ea typeface="Calibri" pitchFamily="34" charset="-122"/>
                <a:cs typeface="Calibri" pitchFamily="34" charset="-120"/>
              </a:rPr>
              <a:t>Why executives ask for it</a:t>
            </a:r>
            <a:endParaRPr lang="en-US" sz="1800" dirty="0"/>
          </a:p>
        </p:txBody>
      </p:sp>
      <p:sp>
        <p:nvSpPr>
          <p:cNvPr id="8" name="Shape 6"/>
          <p:cNvSpPr/>
          <p:nvPr/>
        </p:nvSpPr>
        <p:spPr>
          <a:xfrm>
            <a:off x="640080" y="3611880"/>
            <a:ext cx="3483864" cy="1828800"/>
          </a:xfrm>
          <a:prstGeom prst="roundRect">
            <a:avLst>
              <a:gd name="adj" fmla="val 5000"/>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sp>
      <p:sp>
        <p:nvSpPr>
          <p:cNvPr id="9" name="Shape 7"/>
          <p:cNvSpPr/>
          <p:nvPr/>
        </p:nvSpPr>
        <p:spPr>
          <a:xfrm>
            <a:off x="640080" y="3611880"/>
            <a:ext cx="137160" cy="1828800"/>
          </a:xfrm>
          <a:prstGeom prst="roundRect">
            <a:avLst>
              <a:gd name="adj" fmla="val 13333"/>
            </a:avLst>
          </a:prstGeom>
          <a:solidFill>
            <a:srgbClr val="EC7211"/>
          </a:solidFill>
          <a:ln/>
        </p:spPr>
      </p:sp>
      <p:sp>
        <p:nvSpPr>
          <p:cNvPr id="10" name="Text 8"/>
          <p:cNvSpPr/>
          <p:nvPr/>
        </p:nvSpPr>
        <p:spPr>
          <a:xfrm>
            <a:off x="1005840" y="381304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To justify a migration</a:t>
            </a:r>
            <a:endParaRPr lang="en-US" sz="1600" dirty="0"/>
          </a:p>
        </p:txBody>
      </p:sp>
      <p:sp>
        <p:nvSpPr>
          <p:cNvPr id="11" name="Text 9"/>
          <p:cNvSpPr/>
          <p:nvPr/>
        </p:nvSpPr>
        <p:spPr>
          <a:xfrm>
            <a:off x="1005840" y="4343400"/>
            <a:ext cx="2843784" cy="91440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“Will moving to AWS actually save us money?” TCO is how you answer with evidence.</a:t>
            </a:r>
            <a:endParaRPr lang="en-US" sz="1300" dirty="0"/>
          </a:p>
        </p:txBody>
      </p:sp>
      <p:sp>
        <p:nvSpPr>
          <p:cNvPr id="12" name="Shape 10"/>
          <p:cNvSpPr/>
          <p:nvPr/>
        </p:nvSpPr>
        <p:spPr>
          <a:xfrm>
            <a:off x="4352544" y="3611880"/>
            <a:ext cx="3483864" cy="1828800"/>
          </a:xfrm>
          <a:prstGeom prst="roundRect">
            <a:avLst>
              <a:gd name="adj" fmla="val 5000"/>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sp>
      <p:sp>
        <p:nvSpPr>
          <p:cNvPr id="13" name="Shape 11"/>
          <p:cNvSpPr/>
          <p:nvPr/>
        </p:nvSpPr>
        <p:spPr>
          <a:xfrm>
            <a:off x="4352544" y="3611880"/>
            <a:ext cx="137160" cy="1828800"/>
          </a:xfrm>
          <a:prstGeom prst="roundRect">
            <a:avLst>
              <a:gd name="adj" fmla="val 13333"/>
            </a:avLst>
          </a:prstGeom>
          <a:solidFill>
            <a:srgbClr val="1E8FA5"/>
          </a:solidFill>
          <a:ln/>
        </p:spPr>
      </p:sp>
      <p:sp>
        <p:nvSpPr>
          <p:cNvPr id="14" name="Text 12"/>
          <p:cNvSpPr/>
          <p:nvPr/>
        </p:nvSpPr>
        <p:spPr>
          <a:xfrm>
            <a:off x="4718304" y="381304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To budget honestly</a:t>
            </a:r>
            <a:endParaRPr lang="en-US" sz="1600" dirty="0"/>
          </a:p>
        </p:txBody>
      </p:sp>
      <p:sp>
        <p:nvSpPr>
          <p:cNvPr id="15" name="Text 13"/>
          <p:cNvSpPr/>
          <p:nvPr/>
        </p:nvSpPr>
        <p:spPr>
          <a:xfrm>
            <a:off x="4718304" y="4343400"/>
            <a:ext cx="2843784" cy="91440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Surfaces the costs that never show up on a purchase order but hit every year.</a:t>
            </a:r>
            <a:endParaRPr lang="en-US" sz="1300" dirty="0"/>
          </a:p>
        </p:txBody>
      </p:sp>
      <p:sp>
        <p:nvSpPr>
          <p:cNvPr id="16" name="Shape 14"/>
          <p:cNvSpPr/>
          <p:nvPr/>
        </p:nvSpPr>
        <p:spPr>
          <a:xfrm>
            <a:off x="8065008" y="3611880"/>
            <a:ext cx="3483864" cy="1828800"/>
          </a:xfrm>
          <a:prstGeom prst="roundRect">
            <a:avLst>
              <a:gd name="adj" fmla="val 5000"/>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sp>
      <p:sp>
        <p:nvSpPr>
          <p:cNvPr id="17" name="Shape 15"/>
          <p:cNvSpPr/>
          <p:nvPr/>
        </p:nvSpPr>
        <p:spPr>
          <a:xfrm>
            <a:off x="8065008" y="3611880"/>
            <a:ext cx="137160" cy="1828800"/>
          </a:xfrm>
          <a:prstGeom prst="roundRect">
            <a:avLst>
              <a:gd name="adj" fmla="val 13333"/>
            </a:avLst>
          </a:prstGeom>
          <a:solidFill>
            <a:srgbClr val="1F8A38"/>
          </a:solidFill>
          <a:ln/>
        </p:spPr>
      </p:sp>
      <p:sp>
        <p:nvSpPr>
          <p:cNvPr id="18" name="Text 16"/>
          <p:cNvSpPr/>
          <p:nvPr/>
        </p:nvSpPr>
        <p:spPr>
          <a:xfrm>
            <a:off x="8430768" y="381304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To compare options</a:t>
            </a:r>
            <a:endParaRPr lang="en-US" sz="1600" dirty="0"/>
          </a:p>
        </p:txBody>
      </p:sp>
      <p:sp>
        <p:nvSpPr>
          <p:cNvPr id="19" name="Text 17"/>
          <p:cNvSpPr/>
          <p:nvPr/>
        </p:nvSpPr>
        <p:spPr>
          <a:xfrm>
            <a:off x="8430768" y="4343400"/>
            <a:ext cx="2843784" cy="91440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Lets you weigh on-prem, hybrid, and cloud on the same scale.</a:t>
            </a:r>
            <a:endParaRPr lang="en-US" sz="1300" dirty="0"/>
          </a:p>
        </p:txBody>
      </p:sp>
      <p:sp>
        <p:nvSpPr>
          <p:cNvPr id="20" name="Text 18"/>
          <p:cNvSpPr/>
          <p:nvPr/>
        </p:nvSpPr>
        <p:spPr>
          <a:xfrm>
            <a:off x="640080" y="6473952"/>
            <a:ext cx="5943600" cy="274320"/>
          </a:xfrm>
          <a:prstGeom prst="rect">
            <a:avLst/>
          </a:prstGeom>
          <a:noFill/>
          <a:ln/>
        </p:spPr>
        <p:txBody>
          <a:bodyPr wrap="square" rtlCol="0" anchor="ctr"/>
          <a:lstStyle/>
          <a:p>
            <a:pPr indent="0" marL="0">
              <a:buNone/>
            </a:pPr>
            <a:r>
              <a:rPr lang="en-US" sz="900" dirty="0">
                <a:solidFill>
                  <a:srgbClr val="5B6570"/>
                </a:solidFill>
                <a:latin typeface="Calibri" pitchFamily="34" charset="0"/>
                <a:ea typeface="Calibri" pitchFamily="34" charset="-122"/>
                <a:cs typeface="Calibri" pitchFamily="34" charset="-120"/>
              </a:rPr>
              <a:t>AWS SAA-A  ·  Lecture 2  ·  Cloud Economics &amp; Billing</a:t>
            </a:r>
            <a:endParaRPr lang="en-US" sz="900" dirty="0"/>
          </a:p>
        </p:txBody>
      </p:sp>
      <p:sp>
        <p:nvSpPr>
          <p:cNvPr id="21" name="Text 19"/>
          <p:cNvSpPr/>
          <p:nvPr/>
        </p:nvSpPr>
        <p:spPr>
          <a:xfrm>
            <a:off x="11000232" y="6473952"/>
            <a:ext cx="548640" cy="274320"/>
          </a:xfrm>
          <a:prstGeom prst="rect">
            <a:avLst/>
          </a:prstGeom>
          <a:noFill/>
          <a:ln/>
        </p:spPr>
        <p:txBody>
          <a:bodyPr wrap="square" rtlCol="0" anchor="ctr"/>
          <a:lstStyle/>
          <a:p>
            <a:pPr algn="r" indent="0" marL="0">
              <a:buNone/>
            </a:pPr>
            <a:r>
              <a:rPr lang="en-US" sz="900" dirty="0">
                <a:solidFill>
                  <a:srgbClr val="5B657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457200"/>
            <a:ext cx="10908792" cy="274320"/>
          </a:xfrm>
          <a:prstGeom prst="rect">
            <a:avLst/>
          </a:prstGeom>
          <a:noFill/>
          <a:ln/>
        </p:spPr>
        <p:txBody>
          <a:bodyPr wrap="square" rtlCol="0" anchor="ctr"/>
          <a:lstStyle/>
          <a:p>
            <a:pPr indent="0" marL="0">
              <a:buNone/>
            </a:pPr>
            <a:r>
              <a:rPr lang="en-US" sz="1200" b="1" spc="200" kern="0" dirty="0">
                <a:solidFill>
                  <a:srgbClr val="EC7211"/>
                </a:solidFill>
                <a:latin typeface="Calibri" pitchFamily="34" charset="0"/>
                <a:ea typeface="Calibri" pitchFamily="34" charset="-122"/>
                <a:cs typeface="Calibri" pitchFamily="34" charset="-120"/>
              </a:rPr>
              <a:t>WHAT PEOPLE FORGET</a:t>
            </a:r>
            <a:endParaRPr lang="en-US" sz="1200" dirty="0"/>
          </a:p>
        </p:txBody>
      </p:sp>
      <p:sp>
        <p:nvSpPr>
          <p:cNvPr id="3" name="Text 1"/>
          <p:cNvSpPr/>
          <p:nvPr/>
        </p:nvSpPr>
        <p:spPr>
          <a:xfrm>
            <a:off x="640080" y="731520"/>
            <a:ext cx="10908792" cy="640080"/>
          </a:xfrm>
          <a:prstGeom prst="rect">
            <a:avLst/>
          </a:prstGeom>
          <a:noFill/>
          <a:ln/>
        </p:spPr>
        <p:txBody>
          <a:bodyPr wrap="square" rtlCol="0" anchor="ctr"/>
          <a:lstStyle/>
          <a:p>
            <a:pPr indent="0" marL="0">
              <a:buNone/>
            </a:pPr>
            <a:r>
              <a:rPr lang="en-US" sz="3200" b="1" dirty="0">
                <a:solidFill>
                  <a:srgbClr val="232F3E"/>
                </a:solidFill>
                <a:latin typeface="Calibri" pitchFamily="34" charset="0"/>
                <a:ea typeface="Calibri" pitchFamily="34" charset="-122"/>
                <a:cs typeface="Calibri" pitchFamily="34" charset="-120"/>
              </a:rPr>
              <a:t>The Hidden Costs of Running It Yourself</a:t>
            </a:r>
            <a:endParaRPr lang="en-US" sz="3200" dirty="0"/>
          </a:p>
        </p:txBody>
      </p:sp>
      <p:sp>
        <p:nvSpPr>
          <p:cNvPr id="4" name="Text 2"/>
          <p:cNvSpPr/>
          <p:nvPr/>
        </p:nvSpPr>
        <p:spPr>
          <a:xfrm>
            <a:off x="640080" y="1417320"/>
            <a:ext cx="10908792" cy="365760"/>
          </a:xfrm>
          <a:prstGeom prst="rect">
            <a:avLst/>
          </a:prstGeom>
          <a:noFill/>
          <a:ln/>
        </p:spPr>
        <p:txBody>
          <a:bodyPr wrap="square" rtlCol="0" anchor="ctr"/>
          <a:lstStyle/>
          <a:p>
            <a:pPr indent="0" marL="0">
              <a:buNone/>
            </a:pPr>
            <a:r>
              <a:rPr lang="en-US" sz="1500" i="1" dirty="0">
                <a:solidFill>
                  <a:srgbClr val="5B6570"/>
                </a:solidFill>
                <a:latin typeface="Calibri" pitchFamily="34" charset="0"/>
                <a:ea typeface="Calibri" pitchFamily="34" charset="-122"/>
                <a:cs typeface="Calibri" pitchFamily="34" charset="-120"/>
              </a:rPr>
              <a:t>The server's price is the visible tip. Everything below the waterline is what TCO exposes.</a:t>
            </a:r>
            <a:endParaRPr lang="en-US" sz="1500" dirty="0"/>
          </a:p>
        </p:txBody>
      </p:sp>
      <p:sp>
        <p:nvSpPr>
          <p:cNvPr id="5" name="Shape 3"/>
          <p:cNvSpPr/>
          <p:nvPr/>
        </p:nvSpPr>
        <p:spPr>
          <a:xfrm>
            <a:off x="640080" y="1920240"/>
            <a:ext cx="10908792" cy="777240"/>
          </a:xfrm>
          <a:prstGeom prst="roundRect">
            <a:avLst>
              <a:gd name="adj" fmla="val 11765"/>
            </a:avLst>
          </a:prstGeom>
          <a:solidFill>
            <a:srgbClr val="1E8FA5"/>
          </a:solidFill>
          <a:ln/>
        </p:spPr>
      </p:sp>
      <p:sp>
        <p:nvSpPr>
          <p:cNvPr id="6" name="Text 4"/>
          <p:cNvSpPr/>
          <p:nvPr/>
        </p:nvSpPr>
        <p:spPr>
          <a:xfrm>
            <a:off x="640080" y="1920240"/>
            <a:ext cx="10908792" cy="777240"/>
          </a:xfrm>
          <a:prstGeom prst="rect">
            <a:avLst/>
          </a:prstGeom>
          <a:noFill/>
          <a:ln/>
        </p:spPr>
        <p:txBody>
          <a:bodyPr wrap="square"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VISIBLE:   the hardware purchase price</a:t>
            </a:r>
            <a:endParaRPr lang="en-US" sz="1900" dirty="0"/>
          </a:p>
        </p:txBody>
      </p:sp>
      <p:sp>
        <p:nvSpPr>
          <p:cNvPr id="7" name="Shape 5"/>
          <p:cNvSpPr/>
          <p:nvPr/>
        </p:nvSpPr>
        <p:spPr>
          <a:xfrm>
            <a:off x="640080" y="2971800"/>
            <a:ext cx="2590038" cy="1207008"/>
          </a:xfrm>
          <a:prstGeom prst="roundRect">
            <a:avLst>
              <a:gd name="adj" fmla="val 7576"/>
            </a:avLst>
          </a:prstGeom>
          <a:solidFill>
            <a:srgbClr val="FFFFFF"/>
          </a:solidFill>
          <a:ln w="12700">
            <a:solidFill>
              <a:srgbClr val="DCE1E6"/>
            </a:solidFill>
            <a:prstDash val="solid"/>
          </a:ln>
        </p:spPr>
      </p:sp>
      <p:sp>
        <p:nvSpPr>
          <p:cNvPr id="8" name="Shape 6"/>
          <p:cNvSpPr/>
          <p:nvPr/>
        </p:nvSpPr>
        <p:spPr>
          <a:xfrm>
            <a:off x="640080" y="2971800"/>
            <a:ext cx="2590038" cy="128016"/>
          </a:xfrm>
          <a:prstGeom prst="roundRect">
            <a:avLst>
              <a:gd name="adj" fmla="val 14286"/>
            </a:avLst>
          </a:prstGeom>
          <a:solidFill>
            <a:srgbClr val="C0392B"/>
          </a:solidFill>
          <a:ln/>
        </p:spPr>
      </p:sp>
      <p:sp>
        <p:nvSpPr>
          <p:cNvPr id="9" name="Text 7"/>
          <p:cNvSpPr/>
          <p:nvPr/>
        </p:nvSpPr>
        <p:spPr>
          <a:xfrm>
            <a:off x="868680" y="3227832"/>
            <a:ext cx="2132838" cy="365760"/>
          </a:xfrm>
          <a:prstGeom prst="rect">
            <a:avLst/>
          </a:prstGeom>
          <a:noFill/>
          <a:ln/>
        </p:spPr>
        <p:txBody>
          <a:bodyPr wrap="square" rtlCol="0" anchor="ctr"/>
          <a:lstStyle/>
          <a:p>
            <a:pPr indent="0" marL="0">
              <a:buNone/>
            </a:pPr>
            <a:r>
              <a:rPr lang="en-US" sz="1500" b="1" dirty="0">
                <a:solidFill>
                  <a:srgbClr val="232F3E"/>
                </a:solidFill>
                <a:latin typeface="Calibri" pitchFamily="34" charset="0"/>
                <a:ea typeface="Calibri" pitchFamily="34" charset="-122"/>
                <a:cs typeface="Calibri" pitchFamily="34" charset="-120"/>
              </a:rPr>
              <a:t>Facilities</a:t>
            </a:r>
            <a:endParaRPr lang="en-US" sz="1500" dirty="0"/>
          </a:p>
        </p:txBody>
      </p:sp>
      <p:sp>
        <p:nvSpPr>
          <p:cNvPr id="10" name="Text 8"/>
          <p:cNvSpPr/>
          <p:nvPr/>
        </p:nvSpPr>
        <p:spPr>
          <a:xfrm>
            <a:off x="868680" y="3593592"/>
            <a:ext cx="2132838" cy="502920"/>
          </a:xfrm>
          <a:prstGeom prst="rect">
            <a:avLst/>
          </a:prstGeom>
          <a:noFill/>
          <a:ln/>
        </p:spPr>
        <p:txBody>
          <a:bodyPr wrap="square" rtlCol="0" anchor="ctr"/>
          <a:lstStyle/>
          <a:p>
            <a:pPr indent="0" marL="0">
              <a:lnSpc>
                <a:spcPct val="100000"/>
              </a:lnSpc>
              <a:buNone/>
            </a:pPr>
            <a:r>
              <a:rPr lang="en-US" sz="1200" dirty="0">
                <a:solidFill>
                  <a:srgbClr val="5B6570"/>
                </a:solidFill>
                <a:latin typeface="Calibri" pitchFamily="34" charset="0"/>
                <a:ea typeface="Calibri" pitchFamily="34" charset="-122"/>
                <a:cs typeface="Calibri" pitchFamily="34" charset="-120"/>
              </a:rPr>
              <a:t>rent, build-out, floor space</a:t>
            </a:r>
            <a:endParaRPr lang="en-US" sz="1200" dirty="0"/>
          </a:p>
        </p:txBody>
      </p:sp>
      <p:sp>
        <p:nvSpPr>
          <p:cNvPr id="11" name="Shape 9"/>
          <p:cNvSpPr/>
          <p:nvPr/>
        </p:nvSpPr>
        <p:spPr>
          <a:xfrm>
            <a:off x="3412998" y="2971800"/>
            <a:ext cx="2590038" cy="1207008"/>
          </a:xfrm>
          <a:prstGeom prst="roundRect">
            <a:avLst>
              <a:gd name="adj" fmla="val 7576"/>
            </a:avLst>
          </a:prstGeom>
          <a:solidFill>
            <a:srgbClr val="FFFFFF"/>
          </a:solidFill>
          <a:ln w="12700">
            <a:solidFill>
              <a:srgbClr val="DCE1E6"/>
            </a:solidFill>
            <a:prstDash val="solid"/>
          </a:ln>
        </p:spPr>
      </p:sp>
      <p:sp>
        <p:nvSpPr>
          <p:cNvPr id="12" name="Shape 10"/>
          <p:cNvSpPr/>
          <p:nvPr/>
        </p:nvSpPr>
        <p:spPr>
          <a:xfrm>
            <a:off x="3412998" y="2971800"/>
            <a:ext cx="2590038" cy="128016"/>
          </a:xfrm>
          <a:prstGeom prst="roundRect">
            <a:avLst>
              <a:gd name="adj" fmla="val 14286"/>
            </a:avLst>
          </a:prstGeom>
          <a:solidFill>
            <a:srgbClr val="C0392B"/>
          </a:solidFill>
          <a:ln/>
        </p:spPr>
      </p:sp>
      <p:sp>
        <p:nvSpPr>
          <p:cNvPr id="13" name="Text 11"/>
          <p:cNvSpPr/>
          <p:nvPr/>
        </p:nvSpPr>
        <p:spPr>
          <a:xfrm>
            <a:off x="3641598" y="3227832"/>
            <a:ext cx="2132838" cy="365760"/>
          </a:xfrm>
          <a:prstGeom prst="rect">
            <a:avLst/>
          </a:prstGeom>
          <a:noFill/>
          <a:ln/>
        </p:spPr>
        <p:txBody>
          <a:bodyPr wrap="square" rtlCol="0" anchor="ctr"/>
          <a:lstStyle/>
          <a:p>
            <a:pPr indent="0" marL="0">
              <a:buNone/>
            </a:pPr>
            <a:r>
              <a:rPr lang="en-US" sz="1500" b="1" dirty="0">
                <a:solidFill>
                  <a:srgbClr val="232F3E"/>
                </a:solidFill>
                <a:latin typeface="Calibri" pitchFamily="34" charset="0"/>
                <a:ea typeface="Calibri" pitchFamily="34" charset="-122"/>
                <a:cs typeface="Calibri" pitchFamily="34" charset="-120"/>
              </a:rPr>
              <a:t>Power &amp; cooling</a:t>
            </a:r>
            <a:endParaRPr lang="en-US" sz="1500" dirty="0"/>
          </a:p>
        </p:txBody>
      </p:sp>
      <p:sp>
        <p:nvSpPr>
          <p:cNvPr id="14" name="Text 12"/>
          <p:cNvSpPr/>
          <p:nvPr/>
        </p:nvSpPr>
        <p:spPr>
          <a:xfrm>
            <a:off x="3641598" y="3593592"/>
            <a:ext cx="2132838" cy="502920"/>
          </a:xfrm>
          <a:prstGeom prst="rect">
            <a:avLst/>
          </a:prstGeom>
          <a:noFill/>
          <a:ln/>
        </p:spPr>
        <p:txBody>
          <a:bodyPr wrap="square" rtlCol="0" anchor="ctr"/>
          <a:lstStyle/>
          <a:p>
            <a:pPr indent="0" marL="0">
              <a:lnSpc>
                <a:spcPct val="100000"/>
              </a:lnSpc>
              <a:buNone/>
            </a:pPr>
            <a:r>
              <a:rPr lang="en-US" sz="1200" dirty="0">
                <a:solidFill>
                  <a:srgbClr val="5B6570"/>
                </a:solidFill>
                <a:latin typeface="Calibri" pitchFamily="34" charset="0"/>
                <a:ea typeface="Calibri" pitchFamily="34" charset="-122"/>
                <a:cs typeface="Calibri" pitchFamily="34" charset="-120"/>
              </a:rPr>
              <a:t>24/7, and it never stops</a:t>
            </a:r>
            <a:endParaRPr lang="en-US" sz="1200" dirty="0"/>
          </a:p>
        </p:txBody>
      </p:sp>
      <p:sp>
        <p:nvSpPr>
          <p:cNvPr id="15" name="Shape 13"/>
          <p:cNvSpPr/>
          <p:nvPr/>
        </p:nvSpPr>
        <p:spPr>
          <a:xfrm>
            <a:off x="6185916" y="2971800"/>
            <a:ext cx="2590038" cy="1207008"/>
          </a:xfrm>
          <a:prstGeom prst="roundRect">
            <a:avLst>
              <a:gd name="adj" fmla="val 7576"/>
            </a:avLst>
          </a:prstGeom>
          <a:solidFill>
            <a:srgbClr val="FFFFFF"/>
          </a:solidFill>
          <a:ln w="12700">
            <a:solidFill>
              <a:srgbClr val="DCE1E6"/>
            </a:solidFill>
            <a:prstDash val="solid"/>
          </a:ln>
        </p:spPr>
      </p:sp>
      <p:sp>
        <p:nvSpPr>
          <p:cNvPr id="16" name="Shape 14"/>
          <p:cNvSpPr/>
          <p:nvPr/>
        </p:nvSpPr>
        <p:spPr>
          <a:xfrm>
            <a:off x="6185916" y="2971800"/>
            <a:ext cx="2590038" cy="128016"/>
          </a:xfrm>
          <a:prstGeom prst="roundRect">
            <a:avLst>
              <a:gd name="adj" fmla="val 14286"/>
            </a:avLst>
          </a:prstGeom>
          <a:solidFill>
            <a:srgbClr val="C0392B"/>
          </a:solidFill>
          <a:ln/>
        </p:spPr>
      </p:sp>
      <p:sp>
        <p:nvSpPr>
          <p:cNvPr id="17" name="Text 15"/>
          <p:cNvSpPr/>
          <p:nvPr/>
        </p:nvSpPr>
        <p:spPr>
          <a:xfrm>
            <a:off x="6414516" y="3227832"/>
            <a:ext cx="2132838" cy="365760"/>
          </a:xfrm>
          <a:prstGeom prst="rect">
            <a:avLst/>
          </a:prstGeom>
          <a:noFill/>
          <a:ln/>
        </p:spPr>
        <p:txBody>
          <a:bodyPr wrap="square" rtlCol="0" anchor="ctr"/>
          <a:lstStyle/>
          <a:p>
            <a:pPr indent="0" marL="0">
              <a:buNone/>
            </a:pPr>
            <a:r>
              <a:rPr lang="en-US" sz="1500" b="1" dirty="0">
                <a:solidFill>
                  <a:srgbClr val="232F3E"/>
                </a:solidFill>
                <a:latin typeface="Calibri" pitchFamily="34" charset="0"/>
                <a:ea typeface="Calibri" pitchFamily="34" charset="-122"/>
                <a:cs typeface="Calibri" pitchFamily="34" charset="-120"/>
              </a:rPr>
              <a:t>Network gear</a:t>
            </a:r>
            <a:endParaRPr lang="en-US" sz="1500" dirty="0"/>
          </a:p>
        </p:txBody>
      </p:sp>
      <p:sp>
        <p:nvSpPr>
          <p:cNvPr id="18" name="Text 16"/>
          <p:cNvSpPr/>
          <p:nvPr/>
        </p:nvSpPr>
        <p:spPr>
          <a:xfrm>
            <a:off x="6414516" y="3593592"/>
            <a:ext cx="2132838" cy="502920"/>
          </a:xfrm>
          <a:prstGeom prst="rect">
            <a:avLst/>
          </a:prstGeom>
          <a:noFill/>
          <a:ln/>
        </p:spPr>
        <p:txBody>
          <a:bodyPr wrap="square" rtlCol="0" anchor="ctr"/>
          <a:lstStyle/>
          <a:p>
            <a:pPr indent="0" marL="0">
              <a:lnSpc>
                <a:spcPct val="100000"/>
              </a:lnSpc>
              <a:buNone/>
            </a:pPr>
            <a:r>
              <a:rPr lang="en-US" sz="1200" dirty="0">
                <a:solidFill>
                  <a:srgbClr val="5B6570"/>
                </a:solidFill>
                <a:latin typeface="Calibri" pitchFamily="34" charset="0"/>
                <a:ea typeface="Calibri" pitchFamily="34" charset="-122"/>
                <a:cs typeface="Calibri" pitchFamily="34" charset="-120"/>
              </a:rPr>
              <a:t>switches, routers, cabling, bandwidth</a:t>
            </a:r>
            <a:endParaRPr lang="en-US" sz="1200" dirty="0"/>
          </a:p>
        </p:txBody>
      </p:sp>
      <p:sp>
        <p:nvSpPr>
          <p:cNvPr id="19" name="Shape 17"/>
          <p:cNvSpPr/>
          <p:nvPr/>
        </p:nvSpPr>
        <p:spPr>
          <a:xfrm>
            <a:off x="8958834" y="2971800"/>
            <a:ext cx="2590038" cy="1207008"/>
          </a:xfrm>
          <a:prstGeom prst="roundRect">
            <a:avLst>
              <a:gd name="adj" fmla="val 7576"/>
            </a:avLst>
          </a:prstGeom>
          <a:solidFill>
            <a:srgbClr val="FFFFFF"/>
          </a:solidFill>
          <a:ln w="12700">
            <a:solidFill>
              <a:srgbClr val="DCE1E6"/>
            </a:solidFill>
            <a:prstDash val="solid"/>
          </a:ln>
        </p:spPr>
      </p:sp>
      <p:sp>
        <p:nvSpPr>
          <p:cNvPr id="20" name="Shape 18"/>
          <p:cNvSpPr/>
          <p:nvPr/>
        </p:nvSpPr>
        <p:spPr>
          <a:xfrm>
            <a:off x="8958834" y="2971800"/>
            <a:ext cx="2590038" cy="128016"/>
          </a:xfrm>
          <a:prstGeom prst="roundRect">
            <a:avLst>
              <a:gd name="adj" fmla="val 14286"/>
            </a:avLst>
          </a:prstGeom>
          <a:solidFill>
            <a:srgbClr val="C0392B"/>
          </a:solidFill>
          <a:ln/>
        </p:spPr>
      </p:sp>
      <p:sp>
        <p:nvSpPr>
          <p:cNvPr id="21" name="Text 19"/>
          <p:cNvSpPr/>
          <p:nvPr/>
        </p:nvSpPr>
        <p:spPr>
          <a:xfrm>
            <a:off x="9187434" y="3227832"/>
            <a:ext cx="2132838" cy="365760"/>
          </a:xfrm>
          <a:prstGeom prst="rect">
            <a:avLst/>
          </a:prstGeom>
          <a:noFill/>
          <a:ln/>
        </p:spPr>
        <p:txBody>
          <a:bodyPr wrap="square" rtlCol="0" anchor="ctr"/>
          <a:lstStyle/>
          <a:p>
            <a:pPr indent="0" marL="0">
              <a:buNone/>
            </a:pPr>
            <a:r>
              <a:rPr lang="en-US" sz="1500" b="1" dirty="0">
                <a:solidFill>
                  <a:srgbClr val="232F3E"/>
                </a:solidFill>
                <a:latin typeface="Calibri" pitchFamily="34" charset="0"/>
                <a:ea typeface="Calibri" pitchFamily="34" charset="-122"/>
                <a:cs typeface="Calibri" pitchFamily="34" charset="-120"/>
              </a:rPr>
              <a:t>IT labor</a:t>
            </a:r>
            <a:endParaRPr lang="en-US" sz="1500" dirty="0"/>
          </a:p>
        </p:txBody>
      </p:sp>
      <p:sp>
        <p:nvSpPr>
          <p:cNvPr id="22" name="Text 20"/>
          <p:cNvSpPr/>
          <p:nvPr/>
        </p:nvSpPr>
        <p:spPr>
          <a:xfrm>
            <a:off x="9187434" y="3593592"/>
            <a:ext cx="2132838" cy="502920"/>
          </a:xfrm>
          <a:prstGeom prst="rect">
            <a:avLst/>
          </a:prstGeom>
          <a:noFill/>
          <a:ln/>
        </p:spPr>
        <p:txBody>
          <a:bodyPr wrap="square" rtlCol="0" anchor="ctr"/>
          <a:lstStyle/>
          <a:p>
            <a:pPr indent="0" marL="0">
              <a:lnSpc>
                <a:spcPct val="100000"/>
              </a:lnSpc>
              <a:buNone/>
            </a:pPr>
            <a:r>
              <a:rPr lang="en-US" sz="1200" dirty="0">
                <a:solidFill>
                  <a:srgbClr val="5B6570"/>
                </a:solidFill>
                <a:latin typeface="Calibri" pitchFamily="34" charset="0"/>
                <a:ea typeface="Calibri" pitchFamily="34" charset="-122"/>
                <a:cs typeface="Calibri" pitchFamily="34" charset="-120"/>
              </a:rPr>
              <a:t>racking, patching, monitoring, on-call</a:t>
            </a:r>
            <a:endParaRPr lang="en-US" sz="1200" dirty="0"/>
          </a:p>
        </p:txBody>
      </p:sp>
      <p:sp>
        <p:nvSpPr>
          <p:cNvPr id="23" name="Shape 21"/>
          <p:cNvSpPr/>
          <p:nvPr/>
        </p:nvSpPr>
        <p:spPr>
          <a:xfrm>
            <a:off x="640080" y="4343400"/>
            <a:ext cx="2590038" cy="1207008"/>
          </a:xfrm>
          <a:prstGeom prst="roundRect">
            <a:avLst>
              <a:gd name="adj" fmla="val 7576"/>
            </a:avLst>
          </a:prstGeom>
          <a:solidFill>
            <a:srgbClr val="FFFFFF"/>
          </a:solidFill>
          <a:ln w="12700">
            <a:solidFill>
              <a:srgbClr val="DCE1E6"/>
            </a:solidFill>
            <a:prstDash val="solid"/>
          </a:ln>
        </p:spPr>
      </p:sp>
      <p:sp>
        <p:nvSpPr>
          <p:cNvPr id="24" name="Shape 22"/>
          <p:cNvSpPr/>
          <p:nvPr/>
        </p:nvSpPr>
        <p:spPr>
          <a:xfrm>
            <a:off x="640080" y="4343400"/>
            <a:ext cx="2590038" cy="128016"/>
          </a:xfrm>
          <a:prstGeom prst="roundRect">
            <a:avLst>
              <a:gd name="adj" fmla="val 14286"/>
            </a:avLst>
          </a:prstGeom>
          <a:solidFill>
            <a:srgbClr val="C0392B"/>
          </a:solidFill>
          <a:ln/>
        </p:spPr>
      </p:sp>
      <p:sp>
        <p:nvSpPr>
          <p:cNvPr id="25" name="Text 23"/>
          <p:cNvSpPr/>
          <p:nvPr/>
        </p:nvSpPr>
        <p:spPr>
          <a:xfrm>
            <a:off x="868680" y="4599432"/>
            <a:ext cx="2132838" cy="365760"/>
          </a:xfrm>
          <a:prstGeom prst="rect">
            <a:avLst/>
          </a:prstGeom>
          <a:noFill/>
          <a:ln/>
        </p:spPr>
        <p:txBody>
          <a:bodyPr wrap="square" rtlCol="0" anchor="ctr"/>
          <a:lstStyle/>
          <a:p>
            <a:pPr indent="0" marL="0">
              <a:buNone/>
            </a:pPr>
            <a:r>
              <a:rPr lang="en-US" sz="1500" b="1" dirty="0">
                <a:solidFill>
                  <a:srgbClr val="232F3E"/>
                </a:solidFill>
                <a:latin typeface="Calibri" pitchFamily="34" charset="0"/>
                <a:ea typeface="Calibri" pitchFamily="34" charset="-122"/>
                <a:cs typeface="Calibri" pitchFamily="34" charset="-120"/>
              </a:rPr>
              <a:t>Backup &amp; DR</a:t>
            </a:r>
            <a:endParaRPr lang="en-US" sz="1500" dirty="0"/>
          </a:p>
        </p:txBody>
      </p:sp>
      <p:sp>
        <p:nvSpPr>
          <p:cNvPr id="26" name="Text 24"/>
          <p:cNvSpPr/>
          <p:nvPr/>
        </p:nvSpPr>
        <p:spPr>
          <a:xfrm>
            <a:off x="868680" y="4965192"/>
            <a:ext cx="2132838" cy="502920"/>
          </a:xfrm>
          <a:prstGeom prst="rect">
            <a:avLst/>
          </a:prstGeom>
          <a:noFill/>
          <a:ln/>
        </p:spPr>
        <p:txBody>
          <a:bodyPr wrap="square" rtlCol="0" anchor="ctr"/>
          <a:lstStyle/>
          <a:p>
            <a:pPr indent="0" marL="0">
              <a:lnSpc>
                <a:spcPct val="100000"/>
              </a:lnSpc>
              <a:buNone/>
            </a:pPr>
            <a:r>
              <a:rPr lang="en-US" sz="1200" dirty="0">
                <a:solidFill>
                  <a:srgbClr val="5B6570"/>
                </a:solidFill>
                <a:latin typeface="Calibri" pitchFamily="34" charset="0"/>
                <a:ea typeface="Calibri" pitchFamily="34" charset="-122"/>
                <a:cs typeface="Calibri" pitchFamily="34" charset="-120"/>
              </a:rPr>
              <a:t>a second site you hope you never use</a:t>
            </a:r>
            <a:endParaRPr lang="en-US" sz="1200" dirty="0"/>
          </a:p>
        </p:txBody>
      </p:sp>
      <p:sp>
        <p:nvSpPr>
          <p:cNvPr id="27" name="Shape 25"/>
          <p:cNvSpPr/>
          <p:nvPr/>
        </p:nvSpPr>
        <p:spPr>
          <a:xfrm>
            <a:off x="3412998" y="4343400"/>
            <a:ext cx="2590038" cy="1207008"/>
          </a:xfrm>
          <a:prstGeom prst="roundRect">
            <a:avLst>
              <a:gd name="adj" fmla="val 7576"/>
            </a:avLst>
          </a:prstGeom>
          <a:solidFill>
            <a:srgbClr val="FFFFFF"/>
          </a:solidFill>
          <a:ln w="12700">
            <a:solidFill>
              <a:srgbClr val="DCE1E6"/>
            </a:solidFill>
            <a:prstDash val="solid"/>
          </a:ln>
        </p:spPr>
      </p:sp>
      <p:sp>
        <p:nvSpPr>
          <p:cNvPr id="28" name="Shape 26"/>
          <p:cNvSpPr/>
          <p:nvPr/>
        </p:nvSpPr>
        <p:spPr>
          <a:xfrm>
            <a:off x="3412998" y="4343400"/>
            <a:ext cx="2590038" cy="128016"/>
          </a:xfrm>
          <a:prstGeom prst="roundRect">
            <a:avLst>
              <a:gd name="adj" fmla="val 14286"/>
            </a:avLst>
          </a:prstGeom>
          <a:solidFill>
            <a:srgbClr val="C0392B"/>
          </a:solidFill>
          <a:ln/>
        </p:spPr>
      </p:sp>
      <p:sp>
        <p:nvSpPr>
          <p:cNvPr id="29" name="Text 27"/>
          <p:cNvSpPr/>
          <p:nvPr/>
        </p:nvSpPr>
        <p:spPr>
          <a:xfrm>
            <a:off x="3641598" y="4599432"/>
            <a:ext cx="2132838" cy="365760"/>
          </a:xfrm>
          <a:prstGeom prst="rect">
            <a:avLst/>
          </a:prstGeom>
          <a:noFill/>
          <a:ln/>
        </p:spPr>
        <p:txBody>
          <a:bodyPr wrap="square" rtlCol="0" anchor="ctr"/>
          <a:lstStyle/>
          <a:p>
            <a:pPr indent="0" marL="0">
              <a:buNone/>
            </a:pPr>
            <a:r>
              <a:rPr lang="en-US" sz="1500" b="1" dirty="0">
                <a:solidFill>
                  <a:srgbClr val="232F3E"/>
                </a:solidFill>
                <a:latin typeface="Calibri" pitchFamily="34" charset="0"/>
                <a:ea typeface="Calibri" pitchFamily="34" charset="-122"/>
                <a:cs typeface="Calibri" pitchFamily="34" charset="-120"/>
              </a:rPr>
              <a:t>Refresh cycles</a:t>
            </a:r>
            <a:endParaRPr lang="en-US" sz="1500" dirty="0"/>
          </a:p>
        </p:txBody>
      </p:sp>
      <p:sp>
        <p:nvSpPr>
          <p:cNvPr id="30" name="Text 28"/>
          <p:cNvSpPr/>
          <p:nvPr/>
        </p:nvSpPr>
        <p:spPr>
          <a:xfrm>
            <a:off x="3641598" y="4965192"/>
            <a:ext cx="2132838" cy="502920"/>
          </a:xfrm>
          <a:prstGeom prst="rect">
            <a:avLst/>
          </a:prstGeom>
          <a:noFill/>
          <a:ln/>
        </p:spPr>
        <p:txBody>
          <a:bodyPr wrap="square" rtlCol="0" anchor="ctr"/>
          <a:lstStyle/>
          <a:p>
            <a:pPr indent="0" marL="0">
              <a:lnSpc>
                <a:spcPct val="100000"/>
              </a:lnSpc>
              <a:buNone/>
            </a:pPr>
            <a:r>
              <a:rPr lang="en-US" sz="1200" dirty="0">
                <a:solidFill>
                  <a:srgbClr val="5B6570"/>
                </a:solidFill>
                <a:latin typeface="Calibri" pitchFamily="34" charset="0"/>
                <a:ea typeface="Calibri" pitchFamily="34" charset="-122"/>
                <a:cs typeface="Calibri" pitchFamily="34" charset="-120"/>
              </a:rPr>
              <a:t>replacing it all every 3–5 years</a:t>
            </a:r>
            <a:endParaRPr lang="en-US" sz="1200" dirty="0"/>
          </a:p>
        </p:txBody>
      </p:sp>
      <p:sp>
        <p:nvSpPr>
          <p:cNvPr id="31" name="Shape 29"/>
          <p:cNvSpPr/>
          <p:nvPr/>
        </p:nvSpPr>
        <p:spPr>
          <a:xfrm>
            <a:off x="6185916" y="4343400"/>
            <a:ext cx="2590038" cy="1207008"/>
          </a:xfrm>
          <a:prstGeom prst="roundRect">
            <a:avLst>
              <a:gd name="adj" fmla="val 7576"/>
            </a:avLst>
          </a:prstGeom>
          <a:solidFill>
            <a:srgbClr val="FFFFFF"/>
          </a:solidFill>
          <a:ln w="12700">
            <a:solidFill>
              <a:srgbClr val="DCE1E6"/>
            </a:solidFill>
            <a:prstDash val="solid"/>
          </a:ln>
        </p:spPr>
      </p:sp>
      <p:sp>
        <p:nvSpPr>
          <p:cNvPr id="32" name="Shape 30"/>
          <p:cNvSpPr/>
          <p:nvPr/>
        </p:nvSpPr>
        <p:spPr>
          <a:xfrm>
            <a:off x="6185916" y="4343400"/>
            <a:ext cx="2590038" cy="128016"/>
          </a:xfrm>
          <a:prstGeom prst="roundRect">
            <a:avLst>
              <a:gd name="adj" fmla="val 14286"/>
            </a:avLst>
          </a:prstGeom>
          <a:solidFill>
            <a:srgbClr val="C0392B"/>
          </a:solidFill>
          <a:ln/>
        </p:spPr>
      </p:sp>
      <p:sp>
        <p:nvSpPr>
          <p:cNvPr id="33" name="Text 31"/>
          <p:cNvSpPr/>
          <p:nvPr/>
        </p:nvSpPr>
        <p:spPr>
          <a:xfrm>
            <a:off x="6414516" y="4599432"/>
            <a:ext cx="2132838" cy="365760"/>
          </a:xfrm>
          <a:prstGeom prst="rect">
            <a:avLst/>
          </a:prstGeom>
          <a:noFill/>
          <a:ln/>
        </p:spPr>
        <p:txBody>
          <a:bodyPr wrap="square" rtlCol="0" anchor="ctr"/>
          <a:lstStyle/>
          <a:p>
            <a:pPr indent="0" marL="0">
              <a:buNone/>
            </a:pPr>
            <a:r>
              <a:rPr lang="en-US" sz="1500" b="1" dirty="0">
                <a:solidFill>
                  <a:srgbClr val="232F3E"/>
                </a:solidFill>
                <a:latin typeface="Calibri" pitchFamily="34" charset="0"/>
                <a:ea typeface="Calibri" pitchFamily="34" charset="-122"/>
                <a:cs typeface="Calibri" pitchFamily="34" charset="-120"/>
              </a:rPr>
              <a:t>Idle capacity</a:t>
            </a:r>
            <a:endParaRPr lang="en-US" sz="1500" dirty="0"/>
          </a:p>
        </p:txBody>
      </p:sp>
      <p:sp>
        <p:nvSpPr>
          <p:cNvPr id="34" name="Text 32"/>
          <p:cNvSpPr/>
          <p:nvPr/>
        </p:nvSpPr>
        <p:spPr>
          <a:xfrm>
            <a:off x="6414516" y="4965192"/>
            <a:ext cx="2132838" cy="502920"/>
          </a:xfrm>
          <a:prstGeom prst="rect">
            <a:avLst/>
          </a:prstGeom>
          <a:noFill/>
          <a:ln/>
        </p:spPr>
        <p:txBody>
          <a:bodyPr wrap="square" rtlCol="0" anchor="ctr"/>
          <a:lstStyle/>
          <a:p>
            <a:pPr indent="0" marL="0">
              <a:lnSpc>
                <a:spcPct val="100000"/>
              </a:lnSpc>
              <a:buNone/>
            </a:pPr>
            <a:r>
              <a:rPr lang="en-US" sz="1200" dirty="0">
                <a:solidFill>
                  <a:srgbClr val="5B6570"/>
                </a:solidFill>
                <a:latin typeface="Calibri" pitchFamily="34" charset="0"/>
                <a:ea typeface="Calibri" pitchFamily="34" charset="-122"/>
                <a:cs typeface="Calibri" pitchFamily="34" charset="-120"/>
              </a:rPr>
              <a:t>the servers you bought “just in case”</a:t>
            </a:r>
            <a:endParaRPr lang="en-US" sz="1200" dirty="0"/>
          </a:p>
        </p:txBody>
      </p:sp>
      <p:sp>
        <p:nvSpPr>
          <p:cNvPr id="35" name="Shape 33"/>
          <p:cNvSpPr/>
          <p:nvPr/>
        </p:nvSpPr>
        <p:spPr>
          <a:xfrm>
            <a:off x="8958834" y="4343400"/>
            <a:ext cx="2590038" cy="1207008"/>
          </a:xfrm>
          <a:prstGeom prst="roundRect">
            <a:avLst>
              <a:gd name="adj" fmla="val 7576"/>
            </a:avLst>
          </a:prstGeom>
          <a:solidFill>
            <a:srgbClr val="FFFFFF"/>
          </a:solidFill>
          <a:ln w="12700">
            <a:solidFill>
              <a:srgbClr val="DCE1E6"/>
            </a:solidFill>
            <a:prstDash val="solid"/>
          </a:ln>
        </p:spPr>
      </p:sp>
      <p:sp>
        <p:nvSpPr>
          <p:cNvPr id="36" name="Shape 34"/>
          <p:cNvSpPr/>
          <p:nvPr/>
        </p:nvSpPr>
        <p:spPr>
          <a:xfrm>
            <a:off x="8958834" y="4343400"/>
            <a:ext cx="2590038" cy="128016"/>
          </a:xfrm>
          <a:prstGeom prst="roundRect">
            <a:avLst>
              <a:gd name="adj" fmla="val 14286"/>
            </a:avLst>
          </a:prstGeom>
          <a:solidFill>
            <a:srgbClr val="C0392B"/>
          </a:solidFill>
          <a:ln/>
        </p:spPr>
      </p:sp>
      <p:sp>
        <p:nvSpPr>
          <p:cNvPr id="37" name="Text 35"/>
          <p:cNvSpPr/>
          <p:nvPr/>
        </p:nvSpPr>
        <p:spPr>
          <a:xfrm>
            <a:off x="9187434" y="4599432"/>
            <a:ext cx="2132838" cy="365760"/>
          </a:xfrm>
          <a:prstGeom prst="rect">
            <a:avLst/>
          </a:prstGeom>
          <a:noFill/>
          <a:ln/>
        </p:spPr>
        <p:txBody>
          <a:bodyPr wrap="square" rtlCol="0" anchor="ctr"/>
          <a:lstStyle/>
          <a:p>
            <a:pPr indent="0" marL="0">
              <a:buNone/>
            </a:pPr>
            <a:r>
              <a:rPr lang="en-US" sz="1500" b="1" dirty="0">
                <a:solidFill>
                  <a:srgbClr val="232F3E"/>
                </a:solidFill>
                <a:latin typeface="Calibri" pitchFamily="34" charset="0"/>
                <a:ea typeface="Calibri" pitchFamily="34" charset="-122"/>
                <a:cs typeface="Calibri" pitchFamily="34" charset="-120"/>
              </a:rPr>
              <a:t>Downtime</a:t>
            </a:r>
            <a:endParaRPr lang="en-US" sz="1500" dirty="0"/>
          </a:p>
        </p:txBody>
      </p:sp>
      <p:sp>
        <p:nvSpPr>
          <p:cNvPr id="38" name="Text 36"/>
          <p:cNvSpPr/>
          <p:nvPr/>
        </p:nvSpPr>
        <p:spPr>
          <a:xfrm>
            <a:off x="9187434" y="4965192"/>
            <a:ext cx="2132838" cy="502920"/>
          </a:xfrm>
          <a:prstGeom prst="rect">
            <a:avLst/>
          </a:prstGeom>
          <a:noFill/>
          <a:ln/>
        </p:spPr>
        <p:txBody>
          <a:bodyPr wrap="square" rtlCol="0" anchor="ctr"/>
          <a:lstStyle/>
          <a:p>
            <a:pPr indent="0" marL="0">
              <a:lnSpc>
                <a:spcPct val="100000"/>
              </a:lnSpc>
              <a:buNone/>
            </a:pPr>
            <a:r>
              <a:rPr lang="en-US" sz="1200" dirty="0">
                <a:solidFill>
                  <a:srgbClr val="5B6570"/>
                </a:solidFill>
                <a:latin typeface="Calibri" pitchFamily="34" charset="0"/>
                <a:ea typeface="Calibri" pitchFamily="34" charset="-122"/>
                <a:cs typeface="Calibri" pitchFamily="34" charset="-120"/>
              </a:rPr>
              <a:t>lost revenue when it breaks</a:t>
            </a:r>
            <a:endParaRPr lang="en-US" sz="1200" dirty="0"/>
          </a:p>
        </p:txBody>
      </p:sp>
      <p:sp>
        <p:nvSpPr>
          <p:cNvPr id="39" name="Text 37"/>
          <p:cNvSpPr/>
          <p:nvPr/>
        </p:nvSpPr>
        <p:spPr>
          <a:xfrm>
            <a:off x="640080" y="6473952"/>
            <a:ext cx="5943600" cy="274320"/>
          </a:xfrm>
          <a:prstGeom prst="rect">
            <a:avLst/>
          </a:prstGeom>
          <a:noFill/>
          <a:ln/>
        </p:spPr>
        <p:txBody>
          <a:bodyPr wrap="square" rtlCol="0" anchor="ctr"/>
          <a:lstStyle/>
          <a:p>
            <a:pPr indent="0" marL="0">
              <a:buNone/>
            </a:pPr>
            <a:r>
              <a:rPr lang="en-US" sz="900" dirty="0">
                <a:solidFill>
                  <a:srgbClr val="5B6570"/>
                </a:solidFill>
                <a:latin typeface="Calibri" pitchFamily="34" charset="0"/>
                <a:ea typeface="Calibri" pitchFamily="34" charset="-122"/>
                <a:cs typeface="Calibri" pitchFamily="34" charset="-120"/>
              </a:rPr>
              <a:t>AWS SAA-A  ·  Lecture 2  ·  Cloud Economics &amp; Billing</a:t>
            </a:r>
            <a:endParaRPr lang="en-US" sz="900" dirty="0"/>
          </a:p>
        </p:txBody>
      </p:sp>
      <p:sp>
        <p:nvSpPr>
          <p:cNvPr id="40" name="Text 38"/>
          <p:cNvSpPr/>
          <p:nvPr/>
        </p:nvSpPr>
        <p:spPr>
          <a:xfrm>
            <a:off x="11000232" y="6473952"/>
            <a:ext cx="548640" cy="274320"/>
          </a:xfrm>
          <a:prstGeom prst="rect">
            <a:avLst/>
          </a:prstGeom>
          <a:noFill/>
          <a:ln/>
        </p:spPr>
        <p:txBody>
          <a:bodyPr wrap="square" rtlCol="0" anchor="ctr"/>
          <a:lstStyle/>
          <a:p>
            <a:pPr algn="r" indent="0" marL="0">
              <a:buNone/>
            </a:pPr>
            <a:r>
              <a:rPr lang="en-US" sz="900" dirty="0">
                <a:solidFill>
                  <a:srgbClr val="5B657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457200"/>
            <a:ext cx="10908792" cy="274320"/>
          </a:xfrm>
          <a:prstGeom prst="rect">
            <a:avLst/>
          </a:prstGeom>
          <a:noFill/>
          <a:ln/>
        </p:spPr>
        <p:txBody>
          <a:bodyPr wrap="square" rtlCol="0" anchor="ctr"/>
          <a:lstStyle/>
          <a:p>
            <a:pPr indent="0" marL="0">
              <a:buNone/>
            </a:pPr>
            <a:r>
              <a:rPr lang="en-US" sz="1200" b="1" spc="200" kern="0" dirty="0">
                <a:solidFill>
                  <a:srgbClr val="EC7211"/>
                </a:solidFill>
                <a:latin typeface="Calibri" pitchFamily="34" charset="0"/>
                <a:ea typeface="Calibri" pitchFamily="34" charset="-122"/>
                <a:cs typeface="Calibri" pitchFamily="34" charset="-120"/>
              </a:rPr>
              <a:t>THE TOOL FOR ESTIMATES</a:t>
            </a:r>
            <a:endParaRPr lang="en-US" sz="1200" dirty="0"/>
          </a:p>
        </p:txBody>
      </p:sp>
      <p:sp>
        <p:nvSpPr>
          <p:cNvPr id="3" name="Text 1"/>
          <p:cNvSpPr/>
          <p:nvPr/>
        </p:nvSpPr>
        <p:spPr>
          <a:xfrm>
            <a:off x="640080" y="731520"/>
            <a:ext cx="10908792" cy="640080"/>
          </a:xfrm>
          <a:prstGeom prst="rect">
            <a:avLst/>
          </a:prstGeom>
          <a:noFill/>
          <a:ln/>
        </p:spPr>
        <p:txBody>
          <a:bodyPr wrap="square" rtlCol="0" anchor="ctr"/>
          <a:lstStyle/>
          <a:p>
            <a:pPr indent="0" marL="0">
              <a:buNone/>
            </a:pPr>
            <a:r>
              <a:rPr lang="en-US" sz="3200" b="1" dirty="0">
                <a:solidFill>
                  <a:srgbClr val="232F3E"/>
                </a:solidFill>
                <a:latin typeface="Calibri" pitchFamily="34" charset="0"/>
                <a:ea typeface="Calibri" pitchFamily="34" charset="-122"/>
                <a:cs typeface="Calibri" pitchFamily="34" charset="-120"/>
              </a:rPr>
              <a:t>AWS Pricing Calculator</a:t>
            </a:r>
            <a:endParaRPr lang="en-US" sz="3200" dirty="0"/>
          </a:p>
        </p:txBody>
      </p:sp>
      <p:sp>
        <p:nvSpPr>
          <p:cNvPr id="4" name="Text 2"/>
          <p:cNvSpPr/>
          <p:nvPr/>
        </p:nvSpPr>
        <p:spPr>
          <a:xfrm>
            <a:off x="640080" y="1417320"/>
            <a:ext cx="10908792" cy="365760"/>
          </a:xfrm>
          <a:prstGeom prst="rect">
            <a:avLst/>
          </a:prstGeom>
          <a:noFill/>
          <a:ln/>
        </p:spPr>
        <p:txBody>
          <a:bodyPr wrap="square" rtlCol="0" anchor="ctr"/>
          <a:lstStyle/>
          <a:p>
            <a:pPr indent="0" marL="0">
              <a:buNone/>
            </a:pPr>
            <a:r>
              <a:rPr lang="en-US" sz="1500" i="1" dirty="0">
                <a:solidFill>
                  <a:srgbClr val="5B6570"/>
                </a:solidFill>
                <a:latin typeface="Calibri" pitchFamily="34" charset="0"/>
                <a:ea typeface="Calibri" pitchFamily="34" charset="-122"/>
                <a:cs typeface="Calibri" pitchFamily="34" charset="-120"/>
              </a:rPr>
              <a:t>Free, no account needed, and the standard way to price an architecture before you build it.</a:t>
            </a:r>
            <a:endParaRPr lang="en-US" sz="1500" dirty="0"/>
          </a:p>
        </p:txBody>
      </p:sp>
      <p:sp>
        <p:nvSpPr>
          <p:cNvPr id="5" name="Shape 3"/>
          <p:cNvSpPr/>
          <p:nvPr/>
        </p:nvSpPr>
        <p:spPr>
          <a:xfrm>
            <a:off x="640080" y="1920240"/>
            <a:ext cx="5486400" cy="3840480"/>
          </a:xfrm>
          <a:prstGeom prst="roundRect">
            <a:avLst>
              <a:gd name="adj" fmla="val 2857"/>
            </a:avLst>
          </a:prstGeom>
          <a:solidFill>
            <a:srgbClr val="FFFFFF"/>
          </a:solidFill>
          <a:ln w="12700">
            <a:solidFill>
              <a:srgbClr val="DCE1E6"/>
            </a:solidFill>
            <a:prstDash val="solid"/>
          </a:ln>
          <a:effectLst>
            <a:outerShdw sx="100000" sy="100000" kx="0" ky="0" algn="bl" rotWithShape="0" blurRad="101600" dist="38100" dir="5400000">
              <a:srgbClr val="C6CDD4">
                <a:alpha val="50000"/>
              </a:srgbClr>
            </a:outerShdw>
          </a:effectLst>
        </p:spPr>
      </p:sp>
      <p:sp>
        <p:nvSpPr>
          <p:cNvPr id="6" name="Text 4"/>
          <p:cNvSpPr/>
          <p:nvPr/>
        </p:nvSpPr>
        <p:spPr>
          <a:xfrm>
            <a:off x="1005840" y="2148840"/>
            <a:ext cx="4754880" cy="320040"/>
          </a:xfrm>
          <a:prstGeom prst="rect">
            <a:avLst/>
          </a:prstGeom>
          <a:noFill/>
          <a:ln/>
        </p:spPr>
        <p:txBody>
          <a:bodyPr wrap="square" rtlCol="0" anchor="ctr"/>
          <a:lstStyle/>
          <a:p>
            <a:pPr indent="0" marL="0">
              <a:buNone/>
            </a:pPr>
            <a:r>
              <a:rPr lang="en-US" sz="1200" b="1" spc="200" kern="0" dirty="0">
                <a:solidFill>
                  <a:srgbClr val="1E8FA5"/>
                </a:solidFill>
                <a:latin typeface="Calibri" pitchFamily="34" charset="0"/>
                <a:ea typeface="Calibri" pitchFamily="34" charset="-122"/>
                <a:cs typeface="Calibri" pitchFamily="34" charset="-120"/>
              </a:rPr>
              <a:t>WHAT IT DOES</a:t>
            </a:r>
            <a:endParaRPr lang="en-US" sz="1200" dirty="0"/>
          </a:p>
        </p:txBody>
      </p:sp>
      <p:sp>
        <p:nvSpPr>
          <p:cNvPr id="7" name="Shape 5"/>
          <p:cNvSpPr/>
          <p:nvPr/>
        </p:nvSpPr>
        <p:spPr>
          <a:xfrm>
            <a:off x="1024128" y="2651760"/>
            <a:ext cx="237744" cy="237744"/>
          </a:xfrm>
          <a:prstGeom prst="ellipse">
            <a:avLst/>
          </a:prstGeom>
          <a:solidFill>
            <a:srgbClr val="1E8FA5"/>
          </a:solidFill>
          <a:ln/>
        </p:spPr>
      </p:sp>
      <p:sp>
        <p:nvSpPr>
          <p:cNvPr id="8" name="Text 6"/>
          <p:cNvSpPr/>
          <p:nvPr/>
        </p:nvSpPr>
        <p:spPr>
          <a:xfrm>
            <a:off x="1417320" y="2606040"/>
            <a:ext cx="4480560" cy="365760"/>
          </a:xfrm>
          <a:prstGeom prst="rect">
            <a:avLst/>
          </a:prstGeom>
          <a:noFill/>
          <a:ln/>
        </p:spPr>
        <p:txBody>
          <a:bodyPr wrap="square" rtlCol="0" anchor="ctr"/>
          <a:lstStyle/>
          <a:p>
            <a:pPr indent="0" marL="0">
              <a:buNone/>
            </a:pPr>
            <a:r>
              <a:rPr lang="en-US" sz="1400" dirty="0">
                <a:solidFill>
                  <a:srgbClr val="232F3E"/>
                </a:solidFill>
                <a:latin typeface="Calibri" pitchFamily="34" charset="0"/>
                <a:ea typeface="Calibri" pitchFamily="34" charset="-122"/>
                <a:cs typeface="Calibri" pitchFamily="34" charset="-120"/>
              </a:rPr>
              <a:t>Estimates monthly cost before you deploy anything</a:t>
            </a:r>
            <a:endParaRPr lang="en-US" sz="1400" dirty="0"/>
          </a:p>
        </p:txBody>
      </p:sp>
      <p:sp>
        <p:nvSpPr>
          <p:cNvPr id="9" name="Shape 7"/>
          <p:cNvSpPr/>
          <p:nvPr/>
        </p:nvSpPr>
        <p:spPr>
          <a:xfrm>
            <a:off x="1024128" y="3255264"/>
            <a:ext cx="237744" cy="237744"/>
          </a:xfrm>
          <a:prstGeom prst="ellipse">
            <a:avLst/>
          </a:prstGeom>
          <a:solidFill>
            <a:srgbClr val="1E8FA5"/>
          </a:solidFill>
          <a:ln/>
        </p:spPr>
      </p:sp>
      <p:sp>
        <p:nvSpPr>
          <p:cNvPr id="10" name="Text 8"/>
          <p:cNvSpPr/>
          <p:nvPr/>
        </p:nvSpPr>
        <p:spPr>
          <a:xfrm>
            <a:off x="1417320" y="3209544"/>
            <a:ext cx="4480560" cy="365760"/>
          </a:xfrm>
          <a:prstGeom prst="rect">
            <a:avLst/>
          </a:prstGeom>
          <a:noFill/>
          <a:ln/>
        </p:spPr>
        <p:txBody>
          <a:bodyPr wrap="square" rtlCol="0" anchor="ctr"/>
          <a:lstStyle/>
          <a:p>
            <a:pPr indent="0" marL="0">
              <a:buNone/>
            </a:pPr>
            <a:r>
              <a:rPr lang="en-US" sz="1400" dirty="0">
                <a:solidFill>
                  <a:srgbClr val="232F3E"/>
                </a:solidFill>
                <a:latin typeface="Calibri" pitchFamily="34" charset="0"/>
                <a:ea typeface="Calibri" pitchFamily="34" charset="-122"/>
                <a:cs typeface="Calibri" pitchFamily="34" charset="-120"/>
              </a:rPr>
              <a:t>Model a full architecture, service by service</a:t>
            </a:r>
            <a:endParaRPr lang="en-US" sz="1400" dirty="0"/>
          </a:p>
        </p:txBody>
      </p:sp>
      <p:sp>
        <p:nvSpPr>
          <p:cNvPr id="11" name="Shape 9"/>
          <p:cNvSpPr/>
          <p:nvPr/>
        </p:nvSpPr>
        <p:spPr>
          <a:xfrm>
            <a:off x="1024128" y="3858768"/>
            <a:ext cx="237744" cy="237744"/>
          </a:xfrm>
          <a:prstGeom prst="ellipse">
            <a:avLst/>
          </a:prstGeom>
          <a:solidFill>
            <a:srgbClr val="1E8FA5"/>
          </a:solidFill>
          <a:ln/>
        </p:spPr>
      </p:sp>
      <p:sp>
        <p:nvSpPr>
          <p:cNvPr id="12" name="Text 10"/>
          <p:cNvSpPr/>
          <p:nvPr/>
        </p:nvSpPr>
        <p:spPr>
          <a:xfrm>
            <a:off x="1417320" y="3813048"/>
            <a:ext cx="4480560" cy="365760"/>
          </a:xfrm>
          <a:prstGeom prst="rect">
            <a:avLst/>
          </a:prstGeom>
          <a:noFill/>
          <a:ln/>
        </p:spPr>
        <p:txBody>
          <a:bodyPr wrap="square" rtlCol="0" anchor="ctr"/>
          <a:lstStyle/>
          <a:p>
            <a:pPr indent="0" marL="0">
              <a:buNone/>
            </a:pPr>
            <a:r>
              <a:rPr lang="en-US" sz="1400" dirty="0">
                <a:solidFill>
                  <a:srgbClr val="232F3E"/>
                </a:solidFill>
                <a:latin typeface="Calibri" pitchFamily="34" charset="0"/>
                <a:ea typeface="Calibri" pitchFamily="34" charset="-122"/>
                <a:cs typeface="Calibri" pitchFamily="34" charset="-120"/>
              </a:rPr>
              <a:t>Compare configurations and Regions side by side</a:t>
            </a:r>
            <a:endParaRPr lang="en-US" sz="1400" dirty="0"/>
          </a:p>
        </p:txBody>
      </p:sp>
      <p:sp>
        <p:nvSpPr>
          <p:cNvPr id="13" name="Shape 11"/>
          <p:cNvSpPr/>
          <p:nvPr/>
        </p:nvSpPr>
        <p:spPr>
          <a:xfrm>
            <a:off x="1024128" y="4462272"/>
            <a:ext cx="237744" cy="237744"/>
          </a:xfrm>
          <a:prstGeom prst="ellipse">
            <a:avLst/>
          </a:prstGeom>
          <a:solidFill>
            <a:srgbClr val="1E8FA5"/>
          </a:solidFill>
          <a:ln/>
        </p:spPr>
      </p:sp>
      <p:sp>
        <p:nvSpPr>
          <p:cNvPr id="14" name="Text 12"/>
          <p:cNvSpPr/>
          <p:nvPr/>
        </p:nvSpPr>
        <p:spPr>
          <a:xfrm>
            <a:off x="1417320" y="4416552"/>
            <a:ext cx="4480560" cy="365760"/>
          </a:xfrm>
          <a:prstGeom prst="rect">
            <a:avLst/>
          </a:prstGeom>
          <a:noFill/>
          <a:ln/>
        </p:spPr>
        <p:txBody>
          <a:bodyPr wrap="square" rtlCol="0" anchor="ctr"/>
          <a:lstStyle/>
          <a:p>
            <a:pPr indent="0" marL="0">
              <a:buNone/>
            </a:pPr>
            <a:r>
              <a:rPr lang="en-US" sz="1400" dirty="0">
                <a:solidFill>
                  <a:srgbClr val="232F3E"/>
                </a:solidFill>
                <a:latin typeface="Calibri" pitchFamily="34" charset="0"/>
                <a:ea typeface="Calibri" pitchFamily="34" charset="-122"/>
                <a:cs typeface="Calibri" pitchFamily="34" charset="-120"/>
              </a:rPr>
              <a:t>Export and share the estimate with a link</a:t>
            </a:r>
            <a:endParaRPr lang="en-US" sz="1400" dirty="0"/>
          </a:p>
        </p:txBody>
      </p:sp>
      <p:sp>
        <p:nvSpPr>
          <p:cNvPr id="15" name="Shape 13"/>
          <p:cNvSpPr/>
          <p:nvPr/>
        </p:nvSpPr>
        <p:spPr>
          <a:xfrm>
            <a:off x="1024128" y="5065776"/>
            <a:ext cx="237744" cy="237744"/>
          </a:xfrm>
          <a:prstGeom prst="ellipse">
            <a:avLst/>
          </a:prstGeom>
          <a:solidFill>
            <a:srgbClr val="1E8FA5"/>
          </a:solidFill>
          <a:ln/>
        </p:spPr>
      </p:sp>
      <p:sp>
        <p:nvSpPr>
          <p:cNvPr id="16" name="Text 14"/>
          <p:cNvSpPr/>
          <p:nvPr/>
        </p:nvSpPr>
        <p:spPr>
          <a:xfrm>
            <a:off x="1417320" y="5020056"/>
            <a:ext cx="4480560" cy="365760"/>
          </a:xfrm>
          <a:prstGeom prst="rect">
            <a:avLst/>
          </a:prstGeom>
          <a:noFill/>
          <a:ln/>
        </p:spPr>
        <p:txBody>
          <a:bodyPr wrap="square" rtlCol="0" anchor="ctr"/>
          <a:lstStyle/>
          <a:p>
            <a:pPr indent="0" marL="0">
              <a:buNone/>
            </a:pPr>
            <a:r>
              <a:rPr lang="en-US" sz="1400" dirty="0">
                <a:solidFill>
                  <a:srgbClr val="232F3E"/>
                </a:solidFill>
                <a:latin typeface="Calibri" pitchFamily="34" charset="0"/>
                <a:ea typeface="Calibri" pitchFamily="34" charset="-122"/>
                <a:cs typeface="Calibri" pitchFamily="34" charset="-120"/>
              </a:rPr>
              <a:t>Group estimates by project, team, or client</a:t>
            </a:r>
            <a:endParaRPr lang="en-US" sz="1400" dirty="0"/>
          </a:p>
        </p:txBody>
      </p:sp>
      <p:sp>
        <p:nvSpPr>
          <p:cNvPr id="17" name="Shape 15"/>
          <p:cNvSpPr/>
          <p:nvPr/>
        </p:nvSpPr>
        <p:spPr>
          <a:xfrm>
            <a:off x="6492240" y="1920240"/>
            <a:ext cx="5029200" cy="3840480"/>
          </a:xfrm>
          <a:prstGeom prst="roundRect">
            <a:avLst>
              <a:gd name="adj" fmla="val 2857"/>
            </a:avLst>
          </a:prstGeom>
          <a:solidFill>
            <a:srgbClr val="232F3E"/>
          </a:solidFill>
          <a:ln/>
        </p:spPr>
      </p:sp>
      <p:sp>
        <p:nvSpPr>
          <p:cNvPr id="18" name="Text 16"/>
          <p:cNvSpPr/>
          <p:nvPr/>
        </p:nvSpPr>
        <p:spPr>
          <a:xfrm>
            <a:off x="6858000" y="2148840"/>
            <a:ext cx="4297680" cy="320040"/>
          </a:xfrm>
          <a:prstGeom prst="rect">
            <a:avLst/>
          </a:prstGeom>
          <a:noFill/>
          <a:ln/>
        </p:spPr>
        <p:txBody>
          <a:bodyPr wrap="square" rtlCol="0" anchor="ctr"/>
          <a:lstStyle/>
          <a:p>
            <a:pPr indent="0" marL="0">
              <a:buNone/>
            </a:pPr>
            <a:r>
              <a:rPr lang="en-US" sz="1200" b="1" spc="200" kern="0" dirty="0">
                <a:solidFill>
                  <a:srgbClr val="FF9900"/>
                </a:solidFill>
                <a:latin typeface="Calibri" pitchFamily="34" charset="0"/>
                <a:ea typeface="Calibri" pitchFamily="34" charset="-122"/>
                <a:cs typeface="Calibri" pitchFamily="34" charset="-120"/>
              </a:rPr>
              <a:t>TONIGHT'S ACTIVITY</a:t>
            </a:r>
            <a:endParaRPr lang="en-US" sz="1200" dirty="0"/>
          </a:p>
        </p:txBody>
      </p:sp>
      <p:sp>
        <p:nvSpPr>
          <p:cNvPr id="19" name="Text 17"/>
          <p:cNvSpPr/>
          <p:nvPr/>
        </p:nvSpPr>
        <p:spPr>
          <a:xfrm>
            <a:off x="6858000" y="2514600"/>
            <a:ext cx="4297680" cy="411480"/>
          </a:xfrm>
          <a:prstGeom prst="rect">
            <a:avLst/>
          </a:prstGeom>
          <a:noFill/>
          <a:ln/>
        </p:spPr>
        <p:txBody>
          <a:bodyPr wrap="square"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Price a small business</a:t>
            </a:r>
            <a:endParaRPr lang="en-US" sz="2100" dirty="0"/>
          </a:p>
        </p:txBody>
      </p:sp>
      <p:sp>
        <p:nvSpPr>
          <p:cNvPr id="20" name="Text 18"/>
          <p:cNvSpPr/>
          <p:nvPr/>
        </p:nvSpPr>
        <p:spPr>
          <a:xfrm>
            <a:off x="6858000" y="3063240"/>
            <a:ext cx="4297680" cy="2377440"/>
          </a:xfrm>
          <a:prstGeom prst="rect">
            <a:avLst/>
          </a:prstGeom>
          <a:noFill/>
          <a:ln/>
        </p:spPr>
        <p:txBody>
          <a:bodyPr wrap="square" rtlCol="0" anchor="ctr"/>
          <a:lstStyle/>
          <a:p>
            <a:pPr indent="0" marL="0">
              <a:lnSpc>
                <a:spcPct val="106000"/>
              </a:lnSpc>
              <a:buNone/>
            </a:pPr>
            <a:r>
              <a:rPr lang="en-US" sz="1400" dirty="0">
                <a:solidFill>
                  <a:srgbClr val="C7D2DE"/>
                </a:solidFill>
                <a:latin typeface="Calibri" pitchFamily="34" charset="0"/>
                <a:ea typeface="Calibri" pitchFamily="34" charset="-122"/>
                <a:cs typeface="Calibri" pitchFamily="34" charset="-120"/>
              </a:rPr>
              <a:t>You'll estimate the monthly AWS cost for a simple web application — a couple of servers, storage, a database, and traffic.</a:t>
            </a:r>
            <a:endParaRPr lang="en-US" sz="1400" dirty="0"/>
          </a:p>
          <a:p>
            <a:pPr indent="0" marL="0">
              <a:lnSpc>
                <a:spcPct val="106000"/>
              </a:lnSpc>
              <a:buNone/>
            </a:pPr>
            <a:endParaRPr lang="en-US" sz="1400" dirty="0"/>
          </a:p>
          <a:p>
            <a:pPr indent="0" marL="0">
              <a:lnSpc>
                <a:spcPct val="106000"/>
              </a:lnSpc>
              <a:buNone/>
            </a:pPr>
            <a:r>
              <a:rPr lang="en-US" sz="1400" dirty="0">
                <a:solidFill>
                  <a:srgbClr val="C7D2DE"/>
                </a:solidFill>
                <a:latin typeface="Calibri" pitchFamily="34" charset="0"/>
                <a:ea typeface="Calibri" pitchFamily="34" charset="-122"/>
                <a:cs typeface="Calibri" pitchFamily="34" charset="-120"/>
              </a:rPr>
              <a:t>Then we'll compare estimates as a class and talk about why yours differ. Spoiler: the assumptions matter more than the clicking.</a:t>
            </a:r>
            <a:endParaRPr lang="en-US" sz="1400" dirty="0"/>
          </a:p>
        </p:txBody>
      </p:sp>
      <p:sp>
        <p:nvSpPr>
          <p:cNvPr id="21" name="Text 19"/>
          <p:cNvSpPr/>
          <p:nvPr/>
        </p:nvSpPr>
        <p:spPr>
          <a:xfrm>
            <a:off x="640080" y="6473952"/>
            <a:ext cx="5943600" cy="274320"/>
          </a:xfrm>
          <a:prstGeom prst="rect">
            <a:avLst/>
          </a:prstGeom>
          <a:noFill/>
          <a:ln/>
        </p:spPr>
        <p:txBody>
          <a:bodyPr wrap="square" rtlCol="0" anchor="ctr"/>
          <a:lstStyle/>
          <a:p>
            <a:pPr indent="0" marL="0">
              <a:buNone/>
            </a:pPr>
            <a:r>
              <a:rPr lang="en-US" sz="900" dirty="0">
                <a:solidFill>
                  <a:srgbClr val="5B6570"/>
                </a:solidFill>
                <a:latin typeface="Calibri" pitchFamily="34" charset="0"/>
                <a:ea typeface="Calibri" pitchFamily="34" charset="-122"/>
                <a:cs typeface="Calibri" pitchFamily="34" charset="-120"/>
              </a:rPr>
              <a:t>AWS SAA-A  ·  Lecture 2  ·  Cloud Economics &amp; Billing</a:t>
            </a:r>
            <a:endParaRPr lang="en-US" sz="900" dirty="0"/>
          </a:p>
        </p:txBody>
      </p:sp>
      <p:sp>
        <p:nvSpPr>
          <p:cNvPr id="22" name="Text 20"/>
          <p:cNvSpPr/>
          <p:nvPr/>
        </p:nvSpPr>
        <p:spPr>
          <a:xfrm>
            <a:off x="11000232" y="6473952"/>
            <a:ext cx="548640" cy="274320"/>
          </a:xfrm>
          <a:prstGeom prst="rect">
            <a:avLst/>
          </a:prstGeom>
          <a:noFill/>
          <a:ln/>
        </p:spPr>
        <p:txBody>
          <a:bodyPr wrap="square" rtlCol="0" anchor="ctr"/>
          <a:lstStyle/>
          <a:p>
            <a:pPr algn="r" indent="0" marL="0">
              <a:buNone/>
            </a:pPr>
            <a:r>
              <a:rPr lang="en-US" sz="900" dirty="0">
                <a:solidFill>
                  <a:srgbClr val="5B657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457200"/>
            <a:ext cx="10908792" cy="274320"/>
          </a:xfrm>
          <a:prstGeom prst="rect">
            <a:avLst/>
          </a:prstGeom>
          <a:noFill/>
          <a:ln/>
        </p:spPr>
        <p:txBody>
          <a:bodyPr wrap="square" rtlCol="0" anchor="ctr"/>
          <a:lstStyle/>
          <a:p>
            <a:pPr indent="0" marL="0">
              <a:buNone/>
            </a:pPr>
            <a:r>
              <a:rPr lang="en-US" sz="1200" b="1" spc="200" kern="0" dirty="0">
                <a:solidFill>
                  <a:srgbClr val="EC7211"/>
                </a:solidFill>
                <a:latin typeface="Calibri" pitchFamily="34" charset="0"/>
                <a:ea typeface="Calibri" pitchFamily="34" charset="-122"/>
                <a:cs typeface="Calibri" pitchFamily="34" charset="-120"/>
              </a:rPr>
              <a:t>MANAGING MANY ACCOUNTS</a:t>
            </a:r>
            <a:endParaRPr lang="en-US" sz="1200" dirty="0"/>
          </a:p>
        </p:txBody>
      </p:sp>
      <p:sp>
        <p:nvSpPr>
          <p:cNvPr id="3" name="Text 1"/>
          <p:cNvSpPr/>
          <p:nvPr/>
        </p:nvSpPr>
        <p:spPr>
          <a:xfrm>
            <a:off x="640080" y="731520"/>
            <a:ext cx="10908792" cy="640080"/>
          </a:xfrm>
          <a:prstGeom prst="rect">
            <a:avLst/>
          </a:prstGeom>
          <a:noFill/>
          <a:ln/>
        </p:spPr>
        <p:txBody>
          <a:bodyPr wrap="square" rtlCol="0" anchor="ctr"/>
          <a:lstStyle/>
          <a:p>
            <a:pPr indent="0" marL="0">
              <a:buNone/>
            </a:pPr>
            <a:r>
              <a:rPr lang="en-US" sz="3200" b="1" dirty="0">
                <a:solidFill>
                  <a:srgbClr val="232F3E"/>
                </a:solidFill>
                <a:latin typeface="Calibri" pitchFamily="34" charset="0"/>
                <a:ea typeface="Calibri" pitchFamily="34" charset="-122"/>
                <a:cs typeface="Calibri" pitchFamily="34" charset="-120"/>
              </a:rPr>
              <a:t>AWS Organizations</a:t>
            </a:r>
            <a:endParaRPr lang="en-US" sz="3200" dirty="0"/>
          </a:p>
        </p:txBody>
      </p:sp>
      <p:sp>
        <p:nvSpPr>
          <p:cNvPr id="4" name="Text 2"/>
          <p:cNvSpPr/>
          <p:nvPr/>
        </p:nvSpPr>
        <p:spPr>
          <a:xfrm>
            <a:off x="640080" y="1417320"/>
            <a:ext cx="10908792" cy="365760"/>
          </a:xfrm>
          <a:prstGeom prst="rect">
            <a:avLst/>
          </a:prstGeom>
          <a:noFill/>
          <a:ln/>
        </p:spPr>
        <p:txBody>
          <a:bodyPr wrap="square" rtlCol="0" anchor="ctr"/>
          <a:lstStyle/>
          <a:p>
            <a:pPr indent="0" marL="0">
              <a:buNone/>
            </a:pPr>
            <a:r>
              <a:rPr lang="en-US" sz="1500" i="1" dirty="0">
                <a:solidFill>
                  <a:srgbClr val="5B6570"/>
                </a:solidFill>
                <a:latin typeface="Calibri" pitchFamily="34" charset="0"/>
                <a:ea typeface="Calibri" pitchFamily="34" charset="-122"/>
                <a:cs typeface="Calibri" pitchFamily="34" charset="-120"/>
              </a:rPr>
              <a:t>Real companies don't have one AWS account — they have dozens. Organizations is how you keep that sane.</a:t>
            </a:r>
            <a:endParaRPr lang="en-US" sz="1500" dirty="0"/>
          </a:p>
        </p:txBody>
      </p:sp>
      <p:sp>
        <p:nvSpPr>
          <p:cNvPr id="5" name="Shape 3"/>
          <p:cNvSpPr/>
          <p:nvPr/>
        </p:nvSpPr>
        <p:spPr>
          <a:xfrm>
            <a:off x="640080" y="1965960"/>
            <a:ext cx="3483864" cy="1828800"/>
          </a:xfrm>
          <a:prstGeom prst="roundRect">
            <a:avLst>
              <a:gd name="adj" fmla="val 5000"/>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sp>
      <p:sp>
        <p:nvSpPr>
          <p:cNvPr id="6" name="Shape 4"/>
          <p:cNvSpPr/>
          <p:nvPr/>
        </p:nvSpPr>
        <p:spPr>
          <a:xfrm>
            <a:off x="640080" y="1965960"/>
            <a:ext cx="137160" cy="1828800"/>
          </a:xfrm>
          <a:prstGeom prst="roundRect">
            <a:avLst>
              <a:gd name="adj" fmla="val 13333"/>
            </a:avLst>
          </a:prstGeom>
          <a:solidFill>
            <a:srgbClr val="EC7211"/>
          </a:solidFill>
          <a:ln/>
        </p:spPr>
      </p:sp>
      <p:sp>
        <p:nvSpPr>
          <p:cNvPr id="7" name="Text 5"/>
          <p:cNvSpPr/>
          <p:nvPr/>
        </p:nvSpPr>
        <p:spPr>
          <a:xfrm>
            <a:off x="1005840" y="216712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Consolidated billing</a:t>
            </a:r>
            <a:endParaRPr lang="en-US" sz="1600" dirty="0"/>
          </a:p>
        </p:txBody>
      </p:sp>
      <p:sp>
        <p:nvSpPr>
          <p:cNvPr id="8" name="Text 6"/>
          <p:cNvSpPr/>
          <p:nvPr/>
        </p:nvSpPr>
        <p:spPr>
          <a:xfrm>
            <a:off x="1005840" y="2697480"/>
            <a:ext cx="2843784" cy="91440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One payer account, one bill for the whole organization. No more chasing separate invoices.</a:t>
            </a:r>
            <a:endParaRPr lang="en-US" sz="1300" dirty="0"/>
          </a:p>
        </p:txBody>
      </p:sp>
      <p:sp>
        <p:nvSpPr>
          <p:cNvPr id="9" name="Shape 7"/>
          <p:cNvSpPr/>
          <p:nvPr/>
        </p:nvSpPr>
        <p:spPr>
          <a:xfrm>
            <a:off x="4352544" y="1965960"/>
            <a:ext cx="3483864" cy="1828800"/>
          </a:xfrm>
          <a:prstGeom prst="roundRect">
            <a:avLst>
              <a:gd name="adj" fmla="val 5000"/>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sp>
      <p:sp>
        <p:nvSpPr>
          <p:cNvPr id="10" name="Shape 8"/>
          <p:cNvSpPr/>
          <p:nvPr/>
        </p:nvSpPr>
        <p:spPr>
          <a:xfrm>
            <a:off x="4352544" y="1965960"/>
            <a:ext cx="137160" cy="1828800"/>
          </a:xfrm>
          <a:prstGeom prst="roundRect">
            <a:avLst>
              <a:gd name="adj" fmla="val 13333"/>
            </a:avLst>
          </a:prstGeom>
          <a:solidFill>
            <a:srgbClr val="1F8A38"/>
          </a:solidFill>
          <a:ln/>
        </p:spPr>
      </p:sp>
      <p:sp>
        <p:nvSpPr>
          <p:cNvPr id="11" name="Text 9"/>
          <p:cNvSpPr/>
          <p:nvPr/>
        </p:nvSpPr>
        <p:spPr>
          <a:xfrm>
            <a:off x="4718304" y="216712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Volume discounts</a:t>
            </a:r>
            <a:endParaRPr lang="en-US" sz="1600" dirty="0"/>
          </a:p>
        </p:txBody>
      </p:sp>
      <p:sp>
        <p:nvSpPr>
          <p:cNvPr id="12" name="Text 10"/>
          <p:cNvSpPr/>
          <p:nvPr/>
        </p:nvSpPr>
        <p:spPr>
          <a:xfrm>
            <a:off x="4718304" y="2697480"/>
            <a:ext cx="2843784" cy="91440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Usage is aggregated across all accounts, so you reach cheaper pricing tiers faster.</a:t>
            </a:r>
            <a:endParaRPr lang="en-US" sz="1300" dirty="0"/>
          </a:p>
        </p:txBody>
      </p:sp>
      <p:sp>
        <p:nvSpPr>
          <p:cNvPr id="13" name="Shape 11"/>
          <p:cNvSpPr/>
          <p:nvPr/>
        </p:nvSpPr>
        <p:spPr>
          <a:xfrm>
            <a:off x="8065008" y="1965960"/>
            <a:ext cx="3483864" cy="1828800"/>
          </a:xfrm>
          <a:prstGeom prst="roundRect">
            <a:avLst>
              <a:gd name="adj" fmla="val 5000"/>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sp>
      <p:sp>
        <p:nvSpPr>
          <p:cNvPr id="14" name="Shape 12"/>
          <p:cNvSpPr/>
          <p:nvPr/>
        </p:nvSpPr>
        <p:spPr>
          <a:xfrm>
            <a:off x="8065008" y="1965960"/>
            <a:ext cx="137160" cy="1828800"/>
          </a:xfrm>
          <a:prstGeom prst="roundRect">
            <a:avLst>
              <a:gd name="adj" fmla="val 13333"/>
            </a:avLst>
          </a:prstGeom>
          <a:solidFill>
            <a:srgbClr val="1E8FA5"/>
          </a:solidFill>
          <a:ln/>
        </p:spPr>
      </p:sp>
      <p:sp>
        <p:nvSpPr>
          <p:cNvPr id="15" name="Text 13"/>
          <p:cNvSpPr/>
          <p:nvPr/>
        </p:nvSpPr>
        <p:spPr>
          <a:xfrm>
            <a:off x="8430768" y="216712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Organizational Units (OUs)</a:t>
            </a:r>
            <a:endParaRPr lang="en-US" sz="1600" dirty="0"/>
          </a:p>
        </p:txBody>
      </p:sp>
      <p:sp>
        <p:nvSpPr>
          <p:cNvPr id="16" name="Text 14"/>
          <p:cNvSpPr/>
          <p:nvPr/>
        </p:nvSpPr>
        <p:spPr>
          <a:xfrm>
            <a:off x="8430768" y="2697480"/>
            <a:ext cx="2843784" cy="91440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Group accounts (Dev, Prod, Finance) and manage them as a unit.</a:t>
            </a:r>
            <a:endParaRPr lang="en-US" sz="1300" dirty="0"/>
          </a:p>
        </p:txBody>
      </p:sp>
      <p:sp>
        <p:nvSpPr>
          <p:cNvPr id="17" name="Shape 15"/>
          <p:cNvSpPr/>
          <p:nvPr/>
        </p:nvSpPr>
        <p:spPr>
          <a:xfrm>
            <a:off x="640080" y="4023360"/>
            <a:ext cx="3483864" cy="1828800"/>
          </a:xfrm>
          <a:prstGeom prst="roundRect">
            <a:avLst>
              <a:gd name="adj" fmla="val 5000"/>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sp>
      <p:sp>
        <p:nvSpPr>
          <p:cNvPr id="18" name="Shape 16"/>
          <p:cNvSpPr/>
          <p:nvPr/>
        </p:nvSpPr>
        <p:spPr>
          <a:xfrm>
            <a:off x="640080" y="4023360"/>
            <a:ext cx="137160" cy="1828800"/>
          </a:xfrm>
          <a:prstGeom prst="roundRect">
            <a:avLst>
              <a:gd name="adj" fmla="val 13333"/>
            </a:avLst>
          </a:prstGeom>
          <a:solidFill>
            <a:srgbClr val="7A5C9E"/>
          </a:solidFill>
          <a:ln/>
        </p:spPr>
      </p:sp>
      <p:sp>
        <p:nvSpPr>
          <p:cNvPr id="19" name="Text 17"/>
          <p:cNvSpPr/>
          <p:nvPr/>
        </p:nvSpPr>
        <p:spPr>
          <a:xfrm>
            <a:off x="1005840" y="422452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Service Control Policies</a:t>
            </a:r>
            <a:endParaRPr lang="en-US" sz="1600" dirty="0"/>
          </a:p>
        </p:txBody>
      </p:sp>
      <p:sp>
        <p:nvSpPr>
          <p:cNvPr id="20" name="Text 18"/>
          <p:cNvSpPr/>
          <p:nvPr/>
        </p:nvSpPr>
        <p:spPr>
          <a:xfrm>
            <a:off x="1005840" y="4754880"/>
            <a:ext cx="2843784" cy="91440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Guardrails that set the MAXIMUM permissions an account can ever have — even for its admins.</a:t>
            </a:r>
            <a:endParaRPr lang="en-US" sz="1300" dirty="0"/>
          </a:p>
        </p:txBody>
      </p:sp>
      <p:sp>
        <p:nvSpPr>
          <p:cNvPr id="21" name="Shape 19"/>
          <p:cNvSpPr/>
          <p:nvPr/>
        </p:nvSpPr>
        <p:spPr>
          <a:xfrm>
            <a:off x="4352544" y="4023360"/>
            <a:ext cx="3483864" cy="1828800"/>
          </a:xfrm>
          <a:prstGeom prst="roundRect">
            <a:avLst>
              <a:gd name="adj" fmla="val 5000"/>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sp>
      <p:sp>
        <p:nvSpPr>
          <p:cNvPr id="22" name="Shape 20"/>
          <p:cNvSpPr/>
          <p:nvPr/>
        </p:nvSpPr>
        <p:spPr>
          <a:xfrm>
            <a:off x="4352544" y="4023360"/>
            <a:ext cx="137160" cy="1828800"/>
          </a:xfrm>
          <a:prstGeom prst="roundRect">
            <a:avLst>
              <a:gd name="adj" fmla="val 13333"/>
            </a:avLst>
          </a:prstGeom>
          <a:solidFill>
            <a:srgbClr val="4B6584"/>
          </a:solidFill>
          <a:ln/>
        </p:spPr>
      </p:sp>
      <p:sp>
        <p:nvSpPr>
          <p:cNvPr id="23" name="Text 21"/>
          <p:cNvSpPr/>
          <p:nvPr/>
        </p:nvSpPr>
        <p:spPr>
          <a:xfrm>
            <a:off x="4718304" y="422452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Central governance</a:t>
            </a:r>
            <a:endParaRPr lang="en-US" sz="1600" dirty="0"/>
          </a:p>
        </p:txBody>
      </p:sp>
      <p:sp>
        <p:nvSpPr>
          <p:cNvPr id="24" name="Text 22"/>
          <p:cNvSpPr/>
          <p:nvPr/>
        </p:nvSpPr>
        <p:spPr>
          <a:xfrm>
            <a:off x="4718304" y="4754880"/>
            <a:ext cx="2843784" cy="91440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Apply security and compliance rules once, across every account.</a:t>
            </a:r>
            <a:endParaRPr lang="en-US" sz="1300" dirty="0"/>
          </a:p>
        </p:txBody>
      </p:sp>
      <p:sp>
        <p:nvSpPr>
          <p:cNvPr id="25" name="Shape 23"/>
          <p:cNvSpPr/>
          <p:nvPr/>
        </p:nvSpPr>
        <p:spPr>
          <a:xfrm>
            <a:off x="8065008" y="4023360"/>
            <a:ext cx="3483864" cy="1828800"/>
          </a:xfrm>
          <a:prstGeom prst="roundRect">
            <a:avLst>
              <a:gd name="adj" fmla="val 5000"/>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sp>
      <p:sp>
        <p:nvSpPr>
          <p:cNvPr id="26" name="Shape 24"/>
          <p:cNvSpPr/>
          <p:nvPr/>
        </p:nvSpPr>
        <p:spPr>
          <a:xfrm>
            <a:off x="8065008" y="4023360"/>
            <a:ext cx="137160" cy="1828800"/>
          </a:xfrm>
          <a:prstGeom prst="roundRect">
            <a:avLst>
              <a:gd name="adj" fmla="val 13333"/>
            </a:avLst>
          </a:prstGeom>
          <a:solidFill>
            <a:srgbClr val="B7791F"/>
          </a:solidFill>
          <a:ln/>
        </p:spPr>
      </p:sp>
      <p:sp>
        <p:nvSpPr>
          <p:cNvPr id="27" name="Text 25"/>
          <p:cNvSpPr/>
          <p:nvPr/>
        </p:nvSpPr>
        <p:spPr>
          <a:xfrm>
            <a:off x="8430768" y="422452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Free to use</a:t>
            </a:r>
            <a:endParaRPr lang="en-US" sz="1600" dirty="0"/>
          </a:p>
        </p:txBody>
      </p:sp>
      <p:sp>
        <p:nvSpPr>
          <p:cNvPr id="28" name="Text 26"/>
          <p:cNvSpPr/>
          <p:nvPr/>
        </p:nvSpPr>
        <p:spPr>
          <a:xfrm>
            <a:off x="8430768" y="4754880"/>
            <a:ext cx="2843784" cy="91440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Organizations itself costs nothing — you just pay for what the accounts consume.</a:t>
            </a:r>
            <a:endParaRPr lang="en-US" sz="1300" dirty="0"/>
          </a:p>
        </p:txBody>
      </p:sp>
      <p:sp>
        <p:nvSpPr>
          <p:cNvPr id="29" name="Text 27"/>
          <p:cNvSpPr/>
          <p:nvPr/>
        </p:nvSpPr>
        <p:spPr>
          <a:xfrm>
            <a:off x="640080" y="5943600"/>
            <a:ext cx="10908792" cy="365760"/>
          </a:xfrm>
          <a:prstGeom prst="rect">
            <a:avLst/>
          </a:prstGeom>
          <a:noFill/>
          <a:ln/>
        </p:spPr>
        <p:txBody>
          <a:bodyPr wrap="square" rtlCol="0" anchor="ctr"/>
          <a:lstStyle/>
          <a:p>
            <a:pPr algn="ctr" indent="0" marL="0">
              <a:buNone/>
            </a:pPr>
            <a:r>
              <a:rPr lang="en-US" sz="1350" i="1" dirty="0">
                <a:solidFill>
                  <a:srgbClr val="5B6570"/>
                </a:solidFill>
                <a:latin typeface="Calibri" pitchFamily="34" charset="0"/>
                <a:ea typeface="Calibri" pitchFamily="34" charset="-122"/>
                <a:cs typeface="Calibri" pitchFamily="34" charset="-120"/>
              </a:rPr>
              <a:t>Exam cue:  “restrict what an entire account can do, regardless of its IAM policies” → Service Control Policy.</a:t>
            </a:r>
            <a:endParaRPr lang="en-US" sz="1350" dirty="0"/>
          </a:p>
        </p:txBody>
      </p:sp>
      <p:sp>
        <p:nvSpPr>
          <p:cNvPr id="30" name="Text 28"/>
          <p:cNvSpPr/>
          <p:nvPr/>
        </p:nvSpPr>
        <p:spPr>
          <a:xfrm>
            <a:off x="640080" y="6473952"/>
            <a:ext cx="5943600" cy="274320"/>
          </a:xfrm>
          <a:prstGeom prst="rect">
            <a:avLst/>
          </a:prstGeom>
          <a:noFill/>
          <a:ln/>
        </p:spPr>
        <p:txBody>
          <a:bodyPr wrap="square" rtlCol="0" anchor="ctr"/>
          <a:lstStyle/>
          <a:p>
            <a:pPr indent="0" marL="0">
              <a:buNone/>
            </a:pPr>
            <a:r>
              <a:rPr lang="en-US" sz="900" dirty="0">
                <a:solidFill>
                  <a:srgbClr val="5B6570"/>
                </a:solidFill>
                <a:latin typeface="Calibri" pitchFamily="34" charset="0"/>
                <a:ea typeface="Calibri" pitchFamily="34" charset="-122"/>
                <a:cs typeface="Calibri" pitchFamily="34" charset="-120"/>
              </a:rPr>
              <a:t>AWS SAA-A  ·  Lecture 2  ·  Cloud Economics &amp; Billing</a:t>
            </a:r>
            <a:endParaRPr lang="en-US" sz="900" dirty="0"/>
          </a:p>
        </p:txBody>
      </p:sp>
      <p:sp>
        <p:nvSpPr>
          <p:cNvPr id="31" name="Text 29"/>
          <p:cNvSpPr/>
          <p:nvPr/>
        </p:nvSpPr>
        <p:spPr>
          <a:xfrm>
            <a:off x="11000232" y="6473952"/>
            <a:ext cx="548640" cy="274320"/>
          </a:xfrm>
          <a:prstGeom prst="rect">
            <a:avLst/>
          </a:prstGeom>
          <a:noFill/>
          <a:ln/>
        </p:spPr>
        <p:txBody>
          <a:bodyPr wrap="square" rtlCol="0" anchor="ctr"/>
          <a:lstStyle/>
          <a:p>
            <a:pPr algn="r" indent="0" marL="0">
              <a:buNone/>
            </a:pPr>
            <a:r>
              <a:rPr lang="en-US" sz="900" dirty="0">
                <a:solidFill>
                  <a:srgbClr val="5B657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32F3E"/>
        </a:solidFill>
      </p:bgPr>
    </p:bg>
    <p:spTree>
      <p:nvGrpSpPr>
        <p:cNvPr id="1" name=""/>
        <p:cNvGrpSpPr/>
        <p:nvPr/>
      </p:nvGrpSpPr>
      <p:grpSpPr>
        <a:xfrm>
          <a:off x="0" y="0"/>
          <a:ext cx="0" cy="0"/>
          <a:chOff x="0" y="0"/>
          <a:chExt cx="0" cy="0"/>
        </a:xfrm>
      </p:grpSpPr>
      <p:sp>
        <p:nvSpPr>
          <p:cNvPr id="2" name="Text 0"/>
          <p:cNvSpPr/>
          <p:nvPr/>
        </p:nvSpPr>
        <p:spPr>
          <a:xfrm>
            <a:off x="640080" y="502920"/>
            <a:ext cx="8229600" cy="320040"/>
          </a:xfrm>
          <a:prstGeom prst="rect">
            <a:avLst/>
          </a:prstGeom>
          <a:noFill/>
          <a:ln/>
        </p:spPr>
        <p:txBody>
          <a:bodyPr wrap="square" rtlCol="0" anchor="ctr"/>
          <a:lstStyle/>
          <a:p>
            <a:pPr indent="0" marL="0">
              <a:buNone/>
            </a:pPr>
            <a:r>
              <a:rPr lang="en-US" sz="1200" b="1" spc="200" kern="0" dirty="0">
                <a:solidFill>
                  <a:srgbClr val="FF9900"/>
                </a:solidFill>
                <a:latin typeface="Calibri" pitchFamily="34" charset="0"/>
                <a:ea typeface="Calibri" pitchFamily="34" charset="-122"/>
                <a:cs typeface="Calibri" pitchFamily="34" charset="-120"/>
              </a:rPr>
              <a:t>THE FOUR TOOLS YOU MUST KNOW</a:t>
            </a:r>
            <a:endParaRPr lang="en-US" sz="1200" dirty="0"/>
          </a:p>
        </p:txBody>
      </p:sp>
      <p:sp>
        <p:nvSpPr>
          <p:cNvPr id="3" name="Text 1"/>
          <p:cNvSpPr/>
          <p:nvPr/>
        </p:nvSpPr>
        <p:spPr>
          <a:xfrm>
            <a:off x="640080" y="822960"/>
            <a:ext cx="105156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Billing and Cost Management</a:t>
            </a:r>
            <a:endParaRPr lang="en-US" sz="3200" dirty="0"/>
          </a:p>
        </p:txBody>
      </p:sp>
      <p:sp>
        <p:nvSpPr>
          <p:cNvPr id="4" name="Text 2"/>
          <p:cNvSpPr/>
          <p:nvPr/>
        </p:nvSpPr>
        <p:spPr>
          <a:xfrm>
            <a:off x="640080" y="1508760"/>
            <a:ext cx="10515600" cy="365760"/>
          </a:xfrm>
          <a:prstGeom prst="rect">
            <a:avLst/>
          </a:prstGeom>
          <a:noFill/>
          <a:ln/>
        </p:spPr>
        <p:txBody>
          <a:bodyPr wrap="square" rtlCol="0" anchor="ctr"/>
          <a:lstStyle/>
          <a:p>
            <a:pPr indent="0" marL="0">
              <a:buNone/>
            </a:pPr>
            <a:r>
              <a:rPr lang="en-US" sz="1500" i="1" dirty="0">
                <a:solidFill>
                  <a:srgbClr val="AEB9C6"/>
                </a:solidFill>
                <a:latin typeface="Calibri" pitchFamily="34" charset="0"/>
                <a:ea typeface="Calibri" pitchFamily="34" charset="-122"/>
                <a:cs typeface="Calibri" pitchFamily="34" charset="-120"/>
              </a:rPr>
              <a:t>Each answers a different question. The exam tests which tool for which question.</a:t>
            </a:r>
            <a:endParaRPr lang="en-US" sz="1500" dirty="0"/>
          </a:p>
        </p:txBody>
      </p:sp>
      <p:sp>
        <p:nvSpPr>
          <p:cNvPr id="5" name="Shape 3"/>
          <p:cNvSpPr/>
          <p:nvPr/>
        </p:nvSpPr>
        <p:spPr>
          <a:xfrm>
            <a:off x="640080" y="2103120"/>
            <a:ext cx="5257800" cy="1828800"/>
          </a:xfrm>
          <a:prstGeom prst="roundRect">
            <a:avLst>
              <a:gd name="adj" fmla="val 6000"/>
            </a:avLst>
          </a:prstGeom>
          <a:solidFill>
            <a:srgbClr val="2E3E52"/>
          </a:solidFill>
          <a:ln/>
        </p:spPr>
      </p:sp>
      <p:sp>
        <p:nvSpPr>
          <p:cNvPr id="6" name="Text 4"/>
          <p:cNvSpPr/>
          <p:nvPr/>
        </p:nvSpPr>
        <p:spPr>
          <a:xfrm>
            <a:off x="1005840" y="2286000"/>
            <a:ext cx="4572000" cy="384048"/>
          </a:xfrm>
          <a:prstGeom prst="rect">
            <a:avLst/>
          </a:prstGeom>
          <a:noFill/>
          <a:ln/>
        </p:spPr>
        <p:txBody>
          <a:bodyPr wrap="square" rtlCol="0" anchor="ctr"/>
          <a:lstStyle/>
          <a:p>
            <a:pPr indent="0" marL="0">
              <a:buNone/>
            </a:pPr>
            <a:r>
              <a:rPr lang="en-US" sz="1900" b="1" dirty="0">
                <a:solidFill>
                  <a:srgbClr val="1E8FA5"/>
                </a:solidFill>
                <a:latin typeface="Calibri" pitchFamily="34" charset="0"/>
                <a:ea typeface="Calibri" pitchFamily="34" charset="-122"/>
                <a:cs typeface="Calibri" pitchFamily="34" charset="-120"/>
              </a:rPr>
              <a:t>AWS Bills</a:t>
            </a:r>
            <a:endParaRPr lang="en-US" sz="1900" dirty="0"/>
          </a:p>
        </p:txBody>
      </p:sp>
      <p:sp>
        <p:nvSpPr>
          <p:cNvPr id="7" name="Text 5"/>
          <p:cNvSpPr/>
          <p:nvPr/>
        </p:nvSpPr>
        <p:spPr>
          <a:xfrm>
            <a:off x="1005840" y="2697480"/>
            <a:ext cx="4572000" cy="320040"/>
          </a:xfrm>
          <a:prstGeom prst="rect">
            <a:avLst/>
          </a:prstGeom>
          <a:noFill/>
          <a:ln/>
        </p:spPr>
        <p:txBody>
          <a:bodyPr wrap="square"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“What do I owe this month?”</a:t>
            </a:r>
            <a:endParaRPr lang="en-US" sz="1400" dirty="0"/>
          </a:p>
        </p:txBody>
      </p:sp>
      <p:sp>
        <p:nvSpPr>
          <p:cNvPr id="8" name="Text 6"/>
          <p:cNvSpPr/>
          <p:nvPr/>
        </p:nvSpPr>
        <p:spPr>
          <a:xfrm>
            <a:off x="1005840" y="3063240"/>
            <a:ext cx="4572000" cy="731520"/>
          </a:xfrm>
          <a:prstGeom prst="rect">
            <a:avLst/>
          </a:prstGeom>
          <a:noFill/>
          <a:ln/>
        </p:spPr>
        <p:txBody>
          <a:bodyPr wrap="square" rtlCol="0" anchor="ctr"/>
          <a:lstStyle/>
          <a:p>
            <a:pPr indent="0" marL="0">
              <a:lnSpc>
                <a:spcPct val="103000"/>
              </a:lnSpc>
              <a:buNone/>
            </a:pPr>
            <a:r>
              <a:rPr lang="en-US" sz="1350" dirty="0">
                <a:solidFill>
                  <a:srgbClr val="C7D2DE"/>
                </a:solidFill>
                <a:latin typeface="Calibri" pitchFamily="34" charset="0"/>
                <a:ea typeface="Calibri" pitchFamily="34" charset="-122"/>
                <a:cs typeface="Calibri" pitchFamily="34" charset="-120"/>
              </a:rPr>
              <a:t>The itemized invoice — charges broken out by service and by account.</a:t>
            </a:r>
            <a:endParaRPr lang="en-US" sz="1350" dirty="0"/>
          </a:p>
        </p:txBody>
      </p:sp>
      <p:sp>
        <p:nvSpPr>
          <p:cNvPr id="9" name="Shape 7"/>
          <p:cNvSpPr/>
          <p:nvPr/>
        </p:nvSpPr>
        <p:spPr>
          <a:xfrm>
            <a:off x="6217920" y="2103120"/>
            <a:ext cx="5257800" cy="1828800"/>
          </a:xfrm>
          <a:prstGeom prst="roundRect">
            <a:avLst>
              <a:gd name="adj" fmla="val 6000"/>
            </a:avLst>
          </a:prstGeom>
          <a:solidFill>
            <a:srgbClr val="2E3E52"/>
          </a:solidFill>
          <a:ln/>
        </p:spPr>
      </p:sp>
      <p:sp>
        <p:nvSpPr>
          <p:cNvPr id="10" name="Text 8"/>
          <p:cNvSpPr/>
          <p:nvPr/>
        </p:nvSpPr>
        <p:spPr>
          <a:xfrm>
            <a:off x="6583680" y="2286000"/>
            <a:ext cx="4572000" cy="384048"/>
          </a:xfrm>
          <a:prstGeom prst="rect">
            <a:avLst/>
          </a:prstGeom>
          <a:noFill/>
          <a:ln/>
        </p:spPr>
        <p:txBody>
          <a:bodyPr wrap="square" rtlCol="0" anchor="ctr"/>
          <a:lstStyle/>
          <a:p>
            <a:pPr indent="0" marL="0">
              <a:buNone/>
            </a:pPr>
            <a:r>
              <a:rPr lang="en-US" sz="1900" b="1" dirty="0">
                <a:solidFill>
                  <a:srgbClr val="FF9900"/>
                </a:solidFill>
                <a:latin typeface="Calibri" pitchFamily="34" charset="0"/>
                <a:ea typeface="Calibri" pitchFamily="34" charset="-122"/>
                <a:cs typeface="Calibri" pitchFamily="34" charset="-120"/>
              </a:rPr>
              <a:t>Cost Explorer</a:t>
            </a:r>
            <a:endParaRPr lang="en-US" sz="1900" dirty="0"/>
          </a:p>
        </p:txBody>
      </p:sp>
      <p:sp>
        <p:nvSpPr>
          <p:cNvPr id="11" name="Text 9"/>
          <p:cNvSpPr/>
          <p:nvPr/>
        </p:nvSpPr>
        <p:spPr>
          <a:xfrm>
            <a:off x="6583680" y="2697480"/>
            <a:ext cx="4572000" cy="320040"/>
          </a:xfrm>
          <a:prstGeom prst="rect">
            <a:avLst/>
          </a:prstGeom>
          <a:noFill/>
          <a:ln/>
        </p:spPr>
        <p:txBody>
          <a:bodyPr wrap="square"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“Where is the money going, and what's the trend?”</a:t>
            </a:r>
            <a:endParaRPr lang="en-US" sz="1400" dirty="0"/>
          </a:p>
        </p:txBody>
      </p:sp>
      <p:sp>
        <p:nvSpPr>
          <p:cNvPr id="12" name="Text 10"/>
          <p:cNvSpPr/>
          <p:nvPr/>
        </p:nvSpPr>
        <p:spPr>
          <a:xfrm>
            <a:off x="6583680" y="3063240"/>
            <a:ext cx="4572000" cy="731520"/>
          </a:xfrm>
          <a:prstGeom prst="rect">
            <a:avLst/>
          </a:prstGeom>
          <a:noFill/>
          <a:ln/>
        </p:spPr>
        <p:txBody>
          <a:bodyPr wrap="square" rtlCol="0" anchor="ctr"/>
          <a:lstStyle/>
          <a:p>
            <a:pPr indent="0" marL="0">
              <a:lnSpc>
                <a:spcPct val="103000"/>
              </a:lnSpc>
              <a:buNone/>
            </a:pPr>
            <a:r>
              <a:rPr lang="en-US" sz="1350" dirty="0">
                <a:solidFill>
                  <a:srgbClr val="C7D2DE"/>
                </a:solidFill>
                <a:latin typeface="Calibri" pitchFamily="34" charset="0"/>
                <a:ea typeface="Calibri" pitchFamily="34" charset="-122"/>
                <a:cs typeface="Calibri" pitchFamily="34" charset="-120"/>
              </a:rPr>
              <a:t>Visualize and filter spend over time; forecast future cost.</a:t>
            </a:r>
            <a:endParaRPr lang="en-US" sz="1350" dirty="0"/>
          </a:p>
        </p:txBody>
      </p:sp>
      <p:sp>
        <p:nvSpPr>
          <p:cNvPr id="13" name="Shape 11"/>
          <p:cNvSpPr/>
          <p:nvPr/>
        </p:nvSpPr>
        <p:spPr>
          <a:xfrm>
            <a:off x="640080" y="4114800"/>
            <a:ext cx="5257800" cy="1828800"/>
          </a:xfrm>
          <a:prstGeom prst="roundRect">
            <a:avLst>
              <a:gd name="adj" fmla="val 6000"/>
            </a:avLst>
          </a:prstGeom>
          <a:solidFill>
            <a:srgbClr val="2E3E52"/>
          </a:solidFill>
          <a:ln/>
        </p:spPr>
      </p:sp>
      <p:sp>
        <p:nvSpPr>
          <p:cNvPr id="14" name="Text 12"/>
          <p:cNvSpPr/>
          <p:nvPr/>
        </p:nvSpPr>
        <p:spPr>
          <a:xfrm>
            <a:off x="1005840" y="4297680"/>
            <a:ext cx="4572000" cy="384048"/>
          </a:xfrm>
          <a:prstGeom prst="rect">
            <a:avLst/>
          </a:prstGeom>
          <a:noFill/>
          <a:ln/>
        </p:spPr>
        <p:txBody>
          <a:bodyPr wrap="square" rtlCol="0" anchor="ctr"/>
          <a:lstStyle/>
          <a:p>
            <a:pPr indent="0" marL="0">
              <a:buNone/>
            </a:pPr>
            <a:r>
              <a:rPr lang="en-US" sz="1900" b="1" dirty="0">
                <a:solidFill>
                  <a:srgbClr val="5FD08A"/>
                </a:solidFill>
                <a:latin typeface="Calibri" pitchFamily="34" charset="0"/>
                <a:ea typeface="Calibri" pitchFamily="34" charset="-122"/>
                <a:cs typeface="Calibri" pitchFamily="34" charset="-120"/>
              </a:rPr>
              <a:t>AWS Budgets</a:t>
            </a:r>
            <a:endParaRPr lang="en-US" sz="1900" dirty="0"/>
          </a:p>
        </p:txBody>
      </p:sp>
      <p:sp>
        <p:nvSpPr>
          <p:cNvPr id="15" name="Text 13"/>
          <p:cNvSpPr/>
          <p:nvPr/>
        </p:nvSpPr>
        <p:spPr>
          <a:xfrm>
            <a:off x="1005840" y="4709160"/>
            <a:ext cx="4572000" cy="320040"/>
          </a:xfrm>
          <a:prstGeom prst="rect">
            <a:avLst/>
          </a:prstGeom>
          <a:noFill/>
          <a:ln/>
        </p:spPr>
        <p:txBody>
          <a:bodyPr wrap="square"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“Tell me BEFORE I overspend.”</a:t>
            </a:r>
            <a:endParaRPr lang="en-US" sz="1400" dirty="0"/>
          </a:p>
        </p:txBody>
      </p:sp>
      <p:sp>
        <p:nvSpPr>
          <p:cNvPr id="16" name="Text 14"/>
          <p:cNvSpPr/>
          <p:nvPr/>
        </p:nvSpPr>
        <p:spPr>
          <a:xfrm>
            <a:off x="1005840" y="5074920"/>
            <a:ext cx="4572000" cy="731520"/>
          </a:xfrm>
          <a:prstGeom prst="rect">
            <a:avLst/>
          </a:prstGeom>
          <a:noFill/>
          <a:ln/>
        </p:spPr>
        <p:txBody>
          <a:bodyPr wrap="square" rtlCol="0" anchor="ctr"/>
          <a:lstStyle/>
          <a:p>
            <a:pPr indent="0" marL="0">
              <a:lnSpc>
                <a:spcPct val="103000"/>
              </a:lnSpc>
              <a:buNone/>
            </a:pPr>
            <a:r>
              <a:rPr lang="en-US" sz="1350" dirty="0">
                <a:solidFill>
                  <a:srgbClr val="C7D2DE"/>
                </a:solidFill>
                <a:latin typeface="Calibri" pitchFamily="34" charset="0"/>
                <a:ea typeface="Calibri" pitchFamily="34" charset="-122"/>
                <a:cs typeface="Calibri" pitchFamily="34" charset="-120"/>
              </a:rPr>
              <a:t>Set thresholds and get alerted — or trigger an action — when you approach them.</a:t>
            </a:r>
            <a:endParaRPr lang="en-US" sz="1350" dirty="0"/>
          </a:p>
        </p:txBody>
      </p:sp>
      <p:sp>
        <p:nvSpPr>
          <p:cNvPr id="17" name="Shape 15"/>
          <p:cNvSpPr/>
          <p:nvPr/>
        </p:nvSpPr>
        <p:spPr>
          <a:xfrm>
            <a:off x="6217920" y="4114800"/>
            <a:ext cx="5257800" cy="1828800"/>
          </a:xfrm>
          <a:prstGeom prst="roundRect">
            <a:avLst>
              <a:gd name="adj" fmla="val 6000"/>
            </a:avLst>
          </a:prstGeom>
          <a:solidFill>
            <a:srgbClr val="2E3E52"/>
          </a:solidFill>
          <a:ln/>
        </p:spPr>
      </p:sp>
      <p:sp>
        <p:nvSpPr>
          <p:cNvPr id="18" name="Text 16"/>
          <p:cNvSpPr/>
          <p:nvPr/>
        </p:nvSpPr>
        <p:spPr>
          <a:xfrm>
            <a:off x="6583680" y="4297680"/>
            <a:ext cx="4572000" cy="384048"/>
          </a:xfrm>
          <a:prstGeom prst="rect">
            <a:avLst/>
          </a:prstGeom>
          <a:noFill/>
          <a:ln/>
        </p:spPr>
        <p:txBody>
          <a:bodyPr wrap="square" rtlCol="0" anchor="ctr"/>
          <a:lstStyle/>
          <a:p>
            <a:pPr indent="0" marL="0">
              <a:buNone/>
            </a:pPr>
            <a:r>
              <a:rPr lang="en-US" sz="1900" b="1" dirty="0">
                <a:solidFill>
                  <a:srgbClr val="9AA8FF"/>
                </a:solidFill>
                <a:latin typeface="Calibri" pitchFamily="34" charset="0"/>
                <a:ea typeface="Calibri" pitchFamily="34" charset="-122"/>
                <a:cs typeface="Calibri" pitchFamily="34" charset="-120"/>
              </a:rPr>
              <a:t>Cost &amp; Usage Report</a:t>
            </a:r>
            <a:endParaRPr lang="en-US" sz="1900" dirty="0"/>
          </a:p>
        </p:txBody>
      </p:sp>
      <p:sp>
        <p:nvSpPr>
          <p:cNvPr id="19" name="Text 17"/>
          <p:cNvSpPr/>
          <p:nvPr/>
        </p:nvSpPr>
        <p:spPr>
          <a:xfrm>
            <a:off x="6583680" y="4709160"/>
            <a:ext cx="4572000" cy="320040"/>
          </a:xfrm>
          <a:prstGeom prst="rect">
            <a:avLst/>
          </a:prstGeom>
          <a:noFill/>
          <a:ln/>
        </p:spPr>
        <p:txBody>
          <a:bodyPr wrap="square"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“Give me every line item, raw.”</a:t>
            </a:r>
            <a:endParaRPr lang="en-US" sz="1400" dirty="0"/>
          </a:p>
        </p:txBody>
      </p:sp>
      <p:sp>
        <p:nvSpPr>
          <p:cNvPr id="20" name="Text 18"/>
          <p:cNvSpPr/>
          <p:nvPr/>
        </p:nvSpPr>
        <p:spPr>
          <a:xfrm>
            <a:off x="6583680" y="5074920"/>
            <a:ext cx="4572000" cy="731520"/>
          </a:xfrm>
          <a:prstGeom prst="rect">
            <a:avLst/>
          </a:prstGeom>
          <a:noFill/>
          <a:ln/>
        </p:spPr>
        <p:txBody>
          <a:bodyPr wrap="square" rtlCol="0" anchor="ctr"/>
          <a:lstStyle/>
          <a:p>
            <a:pPr indent="0" marL="0">
              <a:lnSpc>
                <a:spcPct val="103000"/>
              </a:lnSpc>
              <a:buNone/>
            </a:pPr>
            <a:r>
              <a:rPr lang="en-US" sz="1350" dirty="0">
                <a:solidFill>
                  <a:srgbClr val="C7D2DE"/>
                </a:solidFill>
                <a:latin typeface="Calibri" pitchFamily="34" charset="0"/>
                <a:ea typeface="Calibri" pitchFamily="34" charset="-122"/>
                <a:cs typeface="Calibri" pitchFamily="34" charset="-120"/>
              </a:rPr>
              <a:t>The most granular data available, for deep analysis in a data tool.</a:t>
            </a:r>
            <a:endParaRPr lang="en-US" sz="1350" dirty="0"/>
          </a:p>
        </p:txBody>
      </p:sp>
      <p:sp>
        <p:nvSpPr>
          <p:cNvPr id="21" name="Text 19"/>
          <p:cNvSpPr/>
          <p:nvPr/>
        </p:nvSpPr>
        <p:spPr>
          <a:xfrm>
            <a:off x="640080" y="6473952"/>
            <a:ext cx="5943600" cy="274320"/>
          </a:xfrm>
          <a:prstGeom prst="rect">
            <a:avLst/>
          </a:prstGeom>
          <a:noFill/>
          <a:ln/>
        </p:spPr>
        <p:txBody>
          <a:bodyPr wrap="square" rtlCol="0" anchor="ctr"/>
          <a:lstStyle/>
          <a:p>
            <a:pPr indent="0" marL="0">
              <a:buNone/>
            </a:pPr>
            <a:r>
              <a:rPr lang="en-US" sz="900" dirty="0">
                <a:solidFill>
                  <a:srgbClr val="5B6570"/>
                </a:solidFill>
                <a:latin typeface="Calibri" pitchFamily="34" charset="0"/>
                <a:ea typeface="Calibri" pitchFamily="34" charset="-122"/>
                <a:cs typeface="Calibri" pitchFamily="34" charset="-120"/>
              </a:rPr>
              <a:t>AWS SAA-A  ·  Lecture 2  ·  Cloud Economics &amp; Billing</a:t>
            </a:r>
            <a:endParaRPr lang="en-US" sz="900" dirty="0"/>
          </a:p>
        </p:txBody>
      </p:sp>
      <p:sp>
        <p:nvSpPr>
          <p:cNvPr id="22" name="Text 20"/>
          <p:cNvSpPr/>
          <p:nvPr/>
        </p:nvSpPr>
        <p:spPr>
          <a:xfrm>
            <a:off x="11000232" y="6473952"/>
            <a:ext cx="548640" cy="274320"/>
          </a:xfrm>
          <a:prstGeom prst="rect">
            <a:avLst/>
          </a:prstGeom>
          <a:noFill/>
          <a:ln/>
        </p:spPr>
        <p:txBody>
          <a:bodyPr wrap="square" rtlCol="0" anchor="ctr"/>
          <a:lstStyle/>
          <a:p>
            <a:pPr algn="r" indent="0" marL="0">
              <a:buNone/>
            </a:pPr>
            <a:r>
              <a:rPr lang="en-US" sz="900" dirty="0">
                <a:solidFill>
                  <a:srgbClr val="5B657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457200"/>
            <a:ext cx="10908792" cy="274320"/>
          </a:xfrm>
          <a:prstGeom prst="rect">
            <a:avLst/>
          </a:prstGeom>
          <a:noFill/>
          <a:ln/>
        </p:spPr>
        <p:txBody>
          <a:bodyPr wrap="square" rtlCol="0" anchor="ctr"/>
          <a:lstStyle/>
          <a:p>
            <a:pPr indent="0" marL="0">
              <a:buNone/>
            </a:pPr>
            <a:r>
              <a:rPr lang="en-US" sz="1200" b="1" spc="200" kern="0" dirty="0">
                <a:solidFill>
                  <a:srgbClr val="EC7211"/>
                </a:solidFill>
                <a:latin typeface="Calibri" pitchFamily="34" charset="0"/>
                <a:ea typeface="Calibri" pitchFamily="34" charset="-122"/>
                <a:cs typeface="Calibri" pitchFamily="34" charset="-120"/>
              </a:rPr>
              <a:t>THE ONE YOU'LL USE TONIGHT</a:t>
            </a:r>
            <a:endParaRPr lang="en-US" sz="1200" dirty="0"/>
          </a:p>
        </p:txBody>
      </p:sp>
      <p:sp>
        <p:nvSpPr>
          <p:cNvPr id="3" name="Text 1"/>
          <p:cNvSpPr/>
          <p:nvPr/>
        </p:nvSpPr>
        <p:spPr>
          <a:xfrm>
            <a:off x="640080" y="731520"/>
            <a:ext cx="10908792" cy="640080"/>
          </a:xfrm>
          <a:prstGeom prst="rect">
            <a:avLst/>
          </a:prstGeom>
          <a:noFill/>
          <a:ln/>
        </p:spPr>
        <p:txBody>
          <a:bodyPr wrap="square" rtlCol="0" anchor="ctr"/>
          <a:lstStyle/>
          <a:p>
            <a:pPr indent="0" marL="0">
              <a:buNone/>
            </a:pPr>
            <a:r>
              <a:rPr lang="en-US" sz="3200" b="1" dirty="0">
                <a:solidFill>
                  <a:srgbClr val="232F3E"/>
                </a:solidFill>
                <a:latin typeface="Calibri" pitchFamily="34" charset="0"/>
                <a:ea typeface="Calibri" pitchFamily="34" charset="-122"/>
                <a:cs typeface="Calibri" pitchFamily="34" charset="-120"/>
              </a:rPr>
              <a:t>AWS Budgets — Your Safety Net</a:t>
            </a:r>
            <a:endParaRPr lang="en-US" sz="3200" dirty="0"/>
          </a:p>
        </p:txBody>
      </p:sp>
      <p:sp>
        <p:nvSpPr>
          <p:cNvPr id="4" name="Text 2"/>
          <p:cNvSpPr/>
          <p:nvPr/>
        </p:nvSpPr>
        <p:spPr>
          <a:xfrm>
            <a:off x="640080" y="1417320"/>
            <a:ext cx="10908792" cy="365760"/>
          </a:xfrm>
          <a:prstGeom prst="rect">
            <a:avLst/>
          </a:prstGeom>
          <a:noFill/>
          <a:ln/>
        </p:spPr>
        <p:txBody>
          <a:bodyPr wrap="square" rtlCol="0" anchor="ctr"/>
          <a:lstStyle/>
          <a:p>
            <a:pPr indent="0" marL="0">
              <a:buNone/>
            </a:pPr>
            <a:r>
              <a:rPr lang="en-US" sz="1500" i="1" dirty="0">
                <a:solidFill>
                  <a:srgbClr val="5B6570"/>
                </a:solidFill>
                <a:latin typeface="Calibri" pitchFamily="34" charset="0"/>
                <a:ea typeface="Calibri" pitchFamily="34" charset="-122"/>
                <a:cs typeface="Calibri" pitchFamily="34" charset="-120"/>
              </a:rPr>
              <a:t>Remember the billing alert I told you to set in Lecture 1? This is the service behind it.</a:t>
            </a:r>
            <a:endParaRPr lang="en-US" sz="1500" dirty="0"/>
          </a:p>
        </p:txBody>
      </p:sp>
      <p:sp>
        <p:nvSpPr>
          <p:cNvPr id="5" name="Shape 3"/>
          <p:cNvSpPr/>
          <p:nvPr/>
        </p:nvSpPr>
        <p:spPr>
          <a:xfrm>
            <a:off x="640080" y="1920240"/>
            <a:ext cx="5394960" cy="3794760"/>
          </a:xfrm>
          <a:prstGeom prst="roundRect">
            <a:avLst>
              <a:gd name="adj" fmla="val 2892"/>
            </a:avLst>
          </a:prstGeom>
          <a:solidFill>
            <a:srgbClr val="FFFFFF"/>
          </a:solidFill>
          <a:ln w="12700">
            <a:solidFill>
              <a:srgbClr val="DCE1E6"/>
            </a:solidFill>
            <a:prstDash val="solid"/>
          </a:ln>
          <a:effectLst>
            <a:outerShdw sx="100000" sy="100000" kx="0" ky="0" algn="bl" rotWithShape="0" blurRad="101600" dist="38100" dir="5400000">
              <a:srgbClr val="C6CDD4">
                <a:alpha val="50000"/>
              </a:srgbClr>
            </a:outerShdw>
          </a:effectLst>
        </p:spPr>
      </p:sp>
      <p:sp>
        <p:nvSpPr>
          <p:cNvPr id="6" name="Text 4"/>
          <p:cNvSpPr/>
          <p:nvPr/>
        </p:nvSpPr>
        <p:spPr>
          <a:xfrm>
            <a:off x="1005840" y="2148840"/>
            <a:ext cx="4663440" cy="320040"/>
          </a:xfrm>
          <a:prstGeom prst="rect">
            <a:avLst/>
          </a:prstGeom>
          <a:noFill/>
          <a:ln/>
        </p:spPr>
        <p:txBody>
          <a:bodyPr wrap="square" rtlCol="0" anchor="ctr"/>
          <a:lstStyle/>
          <a:p>
            <a:pPr indent="0" marL="0">
              <a:buNone/>
            </a:pPr>
            <a:r>
              <a:rPr lang="en-US" sz="1200" b="1" spc="200" kern="0" dirty="0">
                <a:solidFill>
                  <a:srgbClr val="1E8FA5"/>
                </a:solidFill>
                <a:latin typeface="Calibri" pitchFamily="34" charset="0"/>
                <a:ea typeface="Calibri" pitchFamily="34" charset="-122"/>
                <a:cs typeface="Calibri" pitchFamily="34" charset="-120"/>
              </a:rPr>
              <a:t>WHAT YOU CAN BUDGET</a:t>
            </a:r>
            <a:endParaRPr lang="en-US" sz="1200" dirty="0"/>
          </a:p>
        </p:txBody>
      </p:sp>
      <p:sp>
        <p:nvSpPr>
          <p:cNvPr id="7" name="Text 5"/>
          <p:cNvSpPr/>
          <p:nvPr/>
        </p:nvSpPr>
        <p:spPr>
          <a:xfrm>
            <a:off x="1005840" y="2606040"/>
            <a:ext cx="4663440" cy="320040"/>
          </a:xfrm>
          <a:prstGeom prst="rect">
            <a:avLst/>
          </a:prstGeom>
          <a:noFill/>
          <a:ln/>
        </p:spPr>
        <p:txBody>
          <a:bodyPr wrap="square" rtlCol="0" anchor="ctr"/>
          <a:lstStyle/>
          <a:p>
            <a:pPr indent="0" marL="0">
              <a:buNone/>
            </a:pPr>
            <a:r>
              <a:rPr lang="en-US" sz="1550" b="1" dirty="0">
                <a:solidFill>
                  <a:srgbClr val="232F3E"/>
                </a:solidFill>
                <a:latin typeface="Calibri" pitchFamily="34" charset="0"/>
                <a:ea typeface="Calibri" pitchFamily="34" charset="-122"/>
                <a:cs typeface="Calibri" pitchFamily="34" charset="-120"/>
              </a:rPr>
              <a:t>Cost budget</a:t>
            </a:r>
            <a:endParaRPr lang="en-US" sz="1550" dirty="0"/>
          </a:p>
        </p:txBody>
      </p:sp>
      <p:sp>
        <p:nvSpPr>
          <p:cNvPr id="8" name="Text 6"/>
          <p:cNvSpPr/>
          <p:nvPr/>
        </p:nvSpPr>
        <p:spPr>
          <a:xfrm>
            <a:off x="1005840" y="2907792"/>
            <a:ext cx="4663440" cy="365760"/>
          </a:xfrm>
          <a:prstGeom prst="rect">
            <a:avLst/>
          </a:prstGeom>
          <a:noFill/>
          <a:ln/>
        </p:spPr>
        <p:txBody>
          <a:bodyPr wrap="square" rtlCol="0" anchor="ctr"/>
          <a:lstStyle/>
          <a:p>
            <a:pPr indent="0" marL="0">
              <a:buNone/>
            </a:pPr>
            <a:r>
              <a:rPr lang="en-US" sz="1300" dirty="0">
                <a:solidFill>
                  <a:srgbClr val="5B6570"/>
                </a:solidFill>
                <a:latin typeface="Calibri" pitchFamily="34" charset="0"/>
                <a:ea typeface="Calibri" pitchFamily="34" charset="-122"/>
                <a:cs typeface="Calibri" pitchFamily="34" charset="-120"/>
              </a:rPr>
              <a:t>alert when spend passes a dollar threshold</a:t>
            </a:r>
            <a:endParaRPr lang="en-US" sz="1300" dirty="0"/>
          </a:p>
        </p:txBody>
      </p:sp>
      <p:sp>
        <p:nvSpPr>
          <p:cNvPr id="9" name="Text 7"/>
          <p:cNvSpPr/>
          <p:nvPr/>
        </p:nvSpPr>
        <p:spPr>
          <a:xfrm>
            <a:off x="1005840" y="3383280"/>
            <a:ext cx="4663440" cy="320040"/>
          </a:xfrm>
          <a:prstGeom prst="rect">
            <a:avLst/>
          </a:prstGeom>
          <a:noFill/>
          <a:ln/>
        </p:spPr>
        <p:txBody>
          <a:bodyPr wrap="square" rtlCol="0" anchor="ctr"/>
          <a:lstStyle/>
          <a:p>
            <a:pPr indent="0" marL="0">
              <a:buNone/>
            </a:pPr>
            <a:r>
              <a:rPr lang="en-US" sz="1550" b="1" dirty="0">
                <a:solidFill>
                  <a:srgbClr val="232F3E"/>
                </a:solidFill>
                <a:latin typeface="Calibri" pitchFamily="34" charset="0"/>
                <a:ea typeface="Calibri" pitchFamily="34" charset="-122"/>
                <a:cs typeface="Calibri" pitchFamily="34" charset="-120"/>
              </a:rPr>
              <a:t>Usage budget</a:t>
            </a:r>
            <a:endParaRPr lang="en-US" sz="1550" dirty="0"/>
          </a:p>
        </p:txBody>
      </p:sp>
      <p:sp>
        <p:nvSpPr>
          <p:cNvPr id="10" name="Text 8"/>
          <p:cNvSpPr/>
          <p:nvPr/>
        </p:nvSpPr>
        <p:spPr>
          <a:xfrm>
            <a:off x="1005840" y="3685032"/>
            <a:ext cx="4663440" cy="365760"/>
          </a:xfrm>
          <a:prstGeom prst="rect">
            <a:avLst/>
          </a:prstGeom>
          <a:noFill/>
          <a:ln/>
        </p:spPr>
        <p:txBody>
          <a:bodyPr wrap="square" rtlCol="0" anchor="ctr"/>
          <a:lstStyle/>
          <a:p>
            <a:pPr indent="0" marL="0">
              <a:buNone/>
            </a:pPr>
            <a:r>
              <a:rPr lang="en-US" sz="1300" dirty="0">
                <a:solidFill>
                  <a:srgbClr val="5B6570"/>
                </a:solidFill>
                <a:latin typeface="Calibri" pitchFamily="34" charset="0"/>
                <a:ea typeface="Calibri" pitchFamily="34" charset="-122"/>
                <a:cs typeface="Calibri" pitchFamily="34" charset="-120"/>
              </a:rPr>
              <a:t>alert on hours, GB, or requests consumed</a:t>
            </a:r>
            <a:endParaRPr lang="en-US" sz="1300" dirty="0"/>
          </a:p>
        </p:txBody>
      </p:sp>
      <p:sp>
        <p:nvSpPr>
          <p:cNvPr id="11" name="Text 9"/>
          <p:cNvSpPr/>
          <p:nvPr/>
        </p:nvSpPr>
        <p:spPr>
          <a:xfrm>
            <a:off x="1005840" y="4160520"/>
            <a:ext cx="4663440" cy="320040"/>
          </a:xfrm>
          <a:prstGeom prst="rect">
            <a:avLst/>
          </a:prstGeom>
          <a:noFill/>
          <a:ln/>
        </p:spPr>
        <p:txBody>
          <a:bodyPr wrap="square" rtlCol="0" anchor="ctr"/>
          <a:lstStyle/>
          <a:p>
            <a:pPr indent="0" marL="0">
              <a:buNone/>
            </a:pPr>
            <a:r>
              <a:rPr lang="en-US" sz="1550" b="1" dirty="0">
                <a:solidFill>
                  <a:srgbClr val="232F3E"/>
                </a:solidFill>
                <a:latin typeface="Calibri" pitchFamily="34" charset="0"/>
                <a:ea typeface="Calibri" pitchFamily="34" charset="-122"/>
                <a:cs typeface="Calibri" pitchFamily="34" charset="-120"/>
              </a:rPr>
              <a:t>Reservation budget</a:t>
            </a:r>
            <a:endParaRPr lang="en-US" sz="1550" dirty="0"/>
          </a:p>
        </p:txBody>
      </p:sp>
      <p:sp>
        <p:nvSpPr>
          <p:cNvPr id="12" name="Text 10"/>
          <p:cNvSpPr/>
          <p:nvPr/>
        </p:nvSpPr>
        <p:spPr>
          <a:xfrm>
            <a:off x="1005840" y="4462272"/>
            <a:ext cx="4663440" cy="365760"/>
          </a:xfrm>
          <a:prstGeom prst="rect">
            <a:avLst/>
          </a:prstGeom>
          <a:noFill/>
          <a:ln/>
        </p:spPr>
        <p:txBody>
          <a:bodyPr wrap="square" rtlCol="0" anchor="ctr"/>
          <a:lstStyle/>
          <a:p>
            <a:pPr indent="0" marL="0">
              <a:buNone/>
            </a:pPr>
            <a:r>
              <a:rPr lang="en-US" sz="1300" dirty="0">
                <a:solidFill>
                  <a:srgbClr val="5B6570"/>
                </a:solidFill>
                <a:latin typeface="Calibri" pitchFamily="34" charset="0"/>
                <a:ea typeface="Calibri" pitchFamily="34" charset="-122"/>
                <a:cs typeface="Calibri" pitchFamily="34" charset="-120"/>
              </a:rPr>
              <a:t>track how well your commitments are used</a:t>
            </a:r>
            <a:endParaRPr lang="en-US" sz="1300" dirty="0"/>
          </a:p>
        </p:txBody>
      </p:sp>
      <p:sp>
        <p:nvSpPr>
          <p:cNvPr id="13" name="Text 11"/>
          <p:cNvSpPr/>
          <p:nvPr/>
        </p:nvSpPr>
        <p:spPr>
          <a:xfrm>
            <a:off x="1005840" y="4937760"/>
            <a:ext cx="4663440" cy="320040"/>
          </a:xfrm>
          <a:prstGeom prst="rect">
            <a:avLst/>
          </a:prstGeom>
          <a:noFill/>
          <a:ln/>
        </p:spPr>
        <p:txBody>
          <a:bodyPr wrap="square" rtlCol="0" anchor="ctr"/>
          <a:lstStyle/>
          <a:p>
            <a:pPr indent="0" marL="0">
              <a:buNone/>
            </a:pPr>
            <a:r>
              <a:rPr lang="en-US" sz="1550" b="1" dirty="0">
                <a:solidFill>
                  <a:srgbClr val="232F3E"/>
                </a:solidFill>
                <a:latin typeface="Calibri" pitchFamily="34" charset="0"/>
                <a:ea typeface="Calibri" pitchFamily="34" charset="-122"/>
                <a:cs typeface="Calibri" pitchFamily="34" charset="-120"/>
              </a:rPr>
              <a:t>Savings Plans budget</a:t>
            </a:r>
            <a:endParaRPr lang="en-US" sz="1550" dirty="0"/>
          </a:p>
        </p:txBody>
      </p:sp>
      <p:sp>
        <p:nvSpPr>
          <p:cNvPr id="14" name="Text 12"/>
          <p:cNvSpPr/>
          <p:nvPr/>
        </p:nvSpPr>
        <p:spPr>
          <a:xfrm>
            <a:off x="1005840" y="5239512"/>
            <a:ext cx="4663440" cy="365760"/>
          </a:xfrm>
          <a:prstGeom prst="rect">
            <a:avLst/>
          </a:prstGeom>
          <a:noFill/>
          <a:ln/>
        </p:spPr>
        <p:txBody>
          <a:bodyPr wrap="square" rtlCol="0" anchor="ctr"/>
          <a:lstStyle/>
          <a:p>
            <a:pPr indent="0" marL="0">
              <a:buNone/>
            </a:pPr>
            <a:r>
              <a:rPr lang="en-US" sz="1300" dirty="0">
                <a:solidFill>
                  <a:srgbClr val="5B6570"/>
                </a:solidFill>
                <a:latin typeface="Calibri" pitchFamily="34" charset="0"/>
                <a:ea typeface="Calibri" pitchFamily="34" charset="-122"/>
                <a:cs typeface="Calibri" pitchFamily="34" charset="-120"/>
              </a:rPr>
              <a:t>monitor coverage and utilization</a:t>
            </a:r>
            <a:endParaRPr lang="en-US" sz="1300" dirty="0"/>
          </a:p>
        </p:txBody>
      </p:sp>
      <p:sp>
        <p:nvSpPr>
          <p:cNvPr id="15" name="Shape 13"/>
          <p:cNvSpPr/>
          <p:nvPr/>
        </p:nvSpPr>
        <p:spPr>
          <a:xfrm>
            <a:off x="6355080" y="1920240"/>
            <a:ext cx="5166360" cy="3794760"/>
          </a:xfrm>
          <a:prstGeom prst="roundRect">
            <a:avLst>
              <a:gd name="adj" fmla="val 2892"/>
            </a:avLst>
          </a:prstGeom>
          <a:solidFill>
            <a:srgbClr val="232F3E"/>
          </a:solidFill>
          <a:ln/>
        </p:spPr>
      </p:sp>
      <p:sp>
        <p:nvSpPr>
          <p:cNvPr id="16" name="Text 14"/>
          <p:cNvSpPr/>
          <p:nvPr/>
        </p:nvSpPr>
        <p:spPr>
          <a:xfrm>
            <a:off x="6720840" y="2148840"/>
            <a:ext cx="4480560" cy="320040"/>
          </a:xfrm>
          <a:prstGeom prst="rect">
            <a:avLst/>
          </a:prstGeom>
          <a:noFill/>
          <a:ln/>
        </p:spPr>
        <p:txBody>
          <a:bodyPr wrap="square" rtlCol="0" anchor="ctr"/>
          <a:lstStyle/>
          <a:p>
            <a:pPr indent="0" marL="0">
              <a:buNone/>
            </a:pPr>
            <a:r>
              <a:rPr lang="en-US" sz="1200" b="1" spc="200" kern="0" dirty="0">
                <a:solidFill>
                  <a:srgbClr val="FF9900"/>
                </a:solidFill>
                <a:latin typeface="Calibri" pitchFamily="34" charset="0"/>
                <a:ea typeface="Calibri" pitchFamily="34" charset="-122"/>
                <a:cs typeface="Calibri" pitchFamily="34" charset="-120"/>
              </a:rPr>
              <a:t>THE HABIT I WANT YOU TO BUILD</a:t>
            </a:r>
            <a:endParaRPr lang="en-US" sz="1200" dirty="0"/>
          </a:p>
        </p:txBody>
      </p:sp>
      <p:sp>
        <p:nvSpPr>
          <p:cNvPr id="17" name="Text 15"/>
          <p:cNvSpPr/>
          <p:nvPr/>
        </p:nvSpPr>
        <p:spPr>
          <a:xfrm>
            <a:off x="6720840" y="2560320"/>
            <a:ext cx="4480560" cy="777240"/>
          </a:xfrm>
          <a:prstGeom prst="rect">
            <a:avLst/>
          </a:prstGeom>
          <a:noFill/>
          <a:ln/>
        </p:spPr>
        <p:txBody>
          <a:bodyPr wrap="square" rtlCol="0" anchor="ctr"/>
          <a:lstStyle/>
          <a:p>
            <a:pPr indent="0" marL="0">
              <a:lnSpc>
                <a:spcPct val="98000"/>
              </a:lnSpc>
              <a:buNone/>
            </a:pPr>
            <a:r>
              <a:rPr lang="en-US" sz="2100" b="1" dirty="0">
                <a:solidFill>
                  <a:srgbClr val="FFFFFF"/>
                </a:solidFill>
                <a:latin typeface="Calibri" pitchFamily="34" charset="0"/>
                <a:ea typeface="Calibri" pitchFamily="34" charset="-122"/>
                <a:cs typeface="Calibri" pitchFamily="34" charset="-120"/>
              </a:rPr>
              <a:t>Set a budget the day you open an account.</a:t>
            </a:r>
            <a:endParaRPr lang="en-US" sz="2100" dirty="0"/>
          </a:p>
        </p:txBody>
      </p:sp>
      <p:sp>
        <p:nvSpPr>
          <p:cNvPr id="18" name="Text 16"/>
          <p:cNvSpPr/>
          <p:nvPr/>
        </p:nvSpPr>
        <p:spPr>
          <a:xfrm>
            <a:off x="6720840" y="3474720"/>
            <a:ext cx="4480560" cy="2011680"/>
          </a:xfrm>
          <a:prstGeom prst="rect">
            <a:avLst/>
          </a:prstGeom>
          <a:noFill/>
          <a:ln/>
        </p:spPr>
        <p:txBody>
          <a:bodyPr wrap="square" rtlCol="0" anchor="ctr"/>
          <a:lstStyle/>
          <a:p>
            <a:pPr indent="0" marL="0">
              <a:lnSpc>
                <a:spcPct val="106000"/>
              </a:lnSpc>
              <a:buNone/>
            </a:pPr>
            <a:r>
              <a:rPr lang="en-US" sz="1400" dirty="0">
                <a:solidFill>
                  <a:srgbClr val="C7D2DE"/>
                </a:solidFill>
                <a:latin typeface="Calibri" pitchFamily="34" charset="0"/>
                <a:ea typeface="Calibri" pitchFamily="34" charset="-122"/>
                <a:cs typeface="Calibri" pitchFamily="34" charset="-120"/>
              </a:rPr>
              <a:t>Every horror story that starts with “I got a $5,000 AWS bill” ends with “…and I had no budget alert.”</a:t>
            </a:r>
            <a:endParaRPr lang="en-US" sz="1400" dirty="0"/>
          </a:p>
          <a:p>
            <a:pPr indent="0" marL="0">
              <a:lnSpc>
                <a:spcPct val="106000"/>
              </a:lnSpc>
              <a:buNone/>
            </a:pPr>
            <a:endParaRPr lang="en-US" sz="1400" dirty="0"/>
          </a:p>
          <a:p>
            <a:pPr indent="0" marL="0">
              <a:lnSpc>
                <a:spcPct val="106000"/>
              </a:lnSpc>
              <a:buNone/>
            </a:pPr>
            <a:r>
              <a:rPr lang="en-US" sz="1400" dirty="0">
                <a:solidFill>
                  <a:srgbClr val="C7D2DE"/>
                </a:solidFill>
                <a:latin typeface="Calibri" pitchFamily="34" charset="0"/>
                <a:ea typeface="Calibri" pitchFamily="34" charset="-122"/>
                <a:cs typeface="Calibri" pitchFamily="34" charset="-120"/>
              </a:rPr>
              <a:t>Alerts don't stop spending by themselves — they tell you in time to act. Pair them with a hard look at what's running.</a:t>
            </a:r>
            <a:endParaRPr lang="en-US" sz="1400" dirty="0"/>
          </a:p>
        </p:txBody>
      </p:sp>
      <p:sp>
        <p:nvSpPr>
          <p:cNvPr id="19" name="Text 17"/>
          <p:cNvSpPr/>
          <p:nvPr/>
        </p:nvSpPr>
        <p:spPr>
          <a:xfrm>
            <a:off x="640080" y="6473952"/>
            <a:ext cx="5943600" cy="274320"/>
          </a:xfrm>
          <a:prstGeom prst="rect">
            <a:avLst/>
          </a:prstGeom>
          <a:noFill/>
          <a:ln/>
        </p:spPr>
        <p:txBody>
          <a:bodyPr wrap="square" rtlCol="0" anchor="ctr"/>
          <a:lstStyle/>
          <a:p>
            <a:pPr indent="0" marL="0">
              <a:buNone/>
            </a:pPr>
            <a:r>
              <a:rPr lang="en-US" sz="900" dirty="0">
                <a:solidFill>
                  <a:srgbClr val="5B6570"/>
                </a:solidFill>
                <a:latin typeface="Calibri" pitchFamily="34" charset="0"/>
                <a:ea typeface="Calibri" pitchFamily="34" charset="-122"/>
                <a:cs typeface="Calibri" pitchFamily="34" charset="-120"/>
              </a:rPr>
              <a:t>AWS SAA-A  ·  Lecture 2  ·  Cloud Economics &amp; Billing</a:t>
            </a:r>
            <a:endParaRPr lang="en-US" sz="900" dirty="0"/>
          </a:p>
        </p:txBody>
      </p:sp>
      <p:sp>
        <p:nvSpPr>
          <p:cNvPr id="20" name="Text 18"/>
          <p:cNvSpPr/>
          <p:nvPr/>
        </p:nvSpPr>
        <p:spPr>
          <a:xfrm>
            <a:off x="11000232" y="6473952"/>
            <a:ext cx="548640" cy="274320"/>
          </a:xfrm>
          <a:prstGeom prst="rect">
            <a:avLst/>
          </a:prstGeom>
          <a:noFill/>
          <a:ln/>
        </p:spPr>
        <p:txBody>
          <a:bodyPr wrap="square" rtlCol="0" anchor="ctr"/>
          <a:lstStyle/>
          <a:p>
            <a:pPr algn="r" indent="0" marL="0">
              <a:buNone/>
            </a:pPr>
            <a:r>
              <a:rPr lang="en-US" sz="900" dirty="0">
                <a:solidFill>
                  <a:srgbClr val="5B657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457200"/>
            <a:ext cx="10908792" cy="274320"/>
          </a:xfrm>
          <a:prstGeom prst="rect">
            <a:avLst/>
          </a:prstGeom>
          <a:noFill/>
          <a:ln/>
        </p:spPr>
        <p:txBody>
          <a:bodyPr wrap="square" rtlCol="0" anchor="ctr"/>
          <a:lstStyle/>
          <a:p>
            <a:pPr indent="0" marL="0">
              <a:buNone/>
            </a:pPr>
            <a:r>
              <a:rPr lang="en-US" sz="1200" b="1" spc="200" kern="0" dirty="0">
                <a:solidFill>
                  <a:srgbClr val="EC7211"/>
                </a:solidFill>
                <a:latin typeface="Calibri" pitchFamily="34" charset="0"/>
                <a:ea typeface="Calibri" pitchFamily="34" charset="-122"/>
                <a:cs typeface="Calibri" pitchFamily="34" charset="-120"/>
              </a:rPr>
              <a:t>MAKING COSTS MAKE SENSE</a:t>
            </a:r>
            <a:endParaRPr lang="en-US" sz="1200" dirty="0"/>
          </a:p>
        </p:txBody>
      </p:sp>
      <p:sp>
        <p:nvSpPr>
          <p:cNvPr id="3" name="Text 1"/>
          <p:cNvSpPr/>
          <p:nvPr/>
        </p:nvSpPr>
        <p:spPr>
          <a:xfrm>
            <a:off x="640080" y="731520"/>
            <a:ext cx="10908792" cy="640080"/>
          </a:xfrm>
          <a:prstGeom prst="rect">
            <a:avLst/>
          </a:prstGeom>
          <a:noFill/>
          <a:ln/>
        </p:spPr>
        <p:txBody>
          <a:bodyPr wrap="square" rtlCol="0" anchor="ctr"/>
          <a:lstStyle/>
          <a:p>
            <a:pPr indent="0" marL="0">
              <a:buNone/>
            </a:pPr>
            <a:r>
              <a:rPr lang="en-US" sz="3200" b="1" dirty="0">
                <a:solidFill>
                  <a:srgbClr val="232F3E"/>
                </a:solidFill>
                <a:latin typeface="Calibri" pitchFamily="34" charset="0"/>
                <a:ea typeface="Calibri" pitchFamily="34" charset="-122"/>
                <a:cs typeface="Calibri" pitchFamily="34" charset="-120"/>
              </a:rPr>
              <a:t>Cost Allocation Tags</a:t>
            </a:r>
            <a:endParaRPr lang="en-US" sz="3200" dirty="0"/>
          </a:p>
        </p:txBody>
      </p:sp>
      <p:sp>
        <p:nvSpPr>
          <p:cNvPr id="4" name="Text 2"/>
          <p:cNvSpPr/>
          <p:nvPr/>
        </p:nvSpPr>
        <p:spPr>
          <a:xfrm>
            <a:off x="640080" y="1417320"/>
            <a:ext cx="10908792" cy="365760"/>
          </a:xfrm>
          <a:prstGeom prst="rect">
            <a:avLst/>
          </a:prstGeom>
          <a:noFill/>
          <a:ln/>
        </p:spPr>
        <p:txBody>
          <a:bodyPr wrap="square" rtlCol="0" anchor="ctr"/>
          <a:lstStyle/>
          <a:p>
            <a:pPr indent="0" marL="0">
              <a:buNone/>
            </a:pPr>
            <a:r>
              <a:rPr lang="en-US" sz="1500" i="1" dirty="0">
                <a:solidFill>
                  <a:srgbClr val="5B6570"/>
                </a:solidFill>
                <a:latin typeface="Calibri" pitchFamily="34" charset="0"/>
                <a:ea typeface="Calibri" pitchFamily="34" charset="-122"/>
                <a:cs typeface="Calibri" pitchFamily="34" charset="-120"/>
              </a:rPr>
              <a:t>A bill that says “EC2: $40,000” is useless. Tags turn that into answers.</a:t>
            </a:r>
            <a:endParaRPr lang="en-US" sz="1500" dirty="0"/>
          </a:p>
        </p:txBody>
      </p:sp>
      <p:sp>
        <p:nvSpPr>
          <p:cNvPr id="5" name="Shape 3"/>
          <p:cNvSpPr/>
          <p:nvPr/>
        </p:nvSpPr>
        <p:spPr>
          <a:xfrm>
            <a:off x="640080" y="1965960"/>
            <a:ext cx="5257800" cy="3291840"/>
          </a:xfrm>
          <a:prstGeom prst="roundRect">
            <a:avLst>
              <a:gd name="adj" fmla="val 3333"/>
            </a:avLst>
          </a:prstGeom>
          <a:solidFill>
            <a:srgbClr val="FFFFFF"/>
          </a:solidFill>
          <a:ln w="12700">
            <a:solidFill>
              <a:srgbClr val="DCE1E6"/>
            </a:solidFill>
            <a:prstDash val="solid"/>
          </a:ln>
        </p:spPr>
      </p:sp>
      <p:sp>
        <p:nvSpPr>
          <p:cNvPr id="6" name="Text 4"/>
          <p:cNvSpPr/>
          <p:nvPr/>
        </p:nvSpPr>
        <p:spPr>
          <a:xfrm>
            <a:off x="1005840" y="2194560"/>
            <a:ext cx="4572000" cy="320040"/>
          </a:xfrm>
          <a:prstGeom prst="rect">
            <a:avLst/>
          </a:prstGeom>
          <a:noFill/>
          <a:ln/>
        </p:spPr>
        <p:txBody>
          <a:bodyPr wrap="square" rtlCol="0" anchor="ctr"/>
          <a:lstStyle/>
          <a:p>
            <a:pPr indent="0" marL="0">
              <a:buNone/>
            </a:pPr>
            <a:r>
              <a:rPr lang="en-US" sz="1200" b="1" spc="200" kern="0" dirty="0">
                <a:solidFill>
                  <a:srgbClr val="C0392B"/>
                </a:solidFill>
                <a:latin typeface="Calibri" pitchFamily="34" charset="0"/>
                <a:ea typeface="Calibri" pitchFamily="34" charset="-122"/>
                <a:cs typeface="Calibri" pitchFamily="34" charset="-120"/>
              </a:rPr>
              <a:t>WITHOUT TAGS</a:t>
            </a:r>
            <a:endParaRPr lang="en-US" sz="1200" dirty="0"/>
          </a:p>
        </p:txBody>
      </p:sp>
      <p:sp>
        <p:nvSpPr>
          <p:cNvPr id="7" name="Text 5"/>
          <p:cNvSpPr/>
          <p:nvPr/>
        </p:nvSpPr>
        <p:spPr>
          <a:xfrm>
            <a:off x="1005840" y="2697480"/>
            <a:ext cx="4572000" cy="1463040"/>
          </a:xfrm>
          <a:prstGeom prst="rect">
            <a:avLst/>
          </a:prstGeom>
          <a:noFill/>
          <a:ln/>
        </p:spPr>
        <p:txBody>
          <a:bodyPr wrap="square" rtlCol="0" anchor="ctr"/>
          <a:lstStyle/>
          <a:p>
            <a:pPr indent="0" marL="0">
              <a:lnSpc>
                <a:spcPct val="135000"/>
              </a:lnSpc>
              <a:buNone/>
            </a:pPr>
            <a:r>
              <a:rPr lang="en-US" sz="1700" dirty="0">
                <a:solidFill>
                  <a:srgbClr val="5B6570"/>
                </a:solidFill>
                <a:latin typeface="Consolas" pitchFamily="34" charset="0"/>
                <a:ea typeface="Consolas" pitchFamily="34" charset="-122"/>
                <a:cs typeface="Consolas" pitchFamily="34" charset="-120"/>
              </a:rPr>
              <a:t>EC2 ................ $40,000</a:t>
            </a:r>
            <a:endParaRPr lang="en-US" sz="1700" dirty="0"/>
          </a:p>
          <a:p>
            <a:pPr indent="0" marL="0">
              <a:lnSpc>
                <a:spcPct val="135000"/>
              </a:lnSpc>
              <a:buNone/>
            </a:pPr>
            <a:r>
              <a:rPr lang="en-US" sz="1700" dirty="0">
                <a:solidFill>
                  <a:srgbClr val="5B6570"/>
                </a:solidFill>
                <a:latin typeface="Consolas" pitchFamily="34" charset="0"/>
                <a:ea typeface="Consolas" pitchFamily="34" charset="-122"/>
                <a:cs typeface="Consolas" pitchFamily="34" charset="-120"/>
              </a:rPr>
              <a:t>S3 ................... $8,000</a:t>
            </a:r>
            <a:endParaRPr lang="en-US" sz="1700" dirty="0"/>
          </a:p>
          <a:p>
            <a:pPr indent="0" marL="0">
              <a:lnSpc>
                <a:spcPct val="135000"/>
              </a:lnSpc>
              <a:buNone/>
            </a:pPr>
            <a:r>
              <a:rPr lang="en-US" sz="1700" dirty="0">
                <a:solidFill>
                  <a:srgbClr val="5B6570"/>
                </a:solidFill>
                <a:latin typeface="Consolas" pitchFamily="34" charset="0"/>
                <a:ea typeface="Consolas" pitchFamily="34" charset="-122"/>
                <a:cs typeface="Consolas" pitchFamily="34" charset="-120"/>
              </a:rPr>
              <a:t>RDS ................ $12,000</a:t>
            </a:r>
            <a:endParaRPr lang="en-US" sz="1700" dirty="0"/>
          </a:p>
        </p:txBody>
      </p:sp>
      <p:sp>
        <p:nvSpPr>
          <p:cNvPr id="8" name="Text 6"/>
          <p:cNvSpPr/>
          <p:nvPr/>
        </p:nvSpPr>
        <p:spPr>
          <a:xfrm>
            <a:off x="1005840" y="4389120"/>
            <a:ext cx="4572000" cy="548640"/>
          </a:xfrm>
          <a:prstGeom prst="rect">
            <a:avLst/>
          </a:prstGeom>
          <a:noFill/>
          <a:ln/>
        </p:spPr>
        <p:txBody>
          <a:bodyPr wrap="square" rtlCol="0" anchor="ctr"/>
          <a:lstStyle/>
          <a:p>
            <a:pPr indent="0" marL="0">
              <a:buNone/>
            </a:pPr>
            <a:r>
              <a:rPr lang="en-US" sz="1400" i="1" dirty="0">
                <a:solidFill>
                  <a:srgbClr val="C0392B"/>
                </a:solidFill>
                <a:latin typeface="Calibri" pitchFamily="34" charset="0"/>
                <a:ea typeface="Calibri" pitchFamily="34" charset="-122"/>
                <a:cs typeface="Calibri" pitchFamily="34" charset="-120"/>
              </a:rPr>
              <a:t>“Which team? Which project? Who do I even ask?”</a:t>
            </a:r>
            <a:endParaRPr lang="en-US" sz="1400" dirty="0"/>
          </a:p>
        </p:txBody>
      </p:sp>
      <p:sp>
        <p:nvSpPr>
          <p:cNvPr id="9" name="Shape 7"/>
          <p:cNvSpPr/>
          <p:nvPr/>
        </p:nvSpPr>
        <p:spPr>
          <a:xfrm>
            <a:off x="6263640" y="1965960"/>
            <a:ext cx="5257800" cy="3291840"/>
          </a:xfrm>
          <a:prstGeom prst="roundRect">
            <a:avLst>
              <a:gd name="adj" fmla="val 3333"/>
            </a:avLst>
          </a:prstGeom>
          <a:solidFill>
            <a:srgbClr val="232F3E"/>
          </a:solidFill>
          <a:ln/>
        </p:spPr>
      </p:sp>
      <p:sp>
        <p:nvSpPr>
          <p:cNvPr id="10" name="Text 8"/>
          <p:cNvSpPr/>
          <p:nvPr/>
        </p:nvSpPr>
        <p:spPr>
          <a:xfrm>
            <a:off x="6629400" y="2194560"/>
            <a:ext cx="4572000" cy="320040"/>
          </a:xfrm>
          <a:prstGeom prst="rect">
            <a:avLst/>
          </a:prstGeom>
          <a:noFill/>
          <a:ln/>
        </p:spPr>
        <p:txBody>
          <a:bodyPr wrap="square" rtlCol="0" anchor="ctr"/>
          <a:lstStyle/>
          <a:p>
            <a:pPr indent="0" marL="0">
              <a:buNone/>
            </a:pPr>
            <a:r>
              <a:rPr lang="en-US" sz="1200" b="1" spc="200" kern="0" dirty="0">
                <a:solidFill>
                  <a:srgbClr val="5FD08A"/>
                </a:solidFill>
                <a:latin typeface="Calibri" pitchFamily="34" charset="0"/>
                <a:ea typeface="Calibri" pitchFamily="34" charset="-122"/>
                <a:cs typeface="Calibri" pitchFamily="34" charset="-120"/>
              </a:rPr>
              <a:t>WITH TAGS</a:t>
            </a:r>
            <a:endParaRPr lang="en-US" sz="1200" dirty="0"/>
          </a:p>
        </p:txBody>
      </p:sp>
      <p:sp>
        <p:nvSpPr>
          <p:cNvPr id="11" name="Text 9"/>
          <p:cNvSpPr/>
          <p:nvPr/>
        </p:nvSpPr>
        <p:spPr>
          <a:xfrm>
            <a:off x="6629400" y="2697480"/>
            <a:ext cx="4572000" cy="1463040"/>
          </a:xfrm>
          <a:prstGeom prst="rect">
            <a:avLst/>
          </a:prstGeom>
          <a:noFill/>
          <a:ln/>
        </p:spPr>
        <p:txBody>
          <a:bodyPr wrap="square" rtlCol="0" anchor="ctr"/>
          <a:lstStyle/>
          <a:p>
            <a:pPr indent="0" marL="0">
              <a:lnSpc>
                <a:spcPct val="135000"/>
              </a:lnSpc>
              <a:buNone/>
            </a:pPr>
            <a:r>
              <a:rPr lang="en-US" sz="1600" dirty="0">
                <a:solidFill>
                  <a:srgbClr val="D6DEE7"/>
                </a:solidFill>
                <a:latin typeface="Consolas" pitchFamily="34" charset="0"/>
                <a:ea typeface="Consolas" pitchFamily="34" charset="-122"/>
                <a:cs typeface="Consolas" pitchFamily="34" charset="-120"/>
              </a:rPr>
              <a:t>Project: Website ....... $18,000</a:t>
            </a:r>
            <a:endParaRPr lang="en-US" sz="1600" dirty="0"/>
          </a:p>
          <a:p>
            <a:pPr indent="0" marL="0">
              <a:lnSpc>
                <a:spcPct val="135000"/>
              </a:lnSpc>
              <a:buNone/>
            </a:pPr>
            <a:r>
              <a:rPr lang="en-US" sz="1600" dirty="0">
                <a:solidFill>
                  <a:srgbClr val="D6DEE7"/>
                </a:solidFill>
                <a:latin typeface="Consolas" pitchFamily="34" charset="0"/>
                <a:ea typeface="Consolas" pitchFamily="34" charset="-122"/>
                <a:cs typeface="Consolas" pitchFamily="34" charset="-120"/>
              </a:rPr>
              <a:t>Project: Analytics ..... $26,000</a:t>
            </a:r>
            <a:endParaRPr lang="en-US" sz="1600" dirty="0"/>
          </a:p>
          <a:p>
            <a:pPr indent="0" marL="0">
              <a:lnSpc>
                <a:spcPct val="135000"/>
              </a:lnSpc>
              <a:buNone/>
            </a:pPr>
            <a:r>
              <a:rPr lang="en-US" sz="1600" dirty="0">
                <a:solidFill>
                  <a:srgbClr val="D6DEE7"/>
                </a:solidFill>
                <a:latin typeface="Consolas" pitchFamily="34" charset="0"/>
                <a:ea typeface="Consolas" pitchFamily="34" charset="-122"/>
                <a:cs typeface="Consolas" pitchFamily="34" charset="-120"/>
              </a:rPr>
              <a:t>Env: Dev (idle!) ....... $16,000</a:t>
            </a:r>
            <a:endParaRPr lang="en-US" sz="1600" dirty="0"/>
          </a:p>
        </p:txBody>
      </p:sp>
      <p:sp>
        <p:nvSpPr>
          <p:cNvPr id="12" name="Text 10"/>
          <p:cNvSpPr/>
          <p:nvPr/>
        </p:nvSpPr>
        <p:spPr>
          <a:xfrm>
            <a:off x="6629400" y="4389120"/>
            <a:ext cx="4572000" cy="548640"/>
          </a:xfrm>
          <a:prstGeom prst="rect">
            <a:avLst/>
          </a:prstGeom>
          <a:noFill/>
          <a:ln/>
        </p:spPr>
        <p:txBody>
          <a:bodyPr wrap="square" rtlCol="0" anchor="ctr"/>
          <a:lstStyle/>
          <a:p>
            <a:pPr indent="0" marL="0">
              <a:buNone/>
            </a:pPr>
            <a:r>
              <a:rPr lang="en-US" sz="1400" i="1" dirty="0">
                <a:solidFill>
                  <a:srgbClr val="5FD08A"/>
                </a:solidFill>
                <a:latin typeface="Calibri" pitchFamily="34" charset="0"/>
                <a:ea typeface="Calibri" pitchFamily="34" charset="-122"/>
                <a:cs typeface="Calibri" pitchFamily="34" charset="-120"/>
              </a:rPr>
              <a:t>“Dev is costing us $16K — shut it down nights and weekends.”</a:t>
            </a:r>
            <a:endParaRPr lang="en-US" sz="1400" dirty="0"/>
          </a:p>
        </p:txBody>
      </p:sp>
      <p:sp>
        <p:nvSpPr>
          <p:cNvPr id="13" name="Text 11"/>
          <p:cNvSpPr/>
          <p:nvPr/>
        </p:nvSpPr>
        <p:spPr>
          <a:xfrm>
            <a:off x="640080" y="5532120"/>
            <a:ext cx="10908792" cy="365760"/>
          </a:xfrm>
          <a:prstGeom prst="rect">
            <a:avLst/>
          </a:prstGeom>
          <a:noFill/>
          <a:ln/>
        </p:spPr>
        <p:txBody>
          <a:bodyPr wrap="square" rtlCol="0" anchor="ctr"/>
          <a:lstStyle/>
          <a:p>
            <a:pPr algn="ctr" indent="0" marL="0">
              <a:buNone/>
            </a:pPr>
            <a:r>
              <a:rPr lang="en-US" sz="1400" i="1" dirty="0">
                <a:solidFill>
                  <a:srgbClr val="5B6570"/>
                </a:solidFill>
                <a:latin typeface="Calibri" pitchFamily="34" charset="0"/>
                <a:ea typeface="Calibri" pitchFamily="34" charset="-122"/>
                <a:cs typeface="Calibri" pitchFamily="34" charset="-120"/>
              </a:rPr>
              <a:t>Tags are just key/value labels you attach to resources — but they're how FinOps teams actually control spend.</a:t>
            </a:r>
            <a:endParaRPr lang="en-US" sz="1400" dirty="0"/>
          </a:p>
        </p:txBody>
      </p:sp>
      <p:sp>
        <p:nvSpPr>
          <p:cNvPr id="14" name="Text 12"/>
          <p:cNvSpPr/>
          <p:nvPr/>
        </p:nvSpPr>
        <p:spPr>
          <a:xfrm>
            <a:off x="640080" y="6473952"/>
            <a:ext cx="5943600" cy="274320"/>
          </a:xfrm>
          <a:prstGeom prst="rect">
            <a:avLst/>
          </a:prstGeom>
          <a:noFill/>
          <a:ln/>
        </p:spPr>
        <p:txBody>
          <a:bodyPr wrap="square" rtlCol="0" anchor="ctr"/>
          <a:lstStyle/>
          <a:p>
            <a:pPr indent="0" marL="0">
              <a:buNone/>
            </a:pPr>
            <a:r>
              <a:rPr lang="en-US" sz="900" dirty="0">
                <a:solidFill>
                  <a:srgbClr val="5B6570"/>
                </a:solidFill>
                <a:latin typeface="Calibri" pitchFamily="34" charset="0"/>
                <a:ea typeface="Calibri" pitchFamily="34" charset="-122"/>
                <a:cs typeface="Calibri" pitchFamily="34" charset="-120"/>
              </a:rPr>
              <a:t>AWS SAA-A  ·  Lecture 2  ·  Cloud Economics &amp; Billing</a:t>
            </a:r>
            <a:endParaRPr lang="en-US" sz="900" dirty="0"/>
          </a:p>
        </p:txBody>
      </p:sp>
      <p:sp>
        <p:nvSpPr>
          <p:cNvPr id="15" name="Text 13"/>
          <p:cNvSpPr/>
          <p:nvPr/>
        </p:nvSpPr>
        <p:spPr>
          <a:xfrm>
            <a:off x="11000232" y="6473952"/>
            <a:ext cx="548640" cy="274320"/>
          </a:xfrm>
          <a:prstGeom prst="rect">
            <a:avLst/>
          </a:prstGeom>
          <a:noFill/>
          <a:ln/>
        </p:spPr>
        <p:txBody>
          <a:bodyPr wrap="square" rtlCol="0" anchor="ctr"/>
          <a:lstStyle/>
          <a:p>
            <a:pPr algn="r" indent="0" marL="0">
              <a:buNone/>
            </a:pPr>
            <a:r>
              <a:rPr lang="en-US" sz="900" dirty="0">
                <a:solidFill>
                  <a:srgbClr val="5B657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457200"/>
            <a:ext cx="10908792" cy="274320"/>
          </a:xfrm>
          <a:prstGeom prst="rect">
            <a:avLst/>
          </a:prstGeom>
          <a:noFill/>
          <a:ln/>
        </p:spPr>
        <p:txBody>
          <a:bodyPr wrap="square" rtlCol="0" anchor="ctr"/>
          <a:lstStyle/>
          <a:p>
            <a:pPr indent="0" marL="0">
              <a:buNone/>
            </a:pPr>
            <a:r>
              <a:rPr lang="en-US" sz="1200" b="1" spc="200" kern="0" dirty="0">
                <a:solidFill>
                  <a:srgbClr val="EC7211"/>
                </a:solidFill>
                <a:latin typeface="Calibri" pitchFamily="34" charset="0"/>
                <a:ea typeface="Calibri" pitchFamily="34" charset="-122"/>
                <a:cs typeface="Calibri" pitchFamily="34" charset="-120"/>
              </a:rPr>
              <a:t>KNOW THESE FOR THE EXAM</a:t>
            </a:r>
            <a:endParaRPr lang="en-US" sz="1200" dirty="0"/>
          </a:p>
        </p:txBody>
      </p:sp>
      <p:sp>
        <p:nvSpPr>
          <p:cNvPr id="3" name="Text 1"/>
          <p:cNvSpPr/>
          <p:nvPr/>
        </p:nvSpPr>
        <p:spPr>
          <a:xfrm>
            <a:off x="640080" y="731520"/>
            <a:ext cx="10908792" cy="640080"/>
          </a:xfrm>
          <a:prstGeom prst="rect">
            <a:avLst/>
          </a:prstGeom>
          <a:noFill/>
          <a:ln/>
        </p:spPr>
        <p:txBody>
          <a:bodyPr wrap="square" rtlCol="0" anchor="ctr"/>
          <a:lstStyle/>
          <a:p>
            <a:pPr indent="0" marL="0">
              <a:buNone/>
            </a:pPr>
            <a:r>
              <a:rPr lang="en-US" sz="3200" b="1" dirty="0">
                <a:solidFill>
                  <a:srgbClr val="232F3E"/>
                </a:solidFill>
                <a:latin typeface="Calibri" pitchFamily="34" charset="0"/>
                <a:ea typeface="Calibri" pitchFamily="34" charset="-122"/>
                <a:cs typeface="Calibri" pitchFamily="34" charset="-120"/>
              </a:rPr>
              <a:t>AWS Technical Support Plans</a:t>
            </a:r>
            <a:endParaRPr lang="en-US" sz="3200" dirty="0"/>
          </a:p>
        </p:txBody>
      </p:sp>
      <p:sp>
        <p:nvSpPr>
          <p:cNvPr id="4" name="Text 2"/>
          <p:cNvSpPr/>
          <p:nvPr/>
        </p:nvSpPr>
        <p:spPr>
          <a:xfrm>
            <a:off x="640080" y="1417320"/>
            <a:ext cx="10908792" cy="365760"/>
          </a:xfrm>
          <a:prstGeom prst="rect">
            <a:avLst/>
          </a:prstGeom>
          <a:noFill/>
          <a:ln/>
        </p:spPr>
        <p:txBody>
          <a:bodyPr wrap="square" rtlCol="0" anchor="ctr"/>
          <a:lstStyle/>
          <a:p>
            <a:pPr indent="0" marL="0">
              <a:buNone/>
            </a:pPr>
            <a:r>
              <a:rPr lang="en-US" sz="1500" i="1" dirty="0">
                <a:solidFill>
                  <a:srgbClr val="5B6570"/>
                </a:solidFill>
                <a:latin typeface="Calibri" pitchFamily="34" charset="0"/>
                <a:ea typeface="Calibri" pitchFamily="34" charset="-122"/>
                <a:cs typeface="Calibri" pitchFamily="34" charset="-120"/>
              </a:rPr>
              <a:t>Five tiers. The exam gives you a scenario and asks which plan fits — match on response time and TAM access.</a:t>
            </a:r>
            <a:endParaRPr lang="en-US" sz="1500" dirty="0"/>
          </a:p>
        </p:txBody>
      </p:sp>
      <p:sp>
        <p:nvSpPr>
          <p:cNvPr id="5" name="Shape 3"/>
          <p:cNvSpPr/>
          <p:nvPr/>
        </p:nvSpPr>
        <p:spPr>
          <a:xfrm>
            <a:off x="640080" y="1920240"/>
            <a:ext cx="10908792" cy="576072"/>
          </a:xfrm>
          <a:prstGeom prst="rect">
            <a:avLst/>
          </a:prstGeom>
          <a:solidFill>
            <a:srgbClr val="232F3E"/>
          </a:solidFill>
          <a:ln/>
        </p:spPr>
      </p:sp>
      <p:sp>
        <p:nvSpPr>
          <p:cNvPr id="6" name="Text 4"/>
          <p:cNvSpPr/>
          <p:nvPr/>
        </p:nvSpPr>
        <p:spPr>
          <a:xfrm>
            <a:off x="804672" y="1920240"/>
            <a:ext cx="2578608" cy="576072"/>
          </a:xfrm>
          <a:prstGeom prst="rect">
            <a:avLst/>
          </a:prstGeom>
          <a:noFill/>
          <a:ln/>
        </p:spPr>
        <p:txBody>
          <a:bodyPr wrap="square"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Plan</a:t>
            </a:r>
            <a:endParaRPr lang="en-US" sz="1400" dirty="0"/>
          </a:p>
        </p:txBody>
      </p:sp>
      <p:sp>
        <p:nvSpPr>
          <p:cNvPr id="7" name="Text 5"/>
          <p:cNvSpPr/>
          <p:nvPr/>
        </p:nvSpPr>
        <p:spPr>
          <a:xfrm>
            <a:off x="3639312" y="1920240"/>
            <a:ext cx="3310128" cy="576072"/>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Best for</a:t>
            </a:r>
            <a:endParaRPr lang="en-US" sz="1350" dirty="0"/>
          </a:p>
        </p:txBody>
      </p:sp>
      <p:sp>
        <p:nvSpPr>
          <p:cNvPr id="8" name="Text 6"/>
          <p:cNvSpPr/>
          <p:nvPr/>
        </p:nvSpPr>
        <p:spPr>
          <a:xfrm>
            <a:off x="7205472" y="1920240"/>
            <a:ext cx="2395728" cy="576072"/>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Critical response</a:t>
            </a:r>
            <a:endParaRPr lang="en-US" sz="1350" dirty="0"/>
          </a:p>
        </p:txBody>
      </p:sp>
      <p:sp>
        <p:nvSpPr>
          <p:cNvPr id="9" name="Text 7"/>
          <p:cNvSpPr/>
          <p:nvPr/>
        </p:nvSpPr>
        <p:spPr>
          <a:xfrm>
            <a:off x="9857232" y="1920240"/>
            <a:ext cx="1600200" cy="576072"/>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Technical Account Mgr</a:t>
            </a:r>
            <a:endParaRPr lang="en-US" sz="1350" dirty="0"/>
          </a:p>
        </p:txBody>
      </p:sp>
      <p:sp>
        <p:nvSpPr>
          <p:cNvPr id="10" name="Shape 8"/>
          <p:cNvSpPr/>
          <p:nvPr/>
        </p:nvSpPr>
        <p:spPr>
          <a:xfrm>
            <a:off x="640080" y="2496312"/>
            <a:ext cx="10908792" cy="576072"/>
          </a:xfrm>
          <a:prstGeom prst="rect">
            <a:avLst/>
          </a:prstGeom>
          <a:solidFill>
            <a:srgbClr val="FFFFFF"/>
          </a:solidFill>
          <a:ln/>
        </p:spPr>
      </p:sp>
      <p:sp>
        <p:nvSpPr>
          <p:cNvPr id="11" name="Text 9"/>
          <p:cNvSpPr/>
          <p:nvPr/>
        </p:nvSpPr>
        <p:spPr>
          <a:xfrm>
            <a:off x="804672" y="2496312"/>
            <a:ext cx="2578608" cy="576072"/>
          </a:xfrm>
          <a:prstGeom prst="rect">
            <a:avLst/>
          </a:prstGeom>
          <a:noFill/>
          <a:ln/>
        </p:spPr>
        <p:txBody>
          <a:bodyPr wrap="square" rtlCol="0" anchor="ctr"/>
          <a:lstStyle/>
          <a:p>
            <a:pPr algn="l" indent="0" marL="0">
              <a:buNone/>
            </a:pPr>
            <a:r>
              <a:rPr lang="en-US" sz="1400" b="1" dirty="0">
                <a:solidFill>
                  <a:srgbClr val="232F3E"/>
                </a:solidFill>
                <a:latin typeface="Calibri" pitchFamily="34" charset="0"/>
                <a:ea typeface="Calibri" pitchFamily="34" charset="-122"/>
                <a:cs typeface="Calibri" pitchFamily="34" charset="-120"/>
              </a:rPr>
              <a:t>Basic  (free)</a:t>
            </a:r>
            <a:endParaRPr lang="en-US" sz="1400" dirty="0"/>
          </a:p>
        </p:txBody>
      </p:sp>
      <p:sp>
        <p:nvSpPr>
          <p:cNvPr id="12" name="Text 10"/>
          <p:cNvSpPr/>
          <p:nvPr/>
        </p:nvSpPr>
        <p:spPr>
          <a:xfrm>
            <a:off x="3639312" y="2496312"/>
            <a:ext cx="3310128" cy="576072"/>
          </a:xfrm>
          <a:prstGeom prst="rect">
            <a:avLst/>
          </a:prstGeom>
          <a:noFill/>
          <a:ln/>
        </p:spPr>
        <p:txBody>
          <a:bodyPr wrap="square" rtlCol="0" anchor="ctr"/>
          <a:lstStyle/>
          <a:p>
            <a:pPr algn="ctr" indent="0" marL="0">
              <a:buNone/>
            </a:pPr>
            <a:r>
              <a:rPr lang="en-US" sz="1350" dirty="0">
                <a:solidFill>
                  <a:srgbClr val="5B6570"/>
                </a:solidFill>
                <a:latin typeface="Calibri" pitchFamily="34" charset="0"/>
                <a:ea typeface="Calibri" pitchFamily="34" charset="-122"/>
                <a:cs typeface="Calibri" pitchFamily="34" charset="-120"/>
              </a:rPr>
              <a:t>Everyone; account &amp; billing help</a:t>
            </a:r>
            <a:endParaRPr lang="en-US" sz="1350" dirty="0"/>
          </a:p>
        </p:txBody>
      </p:sp>
      <p:sp>
        <p:nvSpPr>
          <p:cNvPr id="13" name="Text 11"/>
          <p:cNvSpPr/>
          <p:nvPr/>
        </p:nvSpPr>
        <p:spPr>
          <a:xfrm>
            <a:off x="7205472" y="2496312"/>
            <a:ext cx="2395728" cy="576072"/>
          </a:xfrm>
          <a:prstGeom prst="rect">
            <a:avLst/>
          </a:prstGeom>
          <a:noFill/>
          <a:ln/>
        </p:spPr>
        <p:txBody>
          <a:bodyPr wrap="square" rtlCol="0" anchor="ctr"/>
          <a:lstStyle/>
          <a:p>
            <a:pPr algn="ctr" indent="0" marL="0">
              <a:buNone/>
            </a:pPr>
            <a:r>
              <a:rPr lang="en-US" sz="1350" dirty="0">
                <a:solidFill>
                  <a:srgbClr val="5B6570"/>
                </a:solidFill>
                <a:latin typeface="Calibri" pitchFamily="34" charset="0"/>
                <a:ea typeface="Calibri" pitchFamily="34" charset="-122"/>
                <a:cs typeface="Calibri" pitchFamily="34" charset="-120"/>
              </a:rPr>
              <a:t>No tech support</a:t>
            </a:r>
            <a:endParaRPr lang="en-US" sz="1350" dirty="0"/>
          </a:p>
        </p:txBody>
      </p:sp>
      <p:sp>
        <p:nvSpPr>
          <p:cNvPr id="14" name="Text 12"/>
          <p:cNvSpPr/>
          <p:nvPr/>
        </p:nvSpPr>
        <p:spPr>
          <a:xfrm>
            <a:off x="9857232" y="2496312"/>
            <a:ext cx="1600200" cy="576072"/>
          </a:xfrm>
          <a:prstGeom prst="rect">
            <a:avLst/>
          </a:prstGeom>
          <a:noFill/>
          <a:ln/>
        </p:spPr>
        <p:txBody>
          <a:bodyPr wrap="square" rtlCol="0" anchor="ctr"/>
          <a:lstStyle/>
          <a:p>
            <a:pPr algn="ctr" indent="0" marL="0">
              <a:buNone/>
            </a:pPr>
            <a:r>
              <a:rPr lang="en-US" sz="1350" dirty="0">
                <a:solidFill>
                  <a:srgbClr val="5B6570"/>
                </a:solidFill>
                <a:latin typeface="Calibri" pitchFamily="34" charset="0"/>
                <a:ea typeface="Calibri" pitchFamily="34" charset="-122"/>
                <a:cs typeface="Calibri" pitchFamily="34" charset="-120"/>
              </a:rPr>
              <a:t>No</a:t>
            </a:r>
            <a:endParaRPr lang="en-US" sz="1350" dirty="0"/>
          </a:p>
        </p:txBody>
      </p:sp>
      <p:sp>
        <p:nvSpPr>
          <p:cNvPr id="15" name="Shape 13"/>
          <p:cNvSpPr/>
          <p:nvPr/>
        </p:nvSpPr>
        <p:spPr>
          <a:xfrm>
            <a:off x="640080" y="3072384"/>
            <a:ext cx="10908792" cy="576072"/>
          </a:xfrm>
          <a:prstGeom prst="rect">
            <a:avLst/>
          </a:prstGeom>
          <a:solidFill>
            <a:srgbClr val="EDF1F4"/>
          </a:solidFill>
          <a:ln/>
        </p:spPr>
      </p:sp>
      <p:sp>
        <p:nvSpPr>
          <p:cNvPr id="16" name="Text 14"/>
          <p:cNvSpPr/>
          <p:nvPr/>
        </p:nvSpPr>
        <p:spPr>
          <a:xfrm>
            <a:off x="804672" y="3072384"/>
            <a:ext cx="2578608" cy="576072"/>
          </a:xfrm>
          <a:prstGeom prst="rect">
            <a:avLst/>
          </a:prstGeom>
          <a:noFill/>
          <a:ln/>
        </p:spPr>
        <p:txBody>
          <a:bodyPr wrap="square" rtlCol="0" anchor="ctr"/>
          <a:lstStyle/>
          <a:p>
            <a:pPr algn="l" indent="0" marL="0">
              <a:buNone/>
            </a:pPr>
            <a:r>
              <a:rPr lang="en-US" sz="1400" b="1" dirty="0">
                <a:solidFill>
                  <a:srgbClr val="232F3E"/>
                </a:solidFill>
                <a:latin typeface="Calibri" pitchFamily="34" charset="0"/>
                <a:ea typeface="Calibri" pitchFamily="34" charset="-122"/>
                <a:cs typeface="Calibri" pitchFamily="34" charset="-120"/>
              </a:rPr>
              <a:t>Developer</a:t>
            </a:r>
            <a:endParaRPr lang="en-US" sz="1400" dirty="0"/>
          </a:p>
        </p:txBody>
      </p:sp>
      <p:sp>
        <p:nvSpPr>
          <p:cNvPr id="17" name="Text 15"/>
          <p:cNvSpPr/>
          <p:nvPr/>
        </p:nvSpPr>
        <p:spPr>
          <a:xfrm>
            <a:off x="3639312" y="3072384"/>
            <a:ext cx="3310128" cy="576072"/>
          </a:xfrm>
          <a:prstGeom prst="rect">
            <a:avLst/>
          </a:prstGeom>
          <a:noFill/>
          <a:ln/>
        </p:spPr>
        <p:txBody>
          <a:bodyPr wrap="square" rtlCol="0" anchor="ctr"/>
          <a:lstStyle/>
          <a:p>
            <a:pPr algn="ctr" indent="0" marL="0">
              <a:buNone/>
            </a:pPr>
            <a:r>
              <a:rPr lang="en-US" sz="1350" dirty="0">
                <a:solidFill>
                  <a:srgbClr val="5B6570"/>
                </a:solidFill>
                <a:latin typeface="Calibri" pitchFamily="34" charset="0"/>
                <a:ea typeface="Calibri" pitchFamily="34" charset="-122"/>
                <a:cs typeface="Calibri" pitchFamily="34" charset="-120"/>
              </a:rPr>
              <a:t>Experimenting / dev &amp; test</a:t>
            </a:r>
            <a:endParaRPr lang="en-US" sz="1350" dirty="0"/>
          </a:p>
        </p:txBody>
      </p:sp>
      <p:sp>
        <p:nvSpPr>
          <p:cNvPr id="18" name="Text 16"/>
          <p:cNvSpPr/>
          <p:nvPr/>
        </p:nvSpPr>
        <p:spPr>
          <a:xfrm>
            <a:off x="7205472" y="3072384"/>
            <a:ext cx="2395728" cy="576072"/>
          </a:xfrm>
          <a:prstGeom prst="rect">
            <a:avLst/>
          </a:prstGeom>
          <a:noFill/>
          <a:ln/>
        </p:spPr>
        <p:txBody>
          <a:bodyPr wrap="square" rtlCol="0" anchor="ctr"/>
          <a:lstStyle/>
          <a:p>
            <a:pPr algn="ctr" indent="0" marL="0">
              <a:buNone/>
            </a:pPr>
            <a:r>
              <a:rPr lang="en-US" sz="1350" dirty="0">
                <a:solidFill>
                  <a:srgbClr val="5B6570"/>
                </a:solidFill>
                <a:latin typeface="Calibri" pitchFamily="34" charset="0"/>
                <a:ea typeface="Calibri" pitchFamily="34" charset="-122"/>
                <a:cs typeface="Calibri" pitchFamily="34" charset="-120"/>
              </a:rPr>
              <a:t>Business hours, email</a:t>
            </a:r>
            <a:endParaRPr lang="en-US" sz="1350" dirty="0"/>
          </a:p>
        </p:txBody>
      </p:sp>
      <p:sp>
        <p:nvSpPr>
          <p:cNvPr id="19" name="Text 17"/>
          <p:cNvSpPr/>
          <p:nvPr/>
        </p:nvSpPr>
        <p:spPr>
          <a:xfrm>
            <a:off x="9857232" y="3072384"/>
            <a:ext cx="1600200" cy="576072"/>
          </a:xfrm>
          <a:prstGeom prst="rect">
            <a:avLst/>
          </a:prstGeom>
          <a:noFill/>
          <a:ln/>
        </p:spPr>
        <p:txBody>
          <a:bodyPr wrap="square" rtlCol="0" anchor="ctr"/>
          <a:lstStyle/>
          <a:p>
            <a:pPr algn="ctr" indent="0" marL="0">
              <a:buNone/>
            </a:pPr>
            <a:r>
              <a:rPr lang="en-US" sz="1350" dirty="0">
                <a:solidFill>
                  <a:srgbClr val="5B6570"/>
                </a:solidFill>
                <a:latin typeface="Calibri" pitchFamily="34" charset="0"/>
                <a:ea typeface="Calibri" pitchFamily="34" charset="-122"/>
                <a:cs typeface="Calibri" pitchFamily="34" charset="-120"/>
              </a:rPr>
              <a:t>No</a:t>
            </a:r>
            <a:endParaRPr lang="en-US" sz="1350" dirty="0"/>
          </a:p>
        </p:txBody>
      </p:sp>
      <p:sp>
        <p:nvSpPr>
          <p:cNvPr id="20" name="Shape 18"/>
          <p:cNvSpPr/>
          <p:nvPr/>
        </p:nvSpPr>
        <p:spPr>
          <a:xfrm>
            <a:off x="640080" y="3648456"/>
            <a:ext cx="10908792" cy="576072"/>
          </a:xfrm>
          <a:prstGeom prst="rect">
            <a:avLst/>
          </a:prstGeom>
          <a:solidFill>
            <a:srgbClr val="FFFFFF"/>
          </a:solidFill>
          <a:ln/>
        </p:spPr>
      </p:sp>
      <p:sp>
        <p:nvSpPr>
          <p:cNvPr id="21" name="Text 19"/>
          <p:cNvSpPr/>
          <p:nvPr/>
        </p:nvSpPr>
        <p:spPr>
          <a:xfrm>
            <a:off x="804672" y="3648456"/>
            <a:ext cx="2578608" cy="576072"/>
          </a:xfrm>
          <a:prstGeom prst="rect">
            <a:avLst/>
          </a:prstGeom>
          <a:noFill/>
          <a:ln/>
        </p:spPr>
        <p:txBody>
          <a:bodyPr wrap="square" rtlCol="0" anchor="ctr"/>
          <a:lstStyle/>
          <a:p>
            <a:pPr algn="l" indent="0" marL="0">
              <a:buNone/>
            </a:pPr>
            <a:r>
              <a:rPr lang="en-US" sz="1400" b="1" dirty="0">
                <a:solidFill>
                  <a:srgbClr val="232F3E"/>
                </a:solidFill>
                <a:latin typeface="Calibri" pitchFamily="34" charset="0"/>
                <a:ea typeface="Calibri" pitchFamily="34" charset="-122"/>
                <a:cs typeface="Calibri" pitchFamily="34" charset="-120"/>
              </a:rPr>
              <a:t>Business</a:t>
            </a:r>
            <a:endParaRPr lang="en-US" sz="1400" dirty="0"/>
          </a:p>
        </p:txBody>
      </p:sp>
      <p:sp>
        <p:nvSpPr>
          <p:cNvPr id="22" name="Text 20"/>
          <p:cNvSpPr/>
          <p:nvPr/>
        </p:nvSpPr>
        <p:spPr>
          <a:xfrm>
            <a:off x="3639312" y="3648456"/>
            <a:ext cx="3310128" cy="576072"/>
          </a:xfrm>
          <a:prstGeom prst="rect">
            <a:avLst/>
          </a:prstGeom>
          <a:noFill/>
          <a:ln/>
        </p:spPr>
        <p:txBody>
          <a:bodyPr wrap="square" rtlCol="0" anchor="ctr"/>
          <a:lstStyle/>
          <a:p>
            <a:pPr algn="ctr" indent="0" marL="0">
              <a:buNone/>
            </a:pPr>
            <a:r>
              <a:rPr lang="en-US" sz="1350" dirty="0">
                <a:solidFill>
                  <a:srgbClr val="5B6570"/>
                </a:solidFill>
                <a:latin typeface="Calibri" pitchFamily="34" charset="0"/>
                <a:ea typeface="Calibri" pitchFamily="34" charset="-122"/>
                <a:cs typeface="Calibri" pitchFamily="34" charset="-120"/>
              </a:rPr>
              <a:t>Production workloads</a:t>
            </a:r>
            <a:endParaRPr lang="en-US" sz="1350" dirty="0"/>
          </a:p>
        </p:txBody>
      </p:sp>
      <p:sp>
        <p:nvSpPr>
          <p:cNvPr id="23" name="Text 21"/>
          <p:cNvSpPr/>
          <p:nvPr/>
        </p:nvSpPr>
        <p:spPr>
          <a:xfrm>
            <a:off x="7205472" y="3648456"/>
            <a:ext cx="2395728" cy="576072"/>
          </a:xfrm>
          <a:prstGeom prst="rect">
            <a:avLst/>
          </a:prstGeom>
          <a:noFill/>
          <a:ln/>
        </p:spPr>
        <p:txBody>
          <a:bodyPr wrap="square" rtlCol="0" anchor="ctr"/>
          <a:lstStyle/>
          <a:p>
            <a:pPr algn="ctr" indent="0" marL="0">
              <a:buNone/>
            </a:pPr>
            <a:r>
              <a:rPr lang="en-US" sz="1350" dirty="0">
                <a:solidFill>
                  <a:srgbClr val="5B6570"/>
                </a:solidFill>
                <a:latin typeface="Calibri" pitchFamily="34" charset="0"/>
                <a:ea typeface="Calibri" pitchFamily="34" charset="-122"/>
                <a:cs typeface="Calibri" pitchFamily="34" charset="-120"/>
              </a:rPr>
              <a:t>&lt; 1 hour, 24/7</a:t>
            </a:r>
            <a:endParaRPr lang="en-US" sz="1350" dirty="0"/>
          </a:p>
        </p:txBody>
      </p:sp>
      <p:sp>
        <p:nvSpPr>
          <p:cNvPr id="24" name="Text 22"/>
          <p:cNvSpPr/>
          <p:nvPr/>
        </p:nvSpPr>
        <p:spPr>
          <a:xfrm>
            <a:off x="9857232" y="3648456"/>
            <a:ext cx="1600200" cy="576072"/>
          </a:xfrm>
          <a:prstGeom prst="rect">
            <a:avLst/>
          </a:prstGeom>
          <a:noFill/>
          <a:ln/>
        </p:spPr>
        <p:txBody>
          <a:bodyPr wrap="square" rtlCol="0" anchor="ctr"/>
          <a:lstStyle/>
          <a:p>
            <a:pPr algn="ctr" indent="0" marL="0">
              <a:buNone/>
            </a:pPr>
            <a:r>
              <a:rPr lang="en-US" sz="1350" dirty="0">
                <a:solidFill>
                  <a:srgbClr val="5B6570"/>
                </a:solidFill>
                <a:latin typeface="Calibri" pitchFamily="34" charset="0"/>
                <a:ea typeface="Calibri" pitchFamily="34" charset="-122"/>
                <a:cs typeface="Calibri" pitchFamily="34" charset="-120"/>
              </a:rPr>
              <a:t>No</a:t>
            </a:r>
            <a:endParaRPr lang="en-US" sz="1350" dirty="0"/>
          </a:p>
        </p:txBody>
      </p:sp>
      <p:sp>
        <p:nvSpPr>
          <p:cNvPr id="25" name="Shape 23"/>
          <p:cNvSpPr/>
          <p:nvPr/>
        </p:nvSpPr>
        <p:spPr>
          <a:xfrm>
            <a:off x="640080" y="4224528"/>
            <a:ext cx="10908792" cy="576072"/>
          </a:xfrm>
          <a:prstGeom prst="rect">
            <a:avLst/>
          </a:prstGeom>
          <a:solidFill>
            <a:srgbClr val="EDF1F4"/>
          </a:solidFill>
          <a:ln/>
        </p:spPr>
      </p:sp>
      <p:sp>
        <p:nvSpPr>
          <p:cNvPr id="26" name="Text 24"/>
          <p:cNvSpPr/>
          <p:nvPr/>
        </p:nvSpPr>
        <p:spPr>
          <a:xfrm>
            <a:off x="804672" y="4224528"/>
            <a:ext cx="2578608" cy="576072"/>
          </a:xfrm>
          <a:prstGeom prst="rect">
            <a:avLst/>
          </a:prstGeom>
          <a:noFill/>
          <a:ln/>
        </p:spPr>
        <p:txBody>
          <a:bodyPr wrap="square" rtlCol="0" anchor="ctr"/>
          <a:lstStyle/>
          <a:p>
            <a:pPr algn="l" indent="0" marL="0">
              <a:buNone/>
            </a:pPr>
            <a:r>
              <a:rPr lang="en-US" sz="1400" b="1" dirty="0">
                <a:solidFill>
                  <a:srgbClr val="232F3E"/>
                </a:solidFill>
                <a:latin typeface="Calibri" pitchFamily="34" charset="0"/>
                <a:ea typeface="Calibri" pitchFamily="34" charset="-122"/>
                <a:cs typeface="Calibri" pitchFamily="34" charset="-120"/>
              </a:rPr>
              <a:t>Enterprise On-Ramp</a:t>
            </a:r>
            <a:endParaRPr lang="en-US" sz="1400" dirty="0"/>
          </a:p>
        </p:txBody>
      </p:sp>
      <p:sp>
        <p:nvSpPr>
          <p:cNvPr id="27" name="Text 25"/>
          <p:cNvSpPr/>
          <p:nvPr/>
        </p:nvSpPr>
        <p:spPr>
          <a:xfrm>
            <a:off x="3639312" y="4224528"/>
            <a:ext cx="3310128" cy="576072"/>
          </a:xfrm>
          <a:prstGeom prst="rect">
            <a:avLst/>
          </a:prstGeom>
          <a:noFill/>
          <a:ln/>
        </p:spPr>
        <p:txBody>
          <a:bodyPr wrap="square" rtlCol="0" anchor="ctr"/>
          <a:lstStyle/>
          <a:p>
            <a:pPr algn="ctr" indent="0" marL="0">
              <a:buNone/>
            </a:pPr>
            <a:r>
              <a:rPr lang="en-US" sz="1350" dirty="0">
                <a:solidFill>
                  <a:srgbClr val="5B6570"/>
                </a:solidFill>
                <a:latin typeface="Calibri" pitchFamily="34" charset="0"/>
                <a:ea typeface="Calibri" pitchFamily="34" charset="-122"/>
                <a:cs typeface="Calibri" pitchFamily="34" charset="-120"/>
              </a:rPr>
              <a:t>Business-critical workloads</a:t>
            </a:r>
            <a:endParaRPr lang="en-US" sz="1350" dirty="0"/>
          </a:p>
        </p:txBody>
      </p:sp>
      <p:sp>
        <p:nvSpPr>
          <p:cNvPr id="28" name="Text 26"/>
          <p:cNvSpPr/>
          <p:nvPr/>
        </p:nvSpPr>
        <p:spPr>
          <a:xfrm>
            <a:off x="7205472" y="4224528"/>
            <a:ext cx="2395728" cy="576072"/>
          </a:xfrm>
          <a:prstGeom prst="rect">
            <a:avLst/>
          </a:prstGeom>
          <a:noFill/>
          <a:ln/>
        </p:spPr>
        <p:txBody>
          <a:bodyPr wrap="square" rtlCol="0" anchor="ctr"/>
          <a:lstStyle/>
          <a:p>
            <a:pPr algn="ctr" indent="0" marL="0">
              <a:buNone/>
            </a:pPr>
            <a:r>
              <a:rPr lang="en-US" sz="1350" dirty="0">
                <a:solidFill>
                  <a:srgbClr val="5B6570"/>
                </a:solidFill>
                <a:latin typeface="Calibri" pitchFamily="34" charset="0"/>
                <a:ea typeface="Calibri" pitchFamily="34" charset="-122"/>
                <a:cs typeface="Calibri" pitchFamily="34" charset="-120"/>
              </a:rPr>
              <a:t>&lt; 30 minutes</a:t>
            </a:r>
            <a:endParaRPr lang="en-US" sz="1350" dirty="0"/>
          </a:p>
        </p:txBody>
      </p:sp>
      <p:sp>
        <p:nvSpPr>
          <p:cNvPr id="29" name="Text 27"/>
          <p:cNvSpPr/>
          <p:nvPr/>
        </p:nvSpPr>
        <p:spPr>
          <a:xfrm>
            <a:off x="9857232" y="4224528"/>
            <a:ext cx="1600200" cy="576072"/>
          </a:xfrm>
          <a:prstGeom prst="rect">
            <a:avLst/>
          </a:prstGeom>
          <a:noFill/>
          <a:ln/>
        </p:spPr>
        <p:txBody>
          <a:bodyPr wrap="square" rtlCol="0" anchor="ctr"/>
          <a:lstStyle/>
          <a:p>
            <a:pPr algn="ctr" indent="0" marL="0">
              <a:buNone/>
            </a:pPr>
            <a:r>
              <a:rPr lang="en-US" sz="1350" dirty="0">
                <a:solidFill>
                  <a:srgbClr val="5B6570"/>
                </a:solidFill>
                <a:latin typeface="Calibri" pitchFamily="34" charset="0"/>
                <a:ea typeface="Calibri" pitchFamily="34" charset="-122"/>
                <a:cs typeface="Calibri" pitchFamily="34" charset="-120"/>
              </a:rPr>
              <a:t>Pool of TAMs</a:t>
            </a:r>
            <a:endParaRPr lang="en-US" sz="1350" dirty="0"/>
          </a:p>
        </p:txBody>
      </p:sp>
      <p:sp>
        <p:nvSpPr>
          <p:cNvPr id="30" name="Shape 28"/>
          <p:cNvSpPr/>
          <p:nvPr/>
        </p:nvSpPr>
        <p:spPr>
          <a:xfrm>
            <a:off x="640080" y="4800600"/>
            <a:ext cx="10908792" cy="576072"/>
          </a:xfrm>
          <a:prstGeom prst="rect">
            <a:avLst/>
          </a:prstGeom>
          <a:solidFill>
            <a:srgbClr val="FFFFFF"/>
          </a:solidFill>
          <a:ln/>
        </p:spPr>
      </p:sp>
      <p:sp>
        <p:nvSpPr>
          <p:cNvPr id="31" name="Text 29"/>
          <p:cNvSpPr/>
          <p:nvPr/>
        </p:nvSpPr>
        <p:spPr>
          <a:xfrm>
            <a:off x="804672" y="4800600"/>
            <a:ext cx="2578608" cy="576072"/>
          </a:xfrm>
          <a:prstGeom prst="rect">
            <a:avLst/>
          </a:prstGeom>
          <a:noFill/>
          <a:ln/>
        </p:spPr>
        <p:txBody>
          <a:bodyPr wrap="square" rtlCol="0" anchor="ctr"/>
          <a:lstStyle/>
          <a:p>
            <a:pPr algn="l" indent="0" marL="0">
              <a:buNone/>
            </a:pPr>
            <a:r>
              <a:rPr lang="en-US" sz="1400" b="1" dirty="0">
                <a:solidFill>
                  <a:srgbClr val="232F3E"/>
                </a:solidFill>
                <a:latin typeface="Calibri" pitchFamily="34" charset="0"/>
                <a:ea typeface="Calibri" pitchFamily="34" charset="-122"/>
                <a:cs typeface="Calibri" pitchFamily="34" charset="-120"/>
              </a:rPr>
              <a:t>Enterprise</a:t>
            </a:r>
            <a:endParaRPr lang="en-US" sz="1400" dirty="0"/>
          </a:p>
        </p:txBody>
      </p:sp>
      <p:sp>
        <p:nvSpPr>
          <p:cNvPr id="32" name="Text 30"/>
          <p:cNvSpPr/>
          <p:nvPr/>
        </p:nvSpPr>
        <p:spPr>
          <a:xfrm>
            <a:off x="3639312" y="4800600"/>
            <a:ext cx="3310128" cy="576072"/>
          </a:xfrm>
          <a:prstGeom prst="rect">
            <a:avLst/>
          </a:prstGeom>
          <a:noFill/>
          <a:ln/>
        </p:spPr>
        <p:txBody>
          <a:bodyPr wrap="square" rtlCol="0" anchor="ctr"/>
          <a:lstStyle/>
          <a:p>
            <a:pPr algn="ctr" indent="0" marL="0">
              <a:buNone/>
            </a:pPr>
            <a:r>
              <a:rPr lang="en-US" sz="1350" dirty="0">
                <a:solidFill>
                  <a:srgbClr val="5B6570"/>
                </a:solidFill>
                <a:latin typeface="Calibri" pitchFamily="34" charset="0"/>
                <a:ea typeface="Calibri" pitchFamily="34" charset="-122"/>
                <a:cs typeface="Calibri" pitchFamily="34" charset="-120"/>
              </a:rPr>
              <a:t>Mission-critical workloads</a:t>
            </a:r>
            <a:endParaRPr lang="en-US" sz="1350" dirty="0"/>
          </a:p>
        </p:txBody>
      </p:sp>
      <p:sp>
        <p:nvSpPr>
          <p:cNvPr id="33" name="Text 31"/>
          <p:cNvSpPr/>
          <p:nvPr/>
        </p:nvSpPr>
        <p:spPr>
          <a:xfrm>
            <a:off x="7205472" y="4800600"/>
            <a:ext cx="2395728" cy="576072"/>
          </a:xfrm>
          <a:prstGeom prst="rect">
            <a:avLst/>
          </a:prstGeom>
          <a:noFill/>
          <a:ln/>
        </p:spPr>
        <p:txBody>
          <a:bodyPr wrap="square" rtlCol="0" anchor="ctr"/>
          <a:lstStyle/>
          <a:p>
            <a:pPr algn="ctr" indent="0" marL="0">
              <a:buNone/>
            </a:pPr>
            <a:r>
              <a:rPr lang="en-US" sz="1350" dirty="0">
                <a:solidFill>
                  <a:srgbClr val="5B6570"/>
                </a:solidFill>
                <a:latin typeface="Calibri" pitchFamily="34" charset="0"/>
                <a:ea typeface="Calibri" pitchFamily="34" charset="-122"/>
                <a:cs typeface="Calibri" pitchFamily="34" charset="-120"/>
              </a:rPr>
              <a:t>&lt; 15 minutes</a:t>
            </a:r>
            <a:endParaRPr lang="en-US" sz="1350" dirty="0"/>
          </a:p>
        </p:txBody>
      </p:sp>
      <p:sp>
        <p:nvSpPr>
          <p:cNvPr id="34" name="Text 32"/>
          <p:cNvSpPr/>
          <p:nvPr/>
        </p:nvSpPr>
        <p:spPr>
          <a:xfrm>
            <a:off x="9857232" y="4800600"/>
            <a:ext cx="1600200" cy="576072"/>
          </a:xfrm>
          <a:prstGeom prst="rect">
            <a:avLst/>
          </a:prstGeom>
          <a:noFill/>
          <a:ln/>
        </p:spPr>
        <p:txBody>
          <a:bodyPr wrap="square" rtlCol="0" anchor="ctr"/>
          <a:lstStyle/>
          <a:p>
            <a:pPr algn="ctr" indent="0" marL="0">
              <a:buNone/>
            </a:pPr>
            <a:r>
              <a:rPr lang="en-US" sz="1350" dirty="0">
                <a:solidFill>
                  <a:srgbClr val="5B6570"/>
                </a:solidFill>
                <a:latin typeface="Calibri" pitchFamily="34" charset="0"/>
                <a:ea typeface="Calibri" pitchFamily="34" charset="-122"/>
                <a:cs typeface="Calibri" pitchFamily="34" charset="-120"/>
              </a:rPr>
              <a:t>Designated TAM</a:t>
            </a:r>
            <a:endParaRPr lang="en-US" sz="1350" dirty="0"/>
          </a:p>
        </p:txBody>
      </p:sp>
      <p:sp>
        <p:nvSpPr>
          <p:cNvPr id="35" name="Shape 33"/>
          <p:cNvSpPr/>
          <p:nvPr/>
        </p:nvSpPr>
        <p:spPr>
          <a:xfrm>
            <a:off x="640080" y="1920240"/>
            <a:ext cx="10908792" cy="3456432"/>
          </a:xfrm>
          <a:prstGeom prst="rect">
            <a:avLst/>
          </a:prstGeom>
          <a:ln w="12700">
            <a:solidFill>
              <a:srgbClr val="DCE1E6"/>
            </a:solidFill>
            <a:prstDash val="solid"/>
          </a:ln>
        </p:spPr>
      </p:sp>
      <p:sp>
        <p:nvSpPr>
          <p:cNvPr id="36" name="Text 34"/>
          <p:cNvSpPr/>
          <p:nvPr/>
        </p:nvSpPr>
        <p:spPr>
          <a:xfrm>
            <a:off x="640080" y="5623560"/>
            <a:ext cx="10908792" cy="365760"/>
          </a:xfrm>
          <a:prstGeom prst="rect">
            <a:avLst/>
          </a:prstGeom>
          <a:noFill/>
          <a:ln/>
        </p:spPr>
        <p:txBody>
          <a:bodyPr wrap="square" rtlCol="0" anchor="ctr"/>
          <a:lstStyle/>
          <a:p>
            <a:pPr algn="ctr" indent="0" marL="0">
              <a:buNone/>
            </a:pPr>
            <a:r>
              <a:rPr lang="en-US" sz="1400" b="1" i="1" dirty="0">
                <a:solidFill>
                  <a:srgbClr val="232F3E"/>
                </a:solidFill>
                <a:latin typeface="Calibri" pitchFamily="34" charset="0"/>
                <a:ea typeface="Calibri" pitchFamily="34" charset="-122"/>
                <a:cs typeface="Calibri" pitchFamily="34" charset="-120"/>
              </a:rPr>
              <a:t>Rule of thumb:  faster required response + dedicated help  =  higher tier.</a:t>
            </a:r>
            <a:endParaRPr lang="en-US" sz="1400" dirty="0"/>
          </a:p>
        </p:txBody>
      </p:sp>
      <p:sp>
        <p:nvSpPr>
          <p:cNvPr id="37" name="Text 35"/>
          <p:cNvSpPr/>
          <p:nvPr/>
        </p:nvSpPr>
        <p:spPr>
          <a:xfrm>
            <a:off x="640080" y="6473952"/>
            <a:ext cx="5943600" cy="274320"/>
          </a:xfrm>
          <a:prstGeom prst="rect">
            <a:avLst/>
          </a:prstGeom>
          <a:noFill/>
          <a:ln/>
        </p:spPr>
        <p:txBody>
          <a:bodyPr wrap="square" rtlCol="0" anchor="ctr"/>
          <a:lstStyle/>
          <a:p>
            <a:pPr indent="0" marL="0">
              <a:buNone/>
            </a:pPr>
            <a:r>
              <a:rPr lang="en-US" sz="900" dirty="0">
                <a:solidFill>
                  <a:srgbClr val="5B6570"/>
                </a:solidFill>
                <a:latin typeface="Calibri" pitchFamily="34" charset="0"/>
                <a:ea typeface="Calibri" pitchFamily="34" charset="-122"/>
                <a:cs typeface="Calibri" pitchFamily="34" charset="-120"/>
              </a:rPr>
              <a:t>AWS SAA-A  ·  Lecture 2  ·  Cloud Economics &amp; Billing</a:t>
            </a:r>
            <a:endParaRPr lang="en-US" sz="900" dirty="0"/>
          </a:p>
        </p:txBody>
      </p:sp>
      <p:sp>
        <p:nvSpPr>
          <p:cNvPr id="38" name="Text 36"/>
          <p:cNvSpPr/>
          <p:nvPr/>
        </p:nvSpPr>
        <p:spPr>
          <a:xfrm>
            <a:off x="11000232" y="6473952"/>
            <a:ext cx="548640" cy="274320"/>
          </a:xfrm>
          <a:prstGeom prst="rect">
            <a:avLst/>
          </a:prstGeom>
          <a:noFill/>
          <a:ln/>
        </p:spPr>
        <p:txBody>
          <a:bodyPr wrap="square" rtlCol="0" anchor="ctr"/>
          <a:lstStyle/>
          <a:p>
            <a:pPr algn="r" indent="0" marL="0">
              <a:buNone/>
            </a:pPr>
            <a:r>
              <a:rPr lang="en-US" sz="900" dirty="0">
                <a:solidFill>
                  <a:srgbClr val="5B657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640080" y="457200"/>
            <a:ext cx="3931920" cy="384048"/>
          </a:xfrm>
          <a:prstGeom prst="roundRect">
            <a:avLst>
              <a:gd name="adj" fmla="val 19048"/>
            </a:avLst>
          </a:prstGeom>
          <a:solidFill>
            <a:srgbClr val="B7791F"/>
          </a:solidFill>
          <a:ln/>
        </p:spPr>
      </p:sp>
      <p:sp>
        <p:nvSpPr>
          <p:cNvPr id="3" name="Text 1"/>
          <p:cNvSpPr/>
          <p:nvPr/>
        </p:nvSpPr>
        <p:spPr>
          <a:xfrm>
            <a:off x="640080" y="457200"/>
            <a:ext cx="3931920" cy="384048"/>
          </a:xfrm>
          <a:prstGeom prst="rect">
            <a:avLst/>
          </a:prstGeom>
          <a:noFill/>
          <a:ln/>
        </p:spPr>
        <p:txBody>
          <a:bodyPr wrap="square" rtlCol="0" anchor="ctr"/>
          <a:lstStyle/>
          <a:p>
            <a:pPr algn="ctr" indent="0" marL="0">
              <a:buNone/>
            </a:pPr>
            <a:r>
              <a:rPr lang="en-US" sz="1150" b="1" spc="100" kern="0" dirty="0">
                <a:solidFill>
                  <a:srgbClr val="232F3E"/>
                </a:solidFill>
                <a:latin typeface="Calibri" pitchFamily="34" charset="0"/>
                <a:ea typeface="Calibri" pitchFamily="34" charset="-122"/>
                <a:cs typeface="Calibri" pitchFamily="34" charset="-120"/>
              </a:rPr>
              <a:t>⚠  EXAM vs. REAL WORLD</a:t>
            </a:r>
            <a:endParaRPr lang="en-US" sz="1150" dirty="0"/>
          </a:p>
        </p:txBody>
      </p:sp>
      <p:sp>
        <p:nvSpPr>
          <p:cNvPr id="4" name="Text 2"/>
          <p:cNvSpPr/>
          <p:nvPr/>
        </p:nvSpPr>
        <p:spPr>
          <a:xfrm>
            <a:off x="640080" y="960120"/>
            <a:ext cx="105156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Support Plans Are Being Restructured</a:t>
            </a:r>
            <a:endParaRPr lang="en-US" sz="3200" dirty="0"/>
          </a:p>
        </p:txBody>
      </p:sp>
      <p:sp>
        <p:nvSpPr>
          <p:cNvPr id="5" name="Text 3"/>
          <p:cNvSpPr/>
          <p:nvPr/>
        </p:nvSpPr>
        <p:spPr>
          <a:xfrm>
            <a:off x="640080" y="1645920"/>
            <a:ext cx="10515600" cy="365760"/>
          </a:xfrm>
          <a:prstGeom prst="rect">
            <a:avLst/>
          </a:prstGeom>
          <a:noFill/>
          <a:ln/>
        </p:spPr>
        <p:txBody>
          <a:bodyPr wrap="square" rtlCol="0" anchor="ctr"/>
          <a:lstStyle/>
          <a:p>
            <a:pPr indent="0" marL="0">
              <a:buNone/>
            </a:pPr>
            <a:r>
              <a:rPr lang="en-US" sz="1500" i="1" dirty="0">
                <a:solidFill>
                  <a:srgbClr val="AEB9C6"/>
                </a:solidFill>
                <a:latin typeface="Calibri" pitchFamily="34" charset="0"/>
                <a:ea typeface="Calibri" pitchFamily="34" charset="-122"/>
                <a:cs typeface="Calibri" pitchFamily="34" charset="-120"/>
              </a:rPr>
              <a:t>AWS is consolidating the tiers. Your exam still tests the five on the last slide — but know what's coming.</a:t>
            </a:r>
            <a:endParaRPr lang="en-US" sz="1500" dirty="0"/>
          </a:p>
        </p:txBody>
      </p:sp>
      <p:sp>
        <p:nvSpPr>
          <p:cNvPr id="6" name="Shape 4"/>
          <p:cNvSpPr/>
          <p:nvPr/>
        </p:nvSpPr>
        <p:spPr>
          <a:xfrm>
            <a:off x="640080" y="2194560"/>
            <a:ext cx="5257800" cy="3566160"/>
          </a:xfrm>
          <a:prstGeom prst="roundRect">
            <a:avLst>
              <a:gd name="adj" fmla="val 3077"/>
            </a:avLst>
          </a:prstGeom>
          <a:solidFill>
            <a:srgbClr val="2E3E52"/>
          </a:solidFill>
          <a:ln/>
        </p:spPr>
      </p:sp>
      <p:sp>
        <p:nvSpPr>
          <p:cNvPr id="7" name="Text 5"/>
          <p:cNvSpPr/>
          <p:nvPr/>
        </p:nvSpPr>
        <p:spPr>
          <a:xfrm>
            <a:off x="1005840" y="2423160"/>
            <a:ext cx="4572000" cy="320040"/>
          </a:xfrm>
          <a:prstGeom prst="rect">
            <a:avLst/>
          </a:prstGeom>
          <a:noFill/>
          <a:ln/>
        </p:spPr>
        <p:txBody>
          <a:bodyPr wrap="square" rtlCol="0" anchor="ctr"/>
          <a:lstStyle/>
          <a:p>
            <a:pPr indent="0" marL="0">
              <a:buNone/>
            </a:pPr>
            <a:r>
              <a:rPr lang="en-US" sz="1200" b="1" spc="200" kern="0" dirty="0">
                <a:solidFill>
                  <a:srgbClr val="FF8A80"/>
                </a:solidFill>
                <a:latin typeface="Calibri" pitchFamily="34" charset="0"/>
                <a:ea typeface="Calibri" pitchFamily="34" charset="-122"/>
                <a:cs typeface="Calibri" pitchFamily="34" charset="-120"/>
              </a:rPr>
              <a:t>BEING RETIRED</a:t>
            </a:r>
            <a:endParaRPr lang="en-US" sz="1200" dirty="0"/>
          </a:p>
        </p:txBody>
      </p:sp>
      <p:sp>
        <p:nvSpPr>
          <p:cNvPr id="8" name="Text 6"/>
          <p:cNvSpPr/>
          <p:nvPr/>
        </p:nvSpPr>
        <p:spPr>
          <a:xfrm>
            <a:off x="1005840" y="2880360"/>
            <a:ext cx="4572000" cy="411480"/>
          </a:xfrm>
          <a:prstGeom prst="rect">
            <a:avLst/>
          </a:prstGeom>
          <a:noFill/>
          <a:ln/>
        </p:spPr>
        <p:txBody>
          <a:bodyPr wrap="square" rtlCol="0" anchor="ctr"/>
          <a:lstStyle/>
          <a:p>
            <a:pPr indent="0" marL="0">
              <a:buNone/>
            </a:pPr>
            <a:r>
              <a:rPr lang="en-US" sz="1600" dirty="0">
                <a:solidFill>
                  <a:srgbClr val="E4EAF0"/>
                </a:solidFill>
                <a:latin typeface="Calibri" pitchFamily="34" charset="0"/>
                <a:ea typeface="Calibri" pitchFamily="34" charset="-122"/>
                <a:cs typeface="Calibri" pitchFamily="34" charset="-120"/>
              </a:rPr>
              <a:t>✕   Developer Support</a:t>
            </a:r>
            <a:endParaRPr lang="en-US" sz="1600" dirty="0"/>
          </a:p>
        </p:txBody>
      </p:sp>
      <p:sp>
        <p:nvSpPr>
          <p:cNvPr id="9" name="Text 7"/>
          <p:cNvSpPr/>
          <p:nvPr/>
        </p:nvSpPr>
        <p:spPr>
          <a:xfrm>
            <a:off x="1005840" y="3429000"/>
            <a:ext cx="4572000" cy="411480"/>
          </a:xfrm>
          <a:prstGeom prst="rect">
            <a:avLst/>
          </a:prstGeom>
          <a:noFill/>
          <a:ln/>
        </p:spPr>
        <p:txBody>
          <a:bodyPr wrap="square" rtlCol="0" anchor="ctr"/>
          <a:lstStyle/>
          <a:p>
            <a:pPr indent="0" marL="0">
              <a:buNone/>
            </a:pPr>
            <a:r>
              <a:rPr lang="en-US" sz="1600" dirty="0">
                <a:solidFill>
                  <a:srgbClr val="E4EAF0"/>
                </a:solidFill>
                <a:latin typeface="Calibri" pitchFamily="34" charset="0"/>
                <a:ea typeface="Calibri" pitchFamily="34" charset="-122"/>
                <a:cs typeface="Calibri" pitchFamily="34" charset="-120"/>
              </a:rPr>
              <a:t>✕   Business Support</a:t>
            </a:r>
            <a:endParaRPr lang="en-US" sz="1600" dirty="0"/>
          </a:p>
        </p:txBody>
      </p:sp>
      <p:sp>
        <p:nvSpPr>
          <p:cNvPr id="10" name="Text 8"/>
          <p:cNvSpPr/>
          <p:nvPr/>
        </p:nvSpPr>
        <p:spPr>
          <a:xfrm>
            <a:off x="1005840" y="3977640"/>
            <a:ext cx="4572000" cy="411480"/>
          </a:xfrm>
          <a:prstGeom prst="rect">
            <a:avLst/>
          </a:prstGeom>
          <a:noFill/>
          <a:ln/>
        </p:spPr>
        <p:txBody>
          <a:bodyPr wrap="square" rtlCol="0" anchor="ctr"/>
          <a:lstStyle/>
          <a:p>
            <a:pPr indent="0" marL="0">
              <a:buNone/>
            </a:pPr>
            <a:r>
              <a:rPr lang="en-US" sz="1600" dirty="0">
                <a:solidFill>
                  <a:srgbClr val="E4EAF0"/>
                </a:solidFill>
                <a:latin typeface="Calibri" pitchFamily="34" charset="0"/>
                <a:ea typeface="Calibri" pitchFamily="34" charset="-122"/>
                <a:cs typeface="Calibri" pitchFamily="34" charset="-120"/>
              </a:rPr>
              <a:t>✕   Enterprise On-Ramp</a:t>
            </a:r>
            <a:endParaRPr lang="en-US" sz="1600" dirty="0"/>
          </a:p>
        </p:txBody>
      </p:sp>
      <p:sp>
        <p:nvSpPr>
          <p:cNvPr id="11" name="Text 9"/>
          <p:cNvSpPr/>
          <p:nvPr/>
        </p:nvSpPr>
        <p:spPr>
          <a:xfrm>
            <a:off x="1005840" y="4617720"/>
            <a:ext cx="4572000" cy="914400"/>
          </a:xfrm>
          <a:prstGeom prst="rect">
            <a:avLst/>
          </a:prstGeom>
          <a:noFill/>
          <a:ln/>
        </p:spPr>
        <p:txBody>
          <a:bodyPr wrap="square" rtlCol="0" anchor="ctr"/>
          <a:lstStyle/>
          <a:p>
            <a:pPr indent="0" marL="0">
              <a:lnSpc>
                <a:spcPct val="105000"/>
              </a:lnSpc>
              <a:buNone/>
            </a:pPr>
            <a:r>
              <a:rPr lang="en-US" sz="1300" i="1" dirty="0">
                <a:solidFill>
                  <a:srgbClr val="AEB9C6"/>
                </a:solidFill>
                <a:latin typeface="Calibri" pitchFamily="34" charset="0"/>
                <a:ea typeface="Calibri" pitchFamily="34" charset="-122"/>
                <a:cs typeface="Calibri" pitchFamily="34" charset="-120"/>
              </a:rPr>
              <a:t>These are scheduled to sunset, with customers moved to the new tiers. They remain available in GovCloud.</a:t>
            </a:r>
            <a:endParaRPr lang="en-US" sz="1300" dirty="0"/>
          </a:p>
        </p:txBody>
      </p:sp>
      <p:sp>
        <p:nvSpPr>
          <p:cNvPr id="12" name="Shape 10"/>
          <p:cNvSpPr/>
          <p:nvPr/>
        </p:nvSpPr>
        <p:spPr>
          <a:xfrm>
            <a:off x="6263640" y="2194560"/>
            <a:ext cx="5257800" cy="3566160"/>
          </a:xfrm>
          <a:prstGeom prst="roundRect">
            <a:avLst>
              <a:gd name="adj" fmla="val 3077"/>
            </a:avLst>
          </a:prstGeom>
          <a:solidFill>
            <a:srgbClr val="2E3E52"/>
          </a:solidFill>
          <a:ln/>
        </p:spPr>
      </p:sp>
      <p:sp>
        <p:nvSpPr>
          <p:cNvPr id="13" name="Text 11"/>
          <p:cNvSpPr/>
          <p:nvPr/>
        </p:nvSpPr>
        <p:spPr>
          <a:xfrm>
            <a:off x="6629400" y="2423160"/>
            <a:ext cx="4572000" cy="320040"/>
          </a:xfrm>
          <a:prstGeom prst="rect">
            <a:avLst/>
          </a:prstGeom>
          <a:noFill/>
          <a:ln/>
        </p:spPr>
        <p:txBody>
          <a:bodyPr wrap="square" rtlCol="0" anchor="ctr"/>
          <a:lstStyle/>
          <a:p>
            <a:pPr indent="0" marL="0">
              <a:buNone/>
            </a:pPr>
            <a:r>
              <a:rPr lang="en-US" sz="1200" b="1" spc="200" kern="0" dirty="0">
                <a:solidFill>
                  <a:srgbClr val="5FD08A"/>
                </a:solidFill>
                <a:latin typeface="Calibri" pitchFamily="34" charset="0"/>
                <a:ea typeface="Calibri" pitchFamily="34" charset="-122"/>
                <a:cs typeface="Calibri" pitchFamily="34" charset="-120"/>
              </a:rPr>
              <a:t>THE NEW LINEUP</a:t>
            </a:r>
            <a:endParaRPr lang="en-US" sz="1200" dirty="0"/>
          </a:p>
        </p:txBody>
      </p:sp>
      <p:sp>
        <p:nvSpPr>
          <p:cNvPr id="14" name="Text 12"/>
          <p:cNvSpPr/>
          <p:nvPr/>
        </p:nvSpPr>
        <p:spPr>
          <a:xfrm>
            <a:off x="6629400" y="2880360"/>
            <a:ext cx="4572000" cy="347472"/>
          </a:xfrm>
          <a:prstGeom prst="rect">
            <a:avLst/>
          </a:prstGeom>
          <a:noFill/>
          <a:ln/>
        </p:spPr>
        <p:txBody>
          <a:bodyPr wrap="square" rtlCol="0" anchor="ctr"/>
          <a:lstStyle/>
          <a:p>
            <a:pPr indent="0" marL="0">
              <a:buNone/>
            </a:pPr>
            <a:r>
              <a:rPr lang="en-US" sz="1650" b="1" dirty="0">
                <a:solidFill>
                  <a:srgbClr val="FF9900"/>
                </a:solidFill>
                <a:latin typeface="Calibri" pitchFamily="34" charset="0"/>
                <a:ea typeface="Calibri" pitchFamily="34" charset="-122"/>
                <a:cs typeface="Calibri" pitchFamily="34" charset="-120"/>
              </a:rPr>
              <a:t>Business Support+</a:t>
            </a:r>
            <a:endParaRPr lang="en-US" sz="1650" dirty="0"/>
          </a:p>
        </p:txBody>
      </p:sp>
      <p:sp>
        <p:nvSpPr>
          <p:cNvPr id="15" name="Text 13"/>
          <p:cNvSpPr/>
          <p:nvPr/>
        </p:nvSpPr>
        <p:spPr>
          <a:xfrm>
            <a:off x="6629400" y="3209544"/>
            <a:ext cx="4572000" cy="457200"/>
          </a:xfrm>
          <a:prstGeom prst="rect">
            <a:avLst/>
          </a:prstGeom>
          <a:noFill/>
          <a:ln/>
        </p:spPr>
        <p:txBody>
          <a:bodyPr wrap="square" rtlCol="0" anchor="ctr"/>
          <a:lstStyle/>
          <a:p>
            <a:pPr indent="0" marL="0">
              <a:buNone/>
            </a:pPr>
            <a:r>
              <a:rPr lang="en-US" sz="1300" dirty="0">
                <a:solidFill>
                  <a:srgbClr val="C7D2DE"/>
                </a:solidFill>
                <a:latin typeface="Calibri" pitchFamily="34" charset="0"/>
                <a:ea typeface="Calibri" pitchFamily="34" charset="-122"/>
                <a:cs typeface="Calibri" pitchFamily="34" charset="-120"/>
              </a:rPr>
              <a:t>24/7 expert access, AI-assisted troubleshooting</a:t>
            </a:r>
            <a:endParaRPr lang="en-US" sz="1300" dirty="0"/>
          </a:p>
        </p:txBody>
      </p:sp>
      <p:sp>
        <p:nvSpPr>
          <p:cNvPr id="16" name="Text 14"/>
          <p:cNvSpPr/>
          <p:nvPr/>
        </p:nvSpPr>
        <p:spPr>
          <a:xfrm>
            <a:off x="6629400" y="3749040"/>
            <a:ext cx="4572000" cy="347472"/>
          </a:xfrm>
          <a:prstGeom prst="rect">
            <a:avLst/>
          </a:prstGeom>
          <a:noFill/>
          <a:ln/>
        </p:spPr>
        <p:txBody>
          <a:bodyPr wrap="square" rtlCol="0" anchor="ctr"/>
          <a:lstStyle/>
          <a:p>
            <a:pPr indent="0" marL="0">
              <a:buNone/>
            </a:pPr>
            <a:r>
              <a:rPr lang="en-US" sz="1650" b="1" dirty="0">
                <a:solidFill>
                  <a:srgbClr val="FF9900"/>
                </a:solidFill>
                <a:latin typeface="Calibri" pitchFamily="34" charset="0"/>
                <a:ea typeface="Calibri" pitchFamily="34" charset="-122"/>
                <a:cs typeface="Calibri" pitchFamily="34" charset="-120"/>
              </a:rPr>
              <a:t>Enterprise Support</a:t>
            </a:r>
            <a:endParaRPr lang="en-US" sz="1650" dirty="0"/>
          </a:p>
        </p:txBody>
      </p:sp>
      <p:sp>
        <p:nvSpPr>
          <p:cNvPr id="17" name="Text 15"/>
          <p:cNvSpPr/>
          <p:nvPr/>
        </p:nvSpPr>
        <p:spPr>
          <a:xfrm>
            <a:off x="6629400" y="4078224"/>
            <a:ext cx="4572000" cy="457200"/>
          </a:xfrm>
          <a:prstGeom prst="rect">
            <a:avLst/>
          </a:prstGeom>
          <a:noFill/>
          <a:ln/>
        </p:spPr>
        <p:txBody>
          <a:bodyPr wrap="square" rtlCol="0" anchor="ctr"/>
          <a:lstStyle/>
          <a:p>
            <a:pPr indent="0" marL="0">
              <a:buNone/>
            </a:pPr>
            <a:r>
              <a:rPr lang="en-US" sz="1300" dirty="0">
                <a:solidFill>
                  <a:srgbClr val="C7D2DE"/>
                </a:solidFill>
                <a:latin typeface="Calibri" pitchFamily="34" charset="0"/>
                <a:ea typeface="Calibri" pitchFamily="34" charset="-122"/>
                <a:cs typeface="Calibri" pitchFamily="34" charset="-120"/>
              </a:rPr>
              <a:t>designated TAM, fastest critical response</a:t>
            </a:r>
            <a:endParaRPr lang="en-US" sz="1300" dirty="0"/>
          </a:p>
        </p:txBody>
      </p:sp>
      <p:sp>
        <p:nvSpPr>
          <p:cNvPr id="18" name="Text 16"/>
          <p:cNvSpPr/>
          <p:nvPr/>
        </p:nvSpPr>
        <p:spPr>
          <a:xfrm>
            <a:off x="6629400" y="4617720"/>
            <a:ext cx="4572000" cy="347472"/>
          </a:xfrm>
          <a:prstGeom prst="rect">
            <a:avLst/>
          </a:prstGeom>
          <a:noFill/>
          <a:ln/>
        </p:spPr>
        <p:txBody>
          <a:bodyPr wrap="square" rtlCol="0" anchor="ctr"/>
          <a:lstStyle/>
          <a:p>
            <a:pPr indent="0" marL="0">
              <a:buNone/>
            </a:pPr>
            <a:r>
              <a:rPr lang="en-US" sz="1650" b="1" dirty="0">
                <a:solidFill>
                  <a:srgbClr val="FF9900"/>
                </a:solidFill>
                <a:latin typeface="Calibri" pitchFamily="34" charset="0"/>
                <a:ea typeface="Calibri" pitchFamily="34" charset="-122"/>
                <a:cs typeface="Calibri" pitchFamily="34" charset="-120"/>
              </a:rPr>
              <a:t>Unified Operations</a:t>
            </a:r>
            <a:endParaRPr lang="en-US" sz="1650" dirty="0"/>
          </a:p>
        </p:txBody>
      </p:sp>
      <p:sp>
        <p:nvSpPr>
          <p:cNvPr id="19" name="Text 17"/>
          <p:cNvSpPr/>
          <p:nvPr/>
        </p:nvSpPr>
        <p:spPr>
          <a:xfrm>
            <a:off x="6629400" y="4946904"/>
            <a:ext cx="4572000" cy="457200"/>
          </a:xfrm>
          <a:prstGeom prst="rect">
            <a:avLst/>
          </a:prstGeom>
          <a:noFill/>
          <a:ln/>
        </p:spPr>
        <p:txBody>
          <a:bodyPr wrap="square" rtlCol="0" anchor="ctr"/>
          <a:lstStyle/>
          <a:p>
            <a:pPr indent="0" marL="0">
              <a:buNone/>
            </a:pPr>
            <a:r>
              <a:rPr lang="en-US" sz="1300" dirty="0">
                <a:solidFill>
                  <a:srgbClr val="C7D2DE"/>
                </a:solidFill>
                <a:latin typeface="Calibri" pitchFamily="34" charset="0"/>
                <a:ea typeface="Calibri" pitchFamily="34" charset="-122"/>
                <a:cs typeface="Calibri" pitchFamily="34" charset="-120"/>
              </a:rPr>
              <a:t>managed operational oversight at scale</a:t>
            </a:r>
            <a:endParaRPr lang="en-US" sz="1300" dirty="0"/>
          </a:p>
        </p:txBody>
      </p:sp>
      <p:sp>
        <p:nvSpPr>
          <p:cNvPr id="20" name="Text 18"/>
          <p:cNvSpPr/>
          <p:nvPr/>
        </p:nvSpPr>
        <p:spPr>
          <a:xfrm>
            <a:off x="640080" y="5989320"/>
            <a:ext cx="10908792" cy="365760"/>
          </a:xfrm>
          <a:prstGeom prst="rect">
            <a:avLst/>
          </a:prstGeom>
          <a:noFill/>
          <a:ln/>
        </p:spPr>
        <p:txBody>
          <a:bodyPr wrap="square" rtlCol="0" anchor="ctr"/>
          <a:lstStyle/>
          <a:p>
            <a:pPr algn="ctr" indent="0" marL="0">
              <a:buNone/>
            </a:pPr>
            <a:r>
              <a:rPr lang="en-US" sz="1400" b="1" i="1" dirty="0">
                <a:solidFill>
                  <a:srgbClr val="FF9900"/>
                </a:solidFill>
                <a:latin typeface="Calibri" pitchFamily="34" charset="0"/>
                <a:ea typeface="Calibri" pitchFamily="34" charset="-122"/>
                <a:cs typeface="Calibri" pitchFamily="34" charset="-120"/>
              </a:rPr>
              <a:t>Answer exam questions with the five classic tiers.</a:t>
            </a:r>
            <a:endParaRPr lang="en-US" sz="1400" dirty="0"/>
          </a:p>
        </p:txBody>
      </p:sp>
      <p:sp>
        <p:nvSpPr>
          <p:cNvPr id="21" name="Text 19"/>
          <p:cNvSpPr/>
          <p:nvPr/>
        </p:nvSpPr>
        <p:spPr>
          <a:xfrm>
            <a:off x="640080" y="6473952"/>
            <a:ext cx="5943600" cy="274320"/>
          </a:xfrm>
          <a:prstGeom prst="rect">
            <a:avLst/>
          </a:prstGeom>
          <a:noFill/>
          <a:ln/>
        </p:spPr>
        <p:txBody>
          <a:bodyPr wrap="square" rtlCol="0" anchor="ctr"/>
          <a:lstStyle/>
          <a:p>
            <a:pPr indent="0" marL="0">
              <a:buNone/>
            </a:pPr>
            <a:r>
              <a:rPr lang="en-US" sz="900" dirty="0">
                <a:solidFill>
                  <a:srgbClr val="5B6570"/>
                </a:solidFill>
                <a:latin typeface="Calibri" pitchFamily="34" charset="0"/>
                <a:ea typeface="Calibri" pitchFamily="34" charset="-122"/>
                <a:cs typeface="Calibri" pitchFamily="34" charset="-120"/>
              </a:rPr>
              <a:t>AWS SAA-A  ·  Lecture 2  ·  Cloud Economics &amp; Billing</a:t>
            </a:r>
            <a:endParaRPr lang="en-US" sz="900" dirty="0"/>
          </a:p>
        </p:txBody>
      </p:sp>
      <p:sp>
        <p:nvSpPr>
          <p:cNvPr id="22" name="Text 20"/>
          <p:cNvSpPr/>
          <p:nvPr/>
        </p:nvSpPr>
        <p:spPr>
          <a:xfrm>
            <a:off x="11000232" y="6473952"/>
            <a:ext cx="548640" cy="274320"/>
          </a:xfrm>
          <a:prstGeom prst="rect">
            <a:avLst/>
          </a:prstGeom>
          <a:noFill/>
          <a:ln/>
        </p:spPr>
        <p:txBody>
          <a:bodyPr wrap="square" rtlCol="0" anchor="ctr"/>
          <a:lstStyle/>
          <a:p>
            <a:pPr algn="r" indent="0" marL="0">
              <a:buNone/>
            </a:pPr>
            <a:r>
              <a:rPr lang="en-US" sz="900" dirty="0">
                <a:solidFill>
                  <a:srgbClr val="5B657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457200"/>
            <a:ext cx="10908792" cy="274320"/>
          </a:xfrm>
          <a:prstGeom prst="rect">
            <a:avLst/>
          </a:prstGeom>
          <a:noFill/>
          <a:ln/>
        </p:spPr>
        <p:txBody>
          <a:bodyPr wrap="square" rtlCol="0" anchor="ctr"/>
          <a:lstStyle/>
          <a:p>
            <a:pPr indent="0" marL="0">
              <a:buNone/>
            </a:pPr>
            <a:r>
              <a:rPr lang="en-US" sz="1200" b="1" spc="200" kern="0" dirty="0">
                <a:solidFill>
                  <a:srgbClr val="EC7211"/>
                </a:solidFill>
                <a:latin typeface="Calibri" pitchFamily="34" charset="0"/>
                <a:ea typeface="Calibri" pitchFamily="34" charset="-122"/>
                <a:cs typeface="Calibri" pitchFamily="34" charset="-120"/>
              </a:rPr>
              <a:t>YOUR AUTOMATED CONSULTANT</a:t>
            </a:r>
            <a:endParaRPr lang="en-US" sz="1200" dirty="0"/>
          </a:p>
        </p:txBody>
      </p:sp>
      <p:sp>
        <p:nvSpPr>
          <p:cNvPr id="3" name="Text 1"/>
          <p:cNvSpPr/>
          <p:nvPr/>
        </p:nvSpPr>
        <p:spPr>
          <a:xfrm>
            <a:off x="640080" y="731520"/>
            <a:ext cx="10908792" cy="640080"/>
          </a:xfrm>
          <a:prstGeom prst="rect">
            <a:avLst/>
          </a:prstGeom>
          <a:noFill/>
          <a:ln/>
        </p:spPr>
        <p:txBody>
          <a:bodyPr wrap="square" rtlCol="0" anchor="ctr"/>
          <a:lstStyle/>
          <a:p>
            <a:pPr indent="0" marL="0">
              <a:buNone/>
            </a:pPr>
            <a:r>
              <a:rPr lang="en-US" sz="3200" b="1" dirty="0">
                <a:solidFill>
                  <a:srgbClr val="232F3E"/>
                </a:solidFill>
                <a:latin typeface="Calibri" pitchFamily="34" charset="0"/>
                <a:ea typeface="Calibri" pitchFamily="34" charset="-122"/>
                <a:cs typeface="Calibri" pitchFamily="34" charset="-120"/>
              </a:rPr>
              <a:t>AWS Trusted Advisor</a:t>
            </a:r>
            <a:endParaRPr lang="en-US" sz="3200" dirty="0"/>
          </a:p>
        </p:txBody>
      </p:sp>
      <p:sp>
        <p:nvSpPr>
          <p:cNvPr id="4" name="Text 2"/>
          <p:cNvSpPr/>
          <p:nvPr/>
        </p:nvSpPr>
        <p:spPr>
          <a:xfrm>
            <a:off x="640080" y="1417320"/>
            <a:ext cx="10908792" cy="365760"/>
          </a:xfrm>
          <a:prstGeom prst="rect">
            <a:avLst/>
          </a:prstGeom>
          <a:noFill/>
          <a:ln/>
        </p:spPr>
        <p:txBody>
          <a:bodyPr wrap="square" rtlCol="0" anchor="ctr"/>
          <a:lstStyle/>
          <a:p>
            <a:pPr indent="0" marL="0">
              <a:buNone/>
            </a:pPr>
            <a:r>
              <a:rPr lang="en-US" sz="1500" i="1" dirty="0">
                <a:solidFill>
                  <a:srgbClr val="5B6570"/>
                </a:solidFill>
                <a:latin typeface="Calibri" pitchFamily="34" charset="0"/>
                <a:ea typeface="Calibri" pitchFamily="34" charset="-122"/>
                <a:cs typeface="Calibri" pitchFamily="34" charset="-120"/>
              </a:rPr>
              <a:t>Scans your account and recommends improvements across five categories. Higher support tiers unlock all checks.</a:t>
            </a:r>
            <a:endParaRPr lang="en-US" sz="1500" dirty="0"/>
          </a:p>
        </p:txBody>
      </p:sp>
      <p:sp>
        <p:nvSpPr>
          <p:cNvPr id="5" name="Shape 3"/>
          <p:cNvSpPr/>
          <p:nvPr/>
        </p:nvSpPr>
        <p:spPr>
          <a:xfrm>
            <a:off x="640080" y="2011680"/>
            <a:ext cx="2035454" cy="2834640"/>
          </a:xfrm>
          <a:prstGeom prst="roundRect">
            <a:avLst>
              <a:gd name="adj" fmla="val 4492"/>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sp>
      <p:sp>
        <p:nvSpPr>
          <p:cNvPr id="6" name="Shape 4"/>
          <p:cNvSpPr/>
          <p:nvPr/>
        </p:nvSpPr>
        <p:spPr>
          <a:xfrm>
            <a:off x="640080" y="2011680"/>
            <a:ext cx="2035454" cy="146304"/>
          </a:xfrm>
          <a:prstGeom prst="roundRect">
            <a:avLst>
              <a:gd name="adj" fmla="val 12500"/>
            </a:avLst>
          </a:prstGeom>
          <a:solidFill>
            <a:srgbClr val="1F8A38"/>
          </a:solidFill>
          <a:ln/>
        </p:spPr>
      </p:sp>
      <p:sp>
        <p:nvSpPr>
          <p:cNvPr id="7" name="Text 5"/>
          <p:cNvSpPr/>
          <p:nvPr/>
        </p:nvSpPr>
        <p:spPr>
          <a:xfrm>
            <a:off x="868680" y="2377440"/>
            <a:ext cx="1578254" cy="685800"/>
          </a:xfrm>
          <a:prstGeom prst="rect">
            <a:avLst/>
          </a:prstGeom>
          <a:noFill/>
          <a:ln/>
        </p:spPr>
        <p:txBody>
          <a:bodyPr wrap="square" rtlCol="0" anchor="ctr"/>
          <a:lstStyle/>
          <a:p>
            <a:pPr indent="0" marL="0">
              <a:lnSpc>
                <a:spcPct val="95000"/>
              </a:lnSpc>
              <a:buNone/>
            </a:pPr>
            <a:r>
              <a:rPr lang="en-US" sz="1550" b="1" dirty="0">
                <a:solidFill>
                  <a:srgbClr val="1F8A38"/>
                </a:solidFill>
                <a:latin typeface="Calibri" pitchFamily="34" charset="0"/>
                <a:ea typeface="Calibri" pitchFamily="34" charset="-122"/>
                <a:cs typeface="Calibri" pitchFamily="34" charset="-120"/>
              </a:rPr>
              <a:t>Cost Optimization</a:t>
            </a:r>
            <a:endParaRPr lang="en-US" sz="1550" dirty="0"/>
          </a:p>
        </p:txBody>
      </p:sp>
      <p:sp>
        <p:nvSpPr>
          <p:cNvPr id="8" name="Text 6"/>
          <p:cNvSpPr/>
          <p:nvPr/>
        </p:nvSpPr>
        <p:spPr>
          <a:xfrm>
            <a:off x="868680" y="3154680"/>
            <a:ext cx="1578254" cy="1371600"/>
          </a:xfrm>
          <a:prstGeom prst="rect">
            <a:avLst/>
          </a:prstGeom>
          <a:noFill/>
          <a:ln/>
        </p:spPr>
        <p:txBody>
          <a:bodyPr wrap="square" rtlCol="0" anchor="ctr"/>
          <a:lstStyle/>
          <a:p>
            <a:pPr indent="0" marL="0">
              <a:lnSpc>
                <a:spcPct val="105000"/>
              </a:lnSpc>
              <a:buNone/>
            </a:pPr>
            <a:r>
              <a:rPr lang="en-US" sz="1250" dirty="0">
                <a:solidFill>
                  <a:srgbClr val="5B6570"/>
                </a:solidFill>
                <a:latin typeface="Calibri" pitchFamily="34" charset="0"/>
                <a:ea typeface="Calibri" pitchFamily="34" charset="-122"/>
                <a:cs typeface="Calibri" pitchFamily="34" charset="-120"/>
              </a:rPr>
              <a:t>Finds idle and underused resources you're paying for.</a:t>
            </a:r>
            <a:endParaRPr lang="en-US" sz="1250" dirty="0"/>
          </a:p>
        </p:txBody>
      </p:sp>
      <p:sp>
        <p:nvSpPr>
          <p:cNvPr id="9" name="Shape 7"/>
          <p:cNvSpPr/>
          <p:nvPr/>
        </p:nvSpPr>
        <p:spPr>
          <a:xfrm>
            <a:off x="2858414" y="2011680"/>
            <a:ext cx="2035454" cy="2834640"/>
          </a:xfrm>
          <a:prstGeom prst="roundRect">
            <a:avLst>
              <a:gd name="adj" fmla="val 4492"/>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sp>
      <p:sp>
        <p:nvSpPr>
          <p:cNvPr id="10" name="Shape 8"/>
          <p:cNvSpPr/>
          <p:nvPr/>
        </p:nvSpPr>
        <p:spPr>
          <a:xfrm>
            <a:off x="2858414" y="2011680"/>
            <a:ext cx="2035454" cy="146304"/>
          </a:xfrm>
          <a:prstGeom prst="roundRect">
            <a:avLst>
              <a:gd name="adj" fmla="val 12500"/>
            </a:avLst>
          </a:prstGeom>
          <a:solidFill>
            <a:srgbClr val="1E8FA5"/>
          </a:solidFill>
          <a:ln/>
        </p:spPr>
      </p:sp>
      <p:sp>
        <p:nvSpPr>
          <p:cNvPr id="11" name="Text 9"/>
          <p:cNvSpPr/>
          <p:nvPr/>
        </p:nvSpPr>
        <p:spPr>
          <a:xfrm>
            <a:off x="3087014" y="2377440"/>
            <a:ext cx="1578254" cy="685800"/>
          </a:xfrm>
          <a:prstGeom prst="rect">
            <a:avLst/>
          </a:prstGeom>
          <a:noFill/>
          <a:ln/>
        </p:spPr>
        <p:txBody>
          <a:bodyPr wrap="square" rtlCol="0" anchor="ctr"/>
          <a:lstStyle/>
          <a:p>
            <a:pPr indent="0" marL="0">
              <a:lnSpc>
                <a:spcPct val="95000"/>
              </a:lnSpc>
              <a:buNone/>
            </a:pPr>
            <a:r>
              <a:rPr lang="en-US" sz="1550" b="1" dirty="0">
                <a:solidFill>
                  <a:srgbClr val="1E8FA5"/>
                </a:solidFill>
                <a:latin typeface="Calibri" pitchFamily="34" charset="0"/>
                <a:ea typeface="Calibri" pitchFamily="34" charset="-122"/>
                <a:cs typeface="Calibri" pitchFamily="34" charset="-120"/>
              </a:rPr>
              <a:t>Performance</a:t>
            </a:r>
            <a:endParaRPr lang="en-US" sz="1550" dirty="0"/>
          </a:p>
        </p:txBody>
      </p:sp>
      <p:sp>
        <p:nvSpPr>
          <p:cNvPr id="12" name="Text 10"/>
          <p:cNvSpPr/>
          <p:nvPr/>
        </p:nvSpPr>
        <p:spPr>
          <a:xfrm>
            <a:off x="3087014" y="3154680"/>
            <a:ext cx="1578254" cy="1371600"/>
          </a:xfrm>
          <a:prstGeom prst="rect">
            <a:avLst/>
          </a:prstGeom>
          <a:noFill/>
          <a:ln/>
        </p:spPr>
        <p:txBody>
          <a:bodyPr wrap="square" rtlCol="0" anchor="ctr"/>
          <a:lstStyle/>
          <a:p>
            <a:pPr indent="0" marL="0">
              <a:lnSpc>
                <a:spcPct val="105000"/>
              </a:lnSpc>
              <a:buNone/>
            </a:pPr>
            <a:r>
              <a:rPr lang="en-US" sz="1250" dirty="0">
                <a:solidFill>
                  <a:srgbClr val="5B6570"/>
                </a:solidFill>
                <a:latin typeface="Calibri" pitchFamily="34" charset="0"/>
                <a:ea typeface="Calibri" pitchFamily="34" charset="-122"/>
                <a:cs typeface="Calibri" pitchFamily="34" charset="-120"/>
              </a:rPr>
              <a:t>Flags bottlenecks and over-utilized resources.</a:t>
            </a:r>
            <a:endParaRPr lang="en-US" sz="1250" dirty="0"/>
          </a:p>
        </p:txBody>
      </p:sp>
      <p:sp>
        <p:nvSpPr>
          <p:cNvPr id="13" name="Shape 11"/>
          <p:cNvSpPr/>
          <p:nvPr/>
        </p:nvSpPr>
        <p:spPr>
          <a:xfrm>
            <a:off x="5076749" y="2011680"/>
            <a:ext cx="2035454" cy="2834640"/>
          </a:xfrm>
          <a:prstGeom prst="roundRect">
            <a:avLst>
              <a:gd name="adj" fmla="val 4492"/>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sp>
      <p:sp>
        <p:nvSpPr>
          <p:cNvPr id="14" name="Shape 12"/>
          <p:cNvSpPr/>
          <p:nvPr/>
        </p:nvSpPr>
        <p:spPr>
          <a:xfrm>
            <a:off x="5076749" y="2011680"/>
            <a:ext cx="2035454" cy="146304"/>
          </a:xfrm>
          <a:prstGeom prst="roundRect">
            <a:avLst>
              <a:gd name="adj" fmla="val 12500"/>
            </a:avLst>
          </a:prstGeom>
          <a:solidFill>
            <a:srgbClr val="C0392B"/>
          </a:solidFill>
          <a:ln/>
        </p:spPr>
      </p:sp>
      <p:sp>
        <p:nvSpPr>
          <p:cNvPr id="15" name="Text 13"/>
          <p:cNvSpPr/>
          <p:nvPr/>
        </p:nvSpPr>
        <p:spPr>
          <a:xfrm>
            <a:off x="5305349" y="2377440"/>
            <a:ext cx="1578254" cy="685800"/>
          </a:xfrm>
          <a:prstGeom prst="rect">
            <a:avLst/>
          </a:prstGeom>
          <a:noFill/>
          <a:ln/>
        </p:spPr>
        <p:txBody>
          <a:bodyPr wrap="square" rtlCol="0" anchor="ctr"/>
          <a:lstStyle/>
          <a:p>
            <a:pPr indent="0" marL="0">
              <a:lnSpc>
                <a:spcPct val="95000"/>
              </a:lnSpc>
              <a:buNone/>
            </a:pPr>
            <a:r>
              <a:rPr lang="en-US" sz="1550" b="1" dirty="0">
                <a:solidFill>
                  <a:srgbClr val="C0392B"/>
                </a:solidFill>
                <a:latin typeface="Calibri" pitchFamily="34" charset="0"/>
                <a:ea typeface="Calibri" pitchFamily="34" charset="-122"/>
                <a:cs typeface="Calibri" pitchFamily="34" charset="-120"/>
              </a:rPr>
              <a:t>Security</a:t>
            </a:r>
            <a:endParaRPr lang="en-US" sz="1550" dirty="0"/>
          </a:p>
        </p:txBody>
      </p:sp>
      <p:sp>
        <p:nvSpPr>
          <p:cNvPr id="16" name="Text 14"/>
          <p:cNvSpPr/>
          <p:nvPr/>
        </p:nvSpPr>
        <p:spPr>
          <a:xfrm>
            <a:off x="5305349" y="3154680"/>
            <a:ext cx="1578254" cy="1371600"/>
          </a:xfrm>
          <a:prstGeom prst="rect">
            <a:avLst/>
          </a:prstGeom>
          <a:noFill/>
          <a:ln/>
        </p:spPr>
        <p:txBody>
          <a:bodyPr wrap="square" rtlCol="0" anchor="ctr"/>
          <a:lstStyle/>
          <a:p>
            <a:pPr indent="0" marL="0">
              <a:lnSpc>
                <a:spcPct val="105000"/>
              </a:lnSpc>
              <a:buNone/>
            </a:pPr>
            <a:r>
              <a:rPr lang="en-US" sz="1250" dirty="0">
                <a:solidFill>
                  <a:srgbClr val="5B6570"/>
                </a:solidFill>
                <a:latin typeface="Calibri" pitchFamily="34" charset="0"/>
                <a:ea typeface="Calibri" pitchFamily="34" charset="-122"/>
                <a:cs typeface="Calibri" pitchFamily="34" charset="-120"/>
              </a:rPr>
              <a:t>Catches open permissions, missing MFA, exposed access keys.</a:t>
            </a:r>
            <a:endParaRPr lang="en-US" sz="1250" dirty="0"/>
          </a:p>
        </p:txBody>
      </p:sp>
      <p:sp>
        <p:nvSpPr>
          <p:cNvPr id="17" name="Shape 15"/>
          <p:cNvSpPr/>
          <p:nvPr/>
        </p:nvSpPr>
        <p:spPr>
          <a:xfrm>
            <a:off x="7295083" y="2011680"/>
            <a:ext cx="2035454" cy="2834640"/>
          </a:xfrm>
          <a:prstGeom prst="roundRect">
            <a:avLst>
              <a:gd name="adj" fmla="val 4492"/>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sp>
      <p:sp>
        <p:nvSpPr>
          <p:cNvPr id="18" name="Shape 16"/>
          <p:cNvSpPr/>
          <p:nvPr/>
        </p:nvSpPr>
        <p:spPr>
          <a:xfrm>
            <a:off x="7295083" y="2011680"/>
            <a:ext cx="2035454" cy="146304"/>
          </a:xfrm>
          <a:prstGeom prst="roundRect">
            <a:avLst>
              <a:gd name="adj" fmla="val 12500"/>
            </a:avLst>
          </a:prstGeom>
          <a:solidFill>
            <a:srgbClr val="EC7211"/>
          </a:solidFill>
          <a:ln/>
        </p:spPr>
      </p:sp>
      <p:sp>
        <p:nvSpPr>
          <p:cNvPr id="19" name="Text 17"/>
          <p:cNvSpPr/>
          <p:nvPr/>
        </p:nvSpPr>
        <p:spPr>
          <a:xfrm>
            <a:off x="7523683" y="2377440"/>
            <a:ext cx="1578254" cy="685800"/>
          </a:xfrm>
          <a:prstGeom prst="rect">
            <a:avLst/>
          </a:prstGeom>
          <a:noFill/>
          <a:ln/>
        </p:spPr>
        <p:txBody>
          <a:bodyPr wrap="square" rtlCol="0" anchor="ctr"/>
          <a:lstStyle/>
          <a:p>
            <a:pPr indent="0" marL="0">
              <a:lnSpc>
                <a:spcPct val="95000"/>
              </a:lnSpc>
              <a:buNone/>
            </a:pPr>
            <a:r>
              <a:rPr lang="en-US" sz="1550" b="1" dirty="0">
                <a:solidFill>
                  <a:srgbClr val="EC7211"/>
                </a:solidFill>
                <a:latin typeface="Calibri" pitchFamily="34" charset="0"/>
                <a:ea typeface="Calibri" pitchFamily="34" charset="-122"/>
                <a:cs typeface="Calibri" pitchFamily="34" charset="-120"/>
              </a:rPr>
              <a:t>Fault Tolerance</a:t>
            </a:r>
            <a:endParaRPr lang="en-US" sz="1550" dirty="0"/>
          </a:p>
        </p:txBody>
      </p:sp>
      <p:sp>
        <p:nvSpPr>
          <p:cNvPr id="20" name="Text 18"/>
          <p:cNvSpPr/>
          <p:nvPr/>
        </p:nvSpPr>
        <p:spPr>
          <a:xfrm>
            <a:off x="7523683" y="3154680"/>
            <a:ext cx="1578254" cy="1371600"/>
          </a:xfrm>
          <a:prstGeom prst="rect">
            <a:avLst/>
          </a:prstGeom>
          <a:noFill/>
          <a:ln/>
        </p:spPr>
        <p:txBody>
          <a:bodyPr wrap="square" rtlCol="0" anchor="ctr"/>
          <a:lstStyle/>
          <a:p>
            <a:pPr indent="0" marL="0">
              <a:lnSpc>
                <a:spcPct val="105000"/>
              </a:lnSpc>
              <a:buNone/>
            </a:pPr>
            <a:r>
              <a:rPr lang="en-US" sz="1250" dirty="0">
                <a:solidFill>
                  <a:srgbClr val="5B6570"/>
                </a:solidFill>
                <a:latin typeface="Calibri" pitchFamily="34" charset="0"/>
                <a:ea typeface="Calibri" pitchFamily="34" charset="-122"/>
                <a:cs typeface="Calibri" pitchFamily="34" charset="-120"/>
              </a:rPr>
              <a:t>Highlights missing backups and single points of failure.</a:t>
            </a:r>
            <a:endParaRPr lang="en-US" sz="1250" dirty="0"/>
          </a:p>
        </p:txBody>
      </p:sp>
      <p:sp>
        <p:nvSpPr>
          <p:cNvPr id="21" name="Shape 19"/>
          <p:cNvSpPr/>
          <p:nvPr/>
        </p:nvSpPr>
        <p:spPr>
          <a:xfrm>
            <a:off x="9513418" y="2011680"/>
            <a:ext cx="2035454" cy="2834640"/>
          </a:xfrm>
          <a:prstGeom prst="roundRect">
            <a:avLst>
              <a:gd name="adj" fmla="val 4492"/>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sp>
      <p:sp>
        <p:nvSpPr>
          <p:cNvPr id="22" name="Shape 20"/>
          <p:cNvSpPr/>
          <p:nvPr/>
        </p:nvSpPr>
        <p:spPr>
          <a:xfrm>
            <a:off x="9513418" y="2011680"/>
            <a:ext cx="2035454" cy="146304"/>
          </a:xfrm>
          <a:prstGeom prst="roundRect">
            <a:avLst>
              <a:gd name="adj" fmla="val 12500"/>
            </a:avLst>
          </a:prstGeom>
          <a:solidFill>
            <a:srgbClr val="7A5C9E"/>
          </a:solidFill>
          <a:ln/>
        </p:spPr>
      </p:sp>
      <p:sp>
        <p:nvSpPr>
          <p:cNvPr id="23" name="Text 21"/>
          <p:cNvSpPr/>
          <p:nvPr/>
        </p:nvSpPr>
        <p:spPr>
          <a:xfrm>
            <a:off x="9742018" y="2377440"/>
            <a:ext cx="1578254" cy="685800"/>
          </a:xfrm>
          <a:prstGeom prst="rect">
            <a:avLst/>
          </a:prstGeom>
          <a:noFill/>
          <a:ln/>
        </p:spPr>
        <p:txBody>
          <a:bodyPr wrap="square" rtlCol="0" anchor="ctr"/>
          <a:lstStyle/>
          <a:p>
            <a:pPr indent="0" marL="0">
              <a:lnSpc>
                <a:spcPct val="95000"/>
              </a:lnSpc>
              <a:buNone/>
            </a:pPr>
            <a:r>
              <a:rPr lang="en-US" sz="1550" b="1" dirty="0">
                <a:solidFill>
                  <a:srgbClr val="7A5C9E"/>
                </a:solidFill>
                <a:latin typeface="Calibri" pitchFamily="34" charset="0"/>
                <a:ea typeface="Calibri" pitchFamily="34" charset="-122"/>
                <a:cs typeface="Calibri" pitchFamily="34" charset="-120"/>
              </a:rPr>
              <a:t>Service Limits</a:t>
            </a:r>
            <a:endParaRPr lang="en-US" sz="1550" dirty="0"/>
          </a:p>
        </p:txBody>
      </p:sp>
      <p:sp>
        <p:nvSpPr>
          <p:cNvPr id="24" name="Text 22"/>
          <p:cNvSpPr/>
          <p:nvPr/>
        </p:nvSpPr>
        <p:spPr>
          <a:xfrm>
            <a:off x="9742018" y="3154680"/>
            <a:ext cx="1578254" cy="1371600"/>
          </a:xfrm>
          <a:prstGeom prst="rect">
            <a:avLst/>
          </a:prstGeom>
          <a:noFill/>
          <a:ln/>
        </p:spPr>
        <p:txBody>
          <a:bodyPr wrap="square" rtlCol="0" anchor="ctr"/>
          <a:lstStyle/>
          <a:p>
            <a:pPr indent="0" marL="0">
              <a:lnSpc>
                <a:spcPct val="105000"/>
              </a:lnSpc>
              <a:buNone/>
            </a:pPr>
            <a:r>
              <a:rPr lang="en-US" sz="1250" dirty="0">
                <a:solidFill>
                  <a:srgbClr val="5B6570"/>
                </a:solidFill>
                <a:latin typeface="Calibri" pitchFamily="34" charset="0"/>
                <a:ea typeface="Calibri" pitchFamily="34" charset="-122"/>
                <a:cs typeface="Calibri" pitchFamily="34" charset="-120"/>
              </a:rPr>
              <a:t>Warns when you're approaching an account quota.</a:t>
            </a:r>
            <a:endParaRPr lang="en-US" sz="1250" dirty="0"/>
          </a:p>
        </p:txBody>
      </p:sp>
      <p:sp>
        <p:nvSpPr>
          <p:cNvPr id="25" name="Shape 23"/>
          <p:cNvSpPr/>
          <p:nvPr/>
        </p:nvSpPr>
        <p:spPr>
          <a:xfrm>
            <a:off x="640080" y="5074920"/>
            <a:ext cx="10908792" cy="868680"/>
          </a:xfrm>
          <a:prstGeom prst="roundRect">
            <a:avLst>
              <a:gd name="adj" fmla="val 10526"/>
            </a:avLst>
          </a:prstGeom>
          <a:solidFill>
            <a:srgbClr val="232F3E"/>
          </a:solidFill>
          <a:ln/>
        </p:spPr>
      </p:sp>
      <p:sp>
        <p:nvSpPr>
          <p:cNvPr id="26" name="Text 24"/>
          <p:cNvSpPr/>
          <p:nvPr/>
        </p:nvSpPr>
        <p:spPr>
          <a:xfrm>
            <a:off x="1051560" y="5257800"/>
            <a:ext cx="10085832" cy="548640"/>
          </a:xfrm>
          <a:prstGeom prst="rect">
            <a:avLst/>
          </a:prstGeom>
          <a:noFill/>
          <a:ln/>
        </p:spPr>
        <p:txBody>
          <a:bodyPr wrap="square" rtlCol="0" anchor="ctr"/>
          <a:lstStyle/>
          <a:p>
            <a:pPr indent="0" marL="0">
              <a:buNone/>
            </a:pPr>
            <a:r>
              <a:rPr lang="en-US" sz="1500" dirty="0">
                <a:solidFill>
                  <a:srgbClr val="D6DEE7"/>
                </a:solidFill>
                <a:latin typeface="Calibri" pitchFamily="34" charset="0"/>
                <a:ea typeface="Calibri" pitchFamily="34" charset="-122"/>
                <a:cs typeface="Calibri" pitchFamily="34" charset="-120"/>
              </a:rPr>
              <a:t>Free tier gets a core set of checks;  </a:t>
            </a:r>
            <a:pPr indent="0" marL="0">
              <a:buNone/>
            </a:pPr>
            <a:r>
              <a:rPr lang="en-US" sz="1500" b="1" dirty="0">
                <a:solidFill>
                  <a:srgbClr val="FF9900"/>
                </a:solidFill>
                <a:latin typeface="Calibri" pitchFamily="34" charset="0"/>
                <a:ea typeface="Calibri" pitchFamily="34" charset="-122"/>
                <a:cs typeface="Calibri" pitchFamily="34" charset="-120"/>
              </a:rPr>
              <a:t>Business and Enterprise support unlock the full check list.</a:t>
            </a:r>
            <a:endParaRPr lang="en-US" sz="1500" dirty="0"/>
          </a:p>
        </p:txBody>
      </p:sp>
      <p:sp>
        <p:nvSpPr>
          <p:cNvPr id="27" name="Text 25"/>
          <p:cNvSpPr/>
          <p:nvPr/>
        </p:nvSpPr>
        <p:spPr>
          <a:xfrm>
            <a:off x="640080" y="6473952"/>
            <a:ext cx="5943600" cy="274320"/>
          </a:xfrm>
          <a:prstGeom prst="rect">
            <a:avLst/>
          </a:prstGeom>
          <a:noFill/>
          <a:ln/>
        </p:spPr>
        <p:txBody>
          <a:bodyPr wrap="square" rtlCol="0" anchor="ctr"/>
          <a:lstStyle/>
          <a:p>
            <a:pPr indent="0" marL="0">
              <a:buNone/>
            </a:pPr>
            <a:r>
              <a:rPr lang="en-US" sz="900" dirty="0">
                <a:solidFill>
                  <a:srgbClr val="5B6570"/>
                </a:solidFill>
                <a:latin typeface="Calibri" pitchFamily="34" charset="0"/>
                <a:ea typeface="Calibri" pitchFamily="34" charset="-122"/>
                <a:cs typeface="Calibri" pitchFamily="34" charset="-120"/>
              </a:rPr>
              <a:t>AWS SAA-A  ·  Lecture 2  ·  Cloud Economics &amp; Billing</a:t>
            </a:r>
            <a:endParaRPr lang="en-US" sz="900" dirty="0"/>
          </a:p>
        </p:txBody>
      </p:sp>
      <p:sp>
        <p:nvSpPr>
          <p:cNvPr id="28" name="Text 26"/>
          <p:cNvSpPr/>
          <p:nvPr/>
        </p:nvSpPr>
        <p:spPr>
          <a:xfrm>
            <a:off x="11000232" y="6473952"/>
            <a:ext cx="548640" cy="274320"/>
          </a:xfrm>
          <a:prstGeom prst="rect">
            <a:avLst/>
          </a:prstGeom>
          <a:noFill/>
          <a:ln/>
        </p:spPr>
        <p:txBody>
          <a:bodyPr wrap="square" rtlCol="0" anchor="ctr"/>
          <a:lstStyle/>
          <a:p>
            <a:pPr algn="r" indent="0" marL="0">
              <a:buNone/>
            </a:pPr>
            <a:r>
              <a:rPr lang="en-US" sz="900" dirty="0">
                <a:solidFill>
                  <a:srgbClr val="5B657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457200"/>
            <a:ext cx="10908792" cy="274320"/>
          </a:xfrm>
          <a:prstGeom prst="rect">
            <a:avLst/>
          </a:prstGeom>
          <a:noFill/>
          <a:ln/>
        </p:spPr>
        <p:txBody>
          <a:bodyPr wrap="square" rtlCol="0" anchor="ctr"/>
          <a:lstStyle/>
          <a:p>
            <a:pPr indent="0" marL="0">
              <a:buNone/>
            </a:pPr>
            <a:r>
              <a:rPr lang="en-US" sz="1200" b="1" spc="200" kern="0" dirty="0">
                <a:solidFill>
                  <a:srgbClr val="EC7211"/>
                </a:solidFill>
                <a:latin typeface="Calibri" pitchFamily="34" charset="0"/>
                <a:ea typeface="Calibri" pitchFamily="34" charset="-122"/>
                <a:cs typeface="Calibri" pitchFamily="34" charset="-120"/>
              </a:rPr>
              <a:t>BEFORE YOU SIT THE EXAM</a:t>
            </a:r>
            <a:endParaRPr lang="en-US" sz="1200" dirty="0"/>
          </a:p>
        </p:txBody>
      </p:sp>
      <p:sp>
        <p:nvSpPr>
          <p:cNvPr id="3" name="Text 1"/>
          <p:cNvSpPr/>
          <p:nvPr/>
        </p:nvSpPr>
        <p:spPr>
          <a:xfrm>
            <a:off x="640080" y="731520"/>
            <a:ext cx="10908792" cy="640080"/>
          </a:xfrm>
          <a:prstGeom prst="rect">
            <a:avLst/>
          </a:prstGeom>
          <a:noFill/>
          <a:ln/>
        </p:spPr>
        <p:txBody>
          <a:bodyPr wrap="square" rtlCol="0" anchor="ctr"/>
          <a:lstStyle/>
          <a:p>
            <a:pPr indent="0" marL="0">
              <a:buNone/>
            </a:pPr>
            <a:r>
              <a:rPr lang="en-US" sz="3200" b="1" dirty="0">
                <a:solidFill>
                  <a:srgbClr val="232F3E"/>
                </a:solidFill>
                <a:latin typeface="Calibri" pitchFamily="34" charset="0"/>
                <a:ea typeface="Calibri" pitchFamily="34" charset="-122"/>
                <a:cs typeface="Calibri" pitchFamily="34" charset="-120"/>
              </a:rPr>
              <a:t>Cost &amp; Billing: The Traps</a:t>
            </a:r>
            <a:endParaRPr lang="en-US" sz="3200" dirty="0"/>
          </a:p>
        </p:txBody>
      </p:sp>
      <p:sp>
        <p:nvSpPr>
          <p:cNvPr id="4" name="Shape 2"/>
          <p:cNvSpPr/>
          <p:nvPr/>
        </p:nvSpPr>
        <p:spPr>
          <a:xfrm>
            <a:off x="640080" y="1691640"/>
            <a:ext cx="3483864" cy="2194560"/>
          </a:xfrm>
          <a:prstGeom prst="roundRect">
            <a:avLst>
              <a:gd name="adj" fmla="val 4167"/>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sp>
      <p:sp>
        <p:nvSpPr>
          <p:cNvPr id="5" name="Shape 3"/>
          <p:cNvSpPr/>
          <p:nvPr/>
        </p:nvSpPr>
        <p:spPr>
          <a:xfrm>
            <a:off x="640080" y="1691640"/>
            <a:ext cx="137160" cy="2194560"/>
          </a:xfrm>
          <a:prstGeom prst="roundRect">
            <a:avLst>
              <a:gd name="adj" fmla="val 13333"/>
            </a:avLst>
          </a:prstGeom>
          <a:solidFill>
            <a:srgbClr val="EC7211"/>
          </a:solidFill>
          <a:ln/>
        </p:spPr>
      </p:sp>
      <p:sp>
        <p:nvSpPr>
          <p:cNvPr id="6" name="Text 4"/>
          <p:cNvSpPr/>
          <p:nvPr/>
        </p:nvSpPr>
        <p:spPr>
          <a:xfrm>
            <a:off x="1005840" y="189280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“Which tool ALERTS me before overspending?”</a:t>
            </a:r>
            <a:endParaRPr lang="en-US" sz="1600" dirty="0"/>
          </a:p>
        </p:txBody>
      </p:sp>
      <p:sp>
        <p:nvSpPr>
          <p:cNvPr id="7" name="Text 5"/>
          <p:cNvSpPr/>
          <p:nvPr/>
        </p:nvSpPr>
        <p:spPr>
          <a:xfrm>
            <a:off x="1005840" y="2423160"/>
            <a:ext cx="2843784" cy="128016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Budgets — not Cost Explorer. Explorer analyzes the past; Budgets warns about the future.</a:t>
            </a:r>
            <a:endParaRPr lang="en-US" sz="1300" dirty="0"/>
          </a:p>
        </p:txBody>
      </p:sp>
      <p:sp>
        <p:nvSpPr>
          <p:cNvPr id="8" name="Shape 6"/>
          <p:cNvSpPr/>
          <p:nvPr/>
        </p:nvSpPr>
        <p:spPr>
          <a:xfrm>
            <a:off x="4352544" y="1691640"/>
            <a:ext cx="3483864" cy="2194560"/>
          </a:xfrm>
          <a:prstGeom prst="roundRect">
            <a:avLst>
              <a:gd name="adj" fmla="val 4167"/>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sp>
      <p:sp>
        <p:nvSpPr>
          <p:cNvPr id="9" name="Shape 7"/>
          <p:cNvSpPr/>
          <p:nvPr/>
        </p:nvSpPr>
        <p:spPr>
          <a:xfrm>
            <a:off x="4352544" y="1691640"/>
            <a:ext cx="137160" cy="2194560"/>
          </a:xfrm>
          <a:prstGeom prst="roundRect">
            <a:avLst>
              <a:gd name="adj" fmla="val 13333"/>
            </a:avLst>
          </a:prstGeom>
          <a:solidFill>
            <a:srgbClr val="1F8A38"/>
          </a:solidFill>
          <a:ln/>
        </p:spPr>
      </p:sp>
      <p:sp>
        <p:nvSpPr>
          <p:cNvPr id="10" name="Text 8"/>
          <p:cNvSpPr/>
          <p:nvPr/>
        </p:nvSpPr>
        <p:spPr>
          <a:xfrm>
            <a:off x="4718304" y="189280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“Steady workload for 3 years, cheapest?”</a:t>
            </a:r>
            <a:endParaRPr lang="en-US" sz="1600" dirty="0"/>
          </a:p>
        </p:txBody>
      </p:sp>
      <p:sp>
        <p:nvSpPr>
          <p:cNvPr id="11" name="Text 9"/>
          <p:cNvSpPr/>
          <p:nvPr/>
        </p:nvSpPr>
        <p:spPr>
          <a:xfrm>
            <a:off x="4718304" y="2423160"/>
            <a:ext cx="2843784" cy="128016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Reserved Instances / Savings Plans. If it says “can be interrupted,” the answer is Spot.</a:t>
            </a:r>
            <a:endParaRPr lang="en-US" sz="1300" dirty="0"/>
          </a:p>
        </p:txBody>
      </p:sp>
      <p:sp>
        <p:nvSpPr>
          <p:cNvPr id="12" name="Shape 10"/>
          <p:cNvSpPr/>
          <p:nvPr/>
        </p:nvSpPr>
        <p:spPr>
          <a:xfrm>
            <a:off x="8065008" y="1691640"/>
            <a:ext cx="3483864" cy="2194560"/>
          </a:xfrm>
          <a:prstGeom prst="roundRect">
            <a:avLst>
              <a:gd name="adj" fmla="val 4167"/>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sp>
      <p:sp>
        <p:nvSpPr>
          <p:cNvPr id="13" name="Shape 11"/>
          <p:cNvSpPr/>
          <p:nvPr/>
        </p:nvSpPr>
        <p:spPr>
          <a:xfrm>
            <a:off x="8065008" y="1691640"/>
            <a:ext cx="137160" cy="2194560"/>
          </a:xfrm>
          <a:prstGeom prst="roundRect">
            <a:avLst>
              <a:gd name="adj" fmla="val 13333"/>
            </a:avLst>
          </a:prstGeom>
          <a:solidFill>
            <a:srgbClr val="7A5C9E"/>
          </a:solidFill>
          <a:ln/>
        </p:spPr>
      </p:sp>
      <p:sp>
        <p:nvSpPr>
          <p:cNvPr id="14" name="Text 12"/>
          <p:cNvSpPr/>
          <p:nvPr/>
        </p:nvSpPr>
        <p:spPr>
          <a:xfrm>
            <a:off x="8430768" y="189280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“Restrict what a whole ACCOUNT can do?”</a:t>
            </a:r>
            <a:endParaRPr lang="en-US" sz="1600" dirty="0"/>
          </a:p>
        </p:txBody>
      </p:sp>
      <p:sp>
        <p:nvSpPr>
          <p:cNvPr id="15" name="Text 13"/>
          <p:cNvSpPr/>
          <p:nvPr/>
        </p:nvSpPr>
        <p:spPr>
          <a:xfrm>
            <a:off x="8430768" y="2423160"/>
            <a:ext cx="2843784" cy="128016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Service Control Policy in Organizations — not an IAM policy.</a:t>
            </a:r>
            <a:endParaRPr lang="en-US" sz="1300" dirty="0"/>
          </a:p>
        </p:txBody>
      </p:sp>
      <p:sp>
        <p:nvSpPr>
          <p:cNvPr id="16" name="Shape 14"/>
          <p:cNvSpPr/>
          <p:nvPr/>
        </p:nvSpPr>
        <p:spPr>
          <a:xfrm>
            <a:off x="640080" y="4114800"/>
            <a:ext cx="3483864" cy="2194560"/>
          </a:xfrm>
          <a:prstGeom prst="roundRect">
            <a:avLst>
              <a:gd name="adj" fmla="val 4167"/>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sp>
      <p:sp>
        <p:nvSpPr>
          <p:cNvPr id="17" name="Shape 15"/>
          <p:cNvSpPr/>
          <p:nvPr/>
        </p:nvSpPr>
        <p:spPr>
          <a:xfrm>
            <a:off x="640080" y="4114800"/>
            <a:ext cx="137160" cy="2194560"/>
          </a:xfrm>
          <a:prstGeom prst="roundRect">
            <a:avLst>
              <a:gd name="adj" fmla="val 13333"/>
            </a:avLst>
          </a:prstGeom>
          <a:solidFill>
            <a:srgbClr val="C0392B"/>
          </a:solidFill>
          <a:ln/>
        </p:spPr>
      </p:sp>
      <p:sp>
        <p:nvSpPr>
          <p:cNvPr id="18" name="Text 16"/>
          <p:cNvSpPr/>
          <p:nvPr/>
        </p:nvSpPr>
        <p:spPr>
          <a:xfrm>
            <a:off x="1005840" y="431596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“Cheapest way to reduce data transfer cost?”</a:t>
            </a:r>
            <a:endParaRPr lang="en-US" sz="1600" dirty="0"/>
          </a:p>
        </p:txBody>
      </p:sp>
      <p:sp>
        <p:nvSpPr>
          <p:cNvPr id="19" name="Text 17"/>
          <p:cNvSpPr/>
          <p:nvPr/>
        </p:nvSpPr>
        <p:spPr>
          <a:xfrm>
            <a:off x="1005840" y="4846320"/>
            <a:ext cx="2843784" cy="128016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Remember: inbound free, outbound charged. Caching at the edge cuts egress.</a:t>
            </a:r>
            <a:endParaRPr lang="en-US" sz="1300" dirty="0"/>
          </a:p>
        </p:txBody>
      </p:sp>
      <p:sp>
        <p:nvSpPr>
          <p:cNvPr id="20" name="Shape 18"/>
          <p:cNvSpPr/>
          <p:nvPr/>
        </p:nvSpPr>
        <p:spPr>
          <a:xfrm>
            <a:off x="4352544" y="4114800"/>
            <a:ext cx="3483864" cy="2194560"/>
          </a:xfrm>
          <a:prstGeom prst="roundRect">
            <a:avLst>
              <a:gd name="adj" fmla="val 4167"/>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sp>
      <p:sp>
        <p:nvSpPr>
          <p:cNvPr id="21" name="Shape 19"/>
          <p:cNvSpPr/>
          <p:nvPr/>
        </p:nvSpPr>
        <p:spPr>
          <a:xfrm>
            <a:off x="4352544" y="4114800"/>
            <a:ext cx="137160" cy="2194560"/>
          </a:xfrm>
          <a:prstGeom prst="roundRect">
            <a:avLst>
              <a:gd name="adj" fmla="val 13333"/>
            </a:avLst>
          </a:prstGeom>
          <a:solidFill>
            <a:srgbClr val="1E8FA5"/>
          </a:solidFill>
          <a:ln/>
        </p:spPr>
      </p:sp>
      <p:sp>
        <p:nvSpPr>
          <p:cNvPr id="22" name="Text 20"/>
          <p:cNvSpPr/>
          <p:nvPr/>
        </p:nvSpPr>
        <p:spPr>
          <a:xfrm>
            <a:off x="4718304" y="431596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“Most granular billing data?”</a:t>
            </a:r>
            <a:endParaRPr lang="en-US" sz="1600" dirty="0"/>
          </a:p>
        </p:txBody>
      </p:sp>
      <p:sp>
        <p:nvSpPr>
          <p:cNvPr id="23" name="Text 21"/>
          <p:cNvSpPr/>
          <p:nvPr/>
        </p:nvSpPr>
        <p:spPr>
          <a:xfrm>
            <a:off x="4718304" y="4846320"/>
            <a:ext cx="2843784" cy="128016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Cost and Usage Report. Cost Explorer is for visuals and trends.</a:t>
            </a:r>
            <a:endParaRPr lang="en-US" sz="1300" dirty="0"/>
          </a:p>
        </p:txBody>
      </p:sp>
      <p:sp>
        <p:nvSpPr>
          <p:cNvPr id="24" name="Shape 22"/>
          <p:cNvSpPr/>
          <p:nvPr/>
        </p:nvSpPr>
        <p:spPr>
          <a:xfrm>
            <a:off x="8065008" y="4114800"/>
            <a:ext cx="3483864" cy="2194560"/>
          </a:xfrm>
          <a:prstGeom prst="roundRect">
            <a:avLst>
              <a:gd name="adj" fmla="val 4167"/>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sp>
      <p:sp>
        <p:nvSpPr>
          <p:cNvPr id="25" name="Shape 23"/>
          <p:cNvSpPr/>
          <p:nvPr/>
        </p:nvSpPr>
        <p:spPr>
          <a:xfrm>
            <a:off x="8065008" y="4114800"/>
            <a:ext cx="137160" cy="2194560"/>
          </a:xfrm>
          <a:prstGeom prst="roundRect">
            <a:avLst>
              <a:gd name="adj" fmla="val 13333"/>
            </a:avLst>
          </a:prstGeom>
          <a:solidFill>
            <a:srgbClr val="4B6584"/>
          </a:solidFill>
          <a:ln/>
        </p:spPr>
      </p:sp>
      <p:sp>
        <p:nvSpPr>
          <p:cNvPr id="26" name="Text 24"/>
          <p:cNvSpPr/>
          <p:nvPr/>
        </p:nvSpPr>
        <p:spPr>
          <a:xfrm>
            <a:off x="8430768" y="431596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“One bill + volume discounts for many accounts?”</a:t>
            </a:r>
            <a:endParaRPr lang="en-US" sz="1600" dirty="0"/>
          </a:p>
        </p:txBody>
      </p:sp>
      <p:sp>
        <p:nvSpPr>
          <p:cNvPr id="27" name="Text 25"/>
          <p:cNvSpPr/>
          <p:nvPr/>
        </p:nvSpPr>
        <p:spPr>
          <a:xfrm>
            <a:off x="8430768" y="4846320"/>
            <a:ext cx="2843784" cy="128016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AWS Organizations with consolidated billing.</a:t>
            </a:r>
            <a:endParaRPr lang="en-US" sz="1300" dirty="0"/>
          </a:p>
        </p:txBody>
      </p:sp>
      <p:sp>
        <p:nvSpPr>
          <p:cNvPr id="28" name="Text 26"/>
          <p:cNvSpPr/>
          <p:nvPr/>
        </p:nvSpPr>
        <p:spPr>
          <a:xfrm>
            <a:off x="640080" y="6473952"/>
            <a:ext cx="5943600" cy="274320"/>
          </a:xfrm>
          <a:prstGeom prst="rect">
            <a:avLst/>
          </a:prstGeom>
          <a:noFill/>
          <a:ln/>
        </p:spPr>
        <p:txBody>
          <a:bodyPr wrap="square" rtlCol="0" anchor="ctr"/>
          <a:lstStyle/>
          <a:p>
            <a:pPr indent="0" marL="0">
              <a:buNone/>
            </a:pPr>
            <a:r>
              <a:rPr lang="en-US" sz="900" dirty="0">
                <a:solidFill>
                  <a:srgbClr val="5B6570"/>
                </a:solidFill>
                <a:latin typeface="Calibri" pitchFamily="34" charset="0"/>
                <a:ea typeface="Calibri" pitchFamily="34" charset="-122"/>
                <a:cs typeface="Calibri" pitchFamily="34" charset="-120"/>
              </a:rPr>
              <a:t>AWS SAA-A  ·  Lecture 2  ·  Cloud Economics &amp; Billing</a:t>
            </a:r>
            <a:endParaRPr lang="en-US" sz="900" dirty="0"/>
          </a:p>
        </p:txBody>
      </p:sp>
      <p:sp>
        <p:nvSpPr>
          <p:cNvPr id="29" name="Text 27"/>
          <p:cNvSpPr/>
          <p:nvPr/>
        </p:nvSpPr>
        <p:spPr>
          <a:xfrm>
            <a:off x="11000232" y="6473952"/>
            <a:ext cx="548640" cy="274320"/>
          </a:xfrm>
          <a:prstGeom prst="rect">
            <a:avLst/>
          </a:prstGeom>
          <a:noFill/>
          <a:ln/>
        </p:spPr>
        <p:txBody>
          <a:bodyPr wrap="square" rtlCol="0" anchor="ctr"/>
          <a:lstStyle/>
          <a:p>
            <a:pPr algn="r" indent="0" marL="0">
              <a:buNone/>
            </a:pPr>
            <a:r>
              <a:rPr lang="en-US" sz="900" dirty="0">
                <a:solidFill>
                  <a:srgbClr val="5B6570"/>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457200"/>
            <a:ext cx="10908792" cy="274320"/>
          </a:xfrm>
          <a:prstGeom prst="rect">
            <a:avLst/>
          </a:prstGeom>
          <a:noFill/>
          <a:ln/>
        </p:spPr>
        <p:txBody>
          <a:bodyPr wrap="square" rtlCol="0" anchor="ctr"/>
          <a:lstStyle/>
          <a:p>
            <a:pPr indent="0" marL="0">
              <a:buNone/>
            </a:pPr>
            <a:r>
              <a:rPr lang="en-US" sz="1200" b="1" spc="200" kern="0" dirty="0">
                <a:solidFill>
                  <a:srgbClr val="EC7211"/>
                </a:solidFill>
                <a:latin typeface="Calibri" pitchFamily="34" charset="0"/>
                <a:ea typeface="Calibri" pitchFamily="34" charset="-122"/>
                <a:cs typeface="Calibri" pitchFamily="34" charset="-120"/>
              </a:rPr>
              <a:t>AFTER THE BREAK</a:t>
            </a:r>
            <a:endParaRPr lang="en-US" sz="1200" dirty="0"/>
          </a:p>
        </p:txBody>
      </p:sp>
      <p:sp>
        <p:nvSpPr>
          <p:cNvPr id="3" name="Text 1"/>
          <p:cNvSpPr/>
          <p:nvPr/>
        </p:nvSpPr>
        <p:spPr>
          <a:xfrm>
            <a:off x="640080" y="731520"/>
            <a:ext cx="10908792" cy="640080"/>
          </a:xfrm>
          <a:prstGeom prst="rect">
            <a:avLst/>
          </a:prstGeom>
          <a:noFill/>
          <a:ln/>
        </p:spPr>
        <p:txBody>
          <a:bodyPr wrap="square" rtlCol="0" anchor="ctr"/>
          <a:lstStyle/>
          <a:p>
            <a:pPr indent="0" marL="0">
              <a:buNone/>
            </a:pPr>
            <a:r>
              <a:rPr lang="en-US" sz="3200" b="1" dirty="0">
                <a:solidFill>
                  <a:srgbClr val="232F3E"/>
                </a:solidFill>
                <a:latin typeface="Calibri" pitchFamily="34" charset="0"/>
                <a:ea typeface="Calibri" pitchFamily="34" charset="-122"/>
                <a:cs typeface="Calibri" pitchFamily="34" charset="-120"/>
              </a:rPr>
              <a:t>Tonight's Hands-On</a:t>
            </a:r>
            <a:endParaRPr lang="en-US" sz="3200" dirty="0"/>
          </a:p>
        </p:txBody>
      </p:sp>
      <p:sp>
        <p:nvSpPr>
          <p:cNvPr id="4" name="Shape 2"/>
          <p:cNvSpPr/>
          <p:nvPr/>
        </p:nvSpPr>
        <p:spPr>
          <a:xfrm>
            <a:off x="640080" y="1691640"/>
            <a:ext cx="10908792" cy="960120"/>
          </a:xfrm>
          <a:prstGeom prst="roundRect">
            <a:avLst>
              <a:gd name="adj" fmla="val 9524"/>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sp>
      <p:sp>
        <p:nvSpPr>
          <p:cNvPr id="5" name="Shape 3"/>
          <p:cNvSpPr/>
          <p:nvPr/>
        </p:nvSpPr>
        <p:spPr>
          <a:xfrm>
            <a:off x="914400" y="1892808"/>
            <a:ext cx="548640" cy="548640"/>
          </a:xfrm>
          <a:prstGeom prst="ellipse">
            <a:avLst/>
          </a:prstGeom>
          <a:solidFill>
            <a:srgbClr val="1E8FA5"/>
          </a:solidFill>
          <a:ln/>
        </p:spPr>
      </p:sp>
      <p:sp>
        <p:nvSpPr>
          <p:cNvPr id="6" name="Text 4"/>
          <p:cNvSpPr/>
          <p:nvPr/>
        </p:nvSpPr>
        <p:spPr>
          <a:xfrm>
            <a:off x="914400" y="1892808"/>
            <a:ext cx="54864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691640" y="1837944"/>
            <a:ext cx="9537192" cy="384048"/>
          </a:xfrm>
          <a:prstGeom prst="rect">
            <a:avLst/>
          </a:prstGeom>
          <a:noFill/>
          <a:ln/>
        </p:spPr>
        <p:txBody>
          <a:bodyPr wrap="square" rtlCol="0" anchor="ctr"/>
          <a:lstStyle/>
          <a:p>
            <a:pPr indent="0" marL="0">
              <a:buNone/>
            </a:pPr>
            <a:r>
              <a:rPr lang="en-US" sz="1750" b="1" dirty="0">
                <a:solidFill>
                  <a:srgbClr val="232F3E"/>
                </a:solidFill>
                <a:latin typeface="Calibri" pitchFamily="34" charset="0"/>
                <a:ea typeface="Calibri" pitchFamily="34" charset="-122"/>
                <a:cs typeface="Calibri" pitchFamily="34" charset="-120"/>
              </a:rPr>
              <a:t>Billing Dashboard tour</a:t>
            </a:r>
            <a:endParaRPr lang="en-US" sz="1750" dirty="0"/>
          </a:p>
        </p:txBody>
      </p:sp>
      <p:sp>
        <p:nvSpPr>
          <p:cNvPr id="8" name="Text 6"/>
          <p:cNvSpPr/>
          <p:nvPr/>
        </p:nvSpPr>
        <p:spPr>
          <a:xfrm>
            <a:off x="1691640" y="2212848"/>
            <a:ext cx="9445752" cy="365760"/>
          </a:xfrm>
          <a:prstGeom prst="rect">
            <a:avLst/>
          </a:prstGeom>
          <a:noFill/>
          <a:ln/>
        </p:spPr>
        <p:txBody>
          <a:bodyPr wrap="square" rtlCol="0" anchor="ctr"/>
          <a:lstStyle/>
          <a:p>
            <a:pPr indent="0" marL="0">
              <a:buNone/>
            </a:pPr>
            <a:r>
              <a:rPr lang="en-US" sz="1400" dirty="0">
                <a:solidFill>
                  <a:srgbClr val="5B6570"/>
                </a:solidFill>
                <a:latin typeface="Calibri" pitchFamily="34" charset="0"/>
                <a:ea typeface="Calibri" pitchFamily="34" charset="-122"/>
                <a:cs typeface="Calibri" pitchFamily="34" charset="-120"/>
              </a:rPr>
              <a:t>I'll walk the console live: where Bills, Cost Explorer, and Budgets actually live.</a:t>
            </a:r>
            <a:endParaRPr lang="en-US" sz="1400" dirty="0"/>
          </a:p>
        </p:txBody>
      </p:sp>
      <p:sp>
        <p:nvSpPr>
          <p:cNvPr id="9" name="Shape 7"/>
          <p:cNvSpPr/>
          <p:nvPr/>
        </p:nvSpPr>
        <p:spPr>
          <a:xfrm>
            <a:off x="640080" y="2788920"/>
            <a:ext cx="10908792" cy="960120"/>
          </a:xfrm>
          <a:prstGeom prst="roundRect">
            <a:avLst>
              <a:gd name="adj" fmla="val 9524"/>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sp>
      <p:sp>
        <p:nvSpPr>
          <p:cNvPr id="10" name="Shape 8"/>
          <p:cNvSpPr/>
          <p:nvPr/>
        </p:nvSpPr>
        <p:spPr>
          <a:xfrm>
            <a:off x="914400" y="2990088"/>
            <a:ext cx="548640" cy="548640"/>
          </a:xfrm>
          <a:prstGeom prst="ellipse">
            <a:avLst/>
          </a:prstGeom>
          <a:solidFill>
            <a:srgbClr val="EC7211"/>
          </a:solidFill>
          <a:ln/>
        </p:spPr>
      </p:sp>
      <p:sp>
        <p:nvSpPr>
          <p:cNvPr id="11" name="Text 9"/>
          <p:cNvSpPr/>
          <p:nvPr/>
        </p:nvSpPr>
        <p:spPr>
          <a:xfrm>
            <a:off x="914400" y="2990088"/>
            <a:ext cx="54864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691640" y="2935224"/>
            <a:ext cx="9537192" cy="384048"/>
          </a:xfrm>
          <a:prstGeom prst="rect">
            <a:avLst/>
          </a:prstGeom>
          <a:noFill/>
          <a:ln/>
        </p:spPr>
        <p:txBody>
          <a:bodyPr wrap="square" rtlCol="0" anchor="ctr"/>
          <a:lstStyle/>
          <a:p>
            <a:pPr indent="0" marL="0">
              <a:buNone/>
            </a:pPr>
            <a:r>
              <a:rPr lang="en-US" sz="1750" b="1" dirty="0">
                <a:solidFill>
                  <a:srgbClr val="232F3E"/>
                </a:solidFill>
                <a:latin typeface="Calibri" pitchFamily="34" charset="0"/>
                <a:ea typeface="Calibri" pitchFamily="34" charset="-122"/>
                <a:cs typeface="Calibri" pitchFamily="34" charset="-120"/>
              </a:rPr>
              <a:t>AWS Pricing Calculator</a:t>
            </a:r>
            <a:endParaRPr lang="en-US" sz="1750" dirty="0"/>
          </a:p>
        </p:txBody>
      </p:sp>
      <p:sp>
        <p:nvSpPr>
          <p:cNvPr id="13" name="Text 11"/>
          <p:cNvSpPr/>
          <p:nvPr/>
        </p:nvSpPr>
        <p:spPr>
          <a:xfrm>
            <a:off x="1691640" y="3310128"/>
            <a:ext cx="9445752" cy="365760"/>
          </a:xfrm>
          <a:prstGeom prst="rect">
            <a:avLst/>
          </a:prstGeom>
          <a:noFill/>
          <a:ln/>
        </p:spPr>
        <p:txBody>
          <a:bodyPr wrap="square" rtlCol="0" anchor="ctr"/>
          <a:lstStyle/>
          <a:p>
            <a:pPr indent="0" marL="0">
              <a:buNone/>
            </a:pPr>
            <a:r>
              <a:rPr lang="en-US" sz="1400" dirty="0">
                <a:solidFill>
                  <a:srgbClr val="5B6570"/>
                </a:solidFill>
                <a:latin typeface="Calibri" pitchFamily="34" charset="0"/>
                <a:ea typeface="Calibri" pitchFamily="34" charset="-122"/>
                <a:cs typeface="Calibri" pitchFamily="34" charset="-120"/>
              </a:rPr>
              <a:t>Build a cost estimate for a small web application. We'll compare answers as a class.</a:t>
            </a:r>
            <a:endParaRPr lang="en-US" sz="1400" dirty="0"/>
          </a:p>
        </p:txBody>
      </p:sp>
      <p:sp>
        <p:nvSpPr>
          <p:cNvPr id="14" name="Shape 12"/>
          <p:cNvSpPr/>
          <p:nvPr/>
        </p:nvSpPr>
        <p:spPr>
          <a:xfrm>
            <a:off x="640080" y="3886200"/>
            <a:ext cx="10908792" cy="960120"/>
          </a:xfrm>
          <a:prstGeom prst="roundRect">
            <a:avLst>
              <a:gd name="adj" fmla="val 9524"/>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sp>
      <p:sp>
        <p:nvSpPr>
          <p:cNvPr id="15" name="Shape 13"/>
          <p:cNvSpPr/>
          <p:nvPr/>
        </p:nvSpPr>
        <p:spPr>
          <a:xfrm>
            <a:off x="914400" y="4087368"/>
            <a:ext cx="548640" cy="548640"/>
          </a:xfrm>
          <a:prstGeom prst="ellipse">
            <a:avLst/>
          </a:prstGeom>
          <a:solidFill>
            <a:srgbClr val="1F8A38"/>
          </a:solidFill>
          <a:ln/>
        </p:spPr>
      </p:sp>
      <p:sp>
        <p:nvSpPr>
          <p:cNvPr id="16" name="Text 14"/>
          <p:cNvSpPr/>
          <p:nvPr/>
        </p:nvSpPr>
        <p:spPr>
          <a:xfrm>
            <a:off x="914400" y="4087368"/>
            <a:ext cx="54864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691640" y="4032504"/>
            <a:ext cx="9537192" cy="384048"/>
          </a:xfrm>
          <a:prstGeom prst="rect">
            <a:avLst/>
          </a:prstGeom>
          <a:noFill/>
          <a:ln/>
        </p:spPr>
        <p:txBody>
          <a:bodyPr wrap="square" rtlCol="0" anchor="ctr"/>
          <a:lstStyle/>
          <a:p>
            <a:pPr indent="0" marL="0">
              <a:buNone/>
            </a:pPr>
            <a:r>
              <a:rPr lang="en-US" sz="1750" b="1" dirty="0">
                <a:solidFill>
                  <a:srgbClr val="232F3E"/>
                </a:solidFill>
                <a:latin typeface="Calibri" pitchFamily="34" charset="0"/>
                <a:ea typeface="Calibri" pitchFamily="34" charset="-122"/>
                <a:cs typeface="Calibri" pitchFamily="34" charset="-120"/>
              </a:rPr>
              <a:t>Support plan scavenger hunt</a:t>
            </a:r>
            <a:endParaRPr lang="en-US" sz="1750" dirty="0"/>
          </a:p>
        </p:txBody>
      </p:sp>
      <p:sp>
        <p:nvSpPr>
          <p:cNvPr id="18" name="Text 16"/>
          <p:cNvSpPr/>
          <p:nvPr/>
        </p:nvSpPr>
        <p:spPr>
          <a:xfrm>
            <a:off x="1691640" y="4407408"/>
            <a:ext cx="9445752" cy="365760"/>
          </a:xfrm>
          <a:prstGeom prst="rect">
            <a:avLst/>
          </a:prstGeom>
          <a:noFill/>
          <a:ln/>
        </p:spPr>
        <p:txBody>
          <a:bodyPr wrap="square" rtlCol="0" anchor="ctr"/>
          <a:lstStyle/>
          <a:p>
            <a:pPr indent="0" marL="0">
              <a:buNone/>
            </a:pPr>
            <a:r>
              <a:rPr lang="en-US" sz="1400" dirty="0">
                <a:solidFill>
                  <a:srgbClr val="5B6570"/>
                </a:solidFill>
                <a:latin typeface="Calibri" pitchFamily="34" charset="0"/>
                <a:ea typeface="Calibri" pitchFamily="34" charset="-122"/>
                <a:cs typeface="Calibri" pitchFamily="34" charset="-120"/>
              </a:rPr>
              <a:t>In teams: given a scenario, find and defend the right support plan.</a:t>
            </a:r>
            <a:endParaRPr lang="en-US" sz="1400" dirty="0"/>
          </a:p>
        </p:txBody>
      </p:sp>
      <p:sp>
        <p:nvSpPr>
          <p:cNvPr id="19" name="Shape 17"/>
          <p:cNvSpPr/>
          <p:nvPr/>
        </p:nvSpPr>
        <p:spPr>
          <a:xfrm>
            <a:off x="640080" y="4983480"/>
            <a:ext cx="10908792" cy="960120"/>
          </a:xfrm>
          <a:prstGeom prst="roundRect">
            <a:avLst>
              <a:gd name="adj" fmla="val 9524"/>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sp>
      <p:sp>
        <p:nvSpPr>
          <p:cNvPr id="20" name="Shape 18"/>
          <p:cNvSpPr/>
          <p:nvPr/>
        </p:nvSpPr>
        <p:spPr>
          <a:xfrm>
            <a:off x="914400" y="5184648"/>
            <a:ext cx="548640" cy="548640"/>
          </a:xfrm>
          <a:prstGeom prst="ellipse">
            <a:avLst/>
          </a:prstGeom>
          <a:solidFill>
            <a:srgbClr val="7A5C9E"/>
          </a:solidFill>
          <a:ln/>
        </p:spPr>
      </p:sp>
      <p:sp>
        <p:nvSpPr>
          <p:cNvPr id="21" name="Text 19"/>
          <p:cNvSpPr/>
          <p:nvPr/>
        </p:nvSpPr>
        <p:spPr>
          <a:xfrm>
            <a:off x="914400" y="5184648"/>
            <a:ext cx="54864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1691640" y="5129784"/>
            <a:ext cx="9537192" cy="384048"/>
          </a:xfrm>
          <a:prstGeom prst="rect">
            <a:avLst/>
          </a:prstGeom>
          <a:noFill/>
          <a:ln/>
        </p:spPr>
        <p:txBody>
          <a:bodyPr wrap="square" rtlCol="0" anchor="ctr"/>
          <a:lstStyle/>
          <a:p>
            <a:pPr indent="0" marL="0">
              <a:buNone/>
            </a:pPr>
            <a:r>
              <a:rPr lang="en-US" sz="1750" b="1" dirty="0">
                <a:solidFill>
                  <a:srgbClr val="232F3E"/>
                </a:solidFill>
                <a:latin typeface="Calibri" pitchFamily="34" charset="0"/>
                <a:ea typeface="Calibri" pitchFamily="34" charset="-122"/>
                <a:cs typeface="Calibri" pitchFamily="34" charset="-120"/>
              </a:rPr>
              <a:t>AWS Academy Module 2</a:t>
            </a:r>
            <a:endParaRPr lang="en-US" sz="1750" dirty="0"/>
          </a:p>
        </p:txBody>
      </p:sp>
      <p:sp>
        <p:nvSpPr>
          <p:cNvPr id="23" name="Text 21"/>
          <p:cNvSpPr/>
          <p:nvPr/>
        </p:nvSpPr>
        <p:spPr>
          <a:xfrm>
            <a:off x="1691640" y="5504688"/>
            <a:ext cx="9445752" cy="365760"/>
          </a:xfrm>
          <a:prstGeom prst="rect">
            <a:avLst/>
          </a:prstGeom>
          <a:noFill/>
          <a:ln/>
        </p:spPr>
        <p:txBody>
          <a:bodyPr wrap="square" rtlCol="0" anchor="ctr"/>
          <a:lstStyle/>
          <a:p>
            <a:pPr indent="0" marL="0">
              <a:buNone/>
            </a:pPr>
            <a:r>
              <a:rPr lang="en-US" sz="1400" dirty="0">
                <a:solidFill>
                  <a:srgbClr val="5B6570"/>
                </a:solidFill>
                <a:latin typeface="Calibri" pitchFamily="34" charset="0"/>
                <a:ea typeface="Calibri" pitchFamily="34" charset="-122"/>
                <a:cs typeface="Calibri" pitchFamily="34" charset="-120"/>
              </a:rPr>
              <a:t>Complete the online module content and the knowledge check.</a:t>
            </a:r>
            <a:endParaRPr lang="en-US" sz="1400" dirty="0"/>
          </a:p>
        </p:txBody>
      </p:sp>
      <p:sp>
        <p:nvSpPr>
          <p:cNvPr id="24" name="Text 22"/>
          <p:cNvSpPr/>
          <p:nvPr/>
        </p:nvSpPr>
        <p:spPr>
          <a:xfrm>
            <a:off x="640080" y="6473952"/>
            <a:ext cx="5943600" cy="274320"/>
          </a:xfrm>
          <a:prstGeom prst="rect">
            <a:avLst/>
          </a:prstGeom>
          <a:noFill/>
          <a:ln/>
        </p:spPr>
        <p:txBody>
          <a:bodyPr wrap="square" rtlCol="0" anchor="ctr"/>
          <a:lstStyle/>
          <a:p>
            <a:pPr indent="0" marL="0">
              <a:buNone/>
            </a:pPr>
            <a:r>
              <a:rPr lang="en-US" sz="900" dirty="0">
                <a:solidFill>
                  <a:srgbClr val="5B6570"/>
                </a:solidFill>
                <a:latin typeface="Calibri" pitchFamily="34" charset="0"/>
                <a:ea typeface="Calibri" pitchFamily="34" charset="-122"/>
                <a:cs typeface="Calibri" pitchFamily="34" charset="-120"/>
              </a:rPr>
              <a:t>AWS SAA-A  ·  Lecture 2  ·  Cloud Economics &amp; Billing</a:t>
            </a:r>
            <a:endParaRPr lang="en-US" sz="900" dirty="0"/>
          </a:p>
        </p:txBody>
      </p:sp>
      <p:sp>
        <p:nvSpPr>
          <p:cNvPr id="25" name="Text 23"/>
          <p:cNvSpPr/>
          <p:nvPr/>
        </p:nvSpPr>
        <p:spPr>
          <a:xfrm>
            <a:off x="11000232" y="6473952"/>
            <a:ext cx="548640" cy="274320"/>
          </a:xfrm>
          <a:prstGeom prst="rect">
            <a:avLst/>
          </a:prstGeom>
          <a:noFill/>
          <a:ln/>
        </p:spPr>
        <p:txBody>
          <a:bodyPr wrap="square" rtlCol="0" anchor="ctr"/>
          <a:lstStyle/>
          <a:p>
            <a:pPr algn="r" indent="0" marL="0">
              <a:buNone/>
            </a:pPr>
            <a:r>
              <a:rPr lang="en-US" sz="900" dirty="0">
                <a:solidFill>
                  <a:srgbClr val="5B6570"/>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457200"/>
            <a:ext cx="10908792" cy="274320"/>
          </a:xfrm>
          <a:prstGeom prst="rect">
            <a:avLst/>
          </a:prstGeom>
          <a:noFill/>
          <a:ln/>
        </p:spPr>
        <p:txBody>
          <a:bodyPr wrap="square" rtlCol="0" anchor="ctr"/>
          <a:lstStyle/>
          <a:p>
            <a:pPr indent="0" marL="0">
              <a:buNone/>
            </a:pPr>
            <a:r>
              <a:rPr lang="en-US" sz="1200" b="1" spc="200" kern="0" dirty="0">
                <a:solidFill>
                  <a:srgbClr val="EC7211"/>
                </a:solidFill>
                <a:latin typeface="Calibri" pitchFamily="34" charset="0"/>
                <a:ea typeface="Calibri" pitchFamily="34" charset="-122"/>
                <a:cs typeface="Calibri" pitchFamily="34" charset="-120"/>
              </a:rPr>
              <a:t>BEFORE NEXT CLASS</a:t>
            </a:r>
            <a:endParaRPr lang="en-US" sz="1200" dirty="0"/>
          </a:p>
        </p:txBody>
      </p:sp>
      <p:sp>
        <p:nvSpPr>
          <p:cNvPr id="3" name="Text 1"/>
          <p:cNvSpPr/>
          <p:nvPr/>
        </p:nvSpPr>
        <p:spPr>
          <a:xfrm>
            <a:off x="640080" y="731520"/>
            <a:ext cx="10908792" cy="640080"/>
          </a:xfrm>
          <a:prstGeom prst="rect">
            <a:avLst/>
          </a:prstGeom>
          <a:noFill/>
          <a:ln/>
        </p:spPr>
        <p:txBody>
          <a:bodyPr wrap="square" rtlCol="0" anchor="ctr"/>
          <a:lstStyle/>
          <a:p>
            <a:pPr indent="0" marL="0">
              <a:buNone/>
            </a:pPr>
            <a:r>
              <a:rPr lang="en-US" sz="3200" b="1" dirty="0">
                <a:solidFill>
                  <a:srgbClr val="232F3E"/>
                </a:solidFill>
                <a:latin typeface="Calibri" pitchFamily="34" charset="0"/>
                <a:ea typeface="Calibri" pitchFamily="34" charset="-122"/>
                <a:cs typeface="Calibri" pitchFamily="34" charset="-120"/>
              </a:rPr>
              <a:t>Your Assignment</a:t>
            </a:r>
            <a:endParaRPr lang="en-US" sz="3200" dirty="0"/>
          </a:p>
        </p:txBody>
      </p:sp>
      <p:sp>
        <p:nvSpPr>
          <p:cNvPr id="4" name="Shape 2"/>
          <p:cNvSpPr/>
          <p:nvPr/>
        </p:nvSpPr>
        <p:spPr>
          <a:xfrm>
            <a:off x="640080" y="1737360"/>
            <a:ext cx="10908792" cy="1143000"/>
          </a:xfrm>
          <a:prstGeom prst="roundRect">
            <a:avLst>
              <a:gd name="adj" fmla="val 8000"/>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sp>
      <p:sp>
        <p:nvSpPr>
          <p:cNvPr id="5" name="Shape 3"/>
          <p:cNvSpPr/>
          <p:nvPr/>
        </p:nvSpPr>
        <p:spPr>
          <a:xfrm>
            <a:off x="960120" y="2029968"/>
            <a:ext cx="566928" cy="566928"/>
          </a:xfrm>
          <a:prstGeom prst="ellipse">
            <a:avLst/>
          </a:prstGeom>
          <a:solidFill>
            <a:srgbClr val="EC7211"/>
          </a:solidFill>
          <a:ln/>
        </p:spPr>
      </p:sp>
      <p:sp>
        <p:nvSpPr>
          <p:cNvPr id="6" name="Text 4"/>
          <p:cNvSpPr/>
          <p:nvPr/>
        </p:nvSpPr>
        <p:spPr>
          <a:xfrm>
            <a:off x="960120" y="2029968"/>
            <a:ext cx="566928" cy="56692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783080" y="1920240"/>
            <a:ext cx="9445752" cy="411480"/>
          </a:xfrm>
          <a:prstGeom prst="rect">
            <a:avLst/>
          </a:prstGeom>
          <a:noFill/>
          <a:ln/>
        </p:spPr>
        <p:txBody>
          <a:bodyPr wrap="square" rtlCol="0" anchor="ctr"/>
          <a:lstStyle/>
          <a:p>
            <a:pPr indent="0" marL="0">
              <a:buNone/>
            </a:pPr>
            <a:r>
              <a:rPr lang="en-US" sz="1800" b="1" dirty="0">
                <a:solidFill>
                  <a:srgbClr val="232F3E"/>
                </a:solidFill>
                <a:latin typeface="Calibri" pitchFamily="34" charset="0"/>
                <a:ea typeface="Calibri" pitchFamily="34" charset="-122"/>
                <a:cs typeface="Calibri" pitchFamily="34" charset="-120"/>
              </a:rPr>
              <a:t>Finish AWS Academy Module 2 + knowledge check</a:t>
            </a:r>
            <a:endParaRPr lang="en-US" sz="1800" dirty="0"/>
          </a:p>
        </p:txBody>
      </p:sp>
      <p:sp>
        <p:nvSpPr>
          <p:cNvPr id="8" name="Text 6"/>
          <p:cNvSpPr/>
          <p:nvPr/>
        </p:nvSpPr>
        <p:spPr>
          <a:xfrm>
            <a:off x="1783080" y="2322576"/>
            <a:ext cx="9354312" cy="457200"/>
          </a:xfrm>
          <a:prstGeom prst="rect">
            <a:avLst/>
          </a:prstGeom>
          <a:noFill/>
          <a:ln/>
        </p:spPr>
        <p:txBody>
          <a:bodyPr wrap="square" rtlCol="0" anchor="ctr"/>
          <a:lstStyle/>
          <a:p>
            <a:pPr indent="0" marL="0">
              <a:buNone/>
            </a:pPr>
            <a:r>
              <a:rPr lang="en-US" sz="1400" dirty="0">
                <a:solidFill>
                  <a:srgbClr val="5B6570"/>
                </a:solidFill>
                <a:latin typeface="Calibri" pitchFamily="34" charset="0"/>
                <a:ea typeface="Calibri" pitchFamily="34" charset="-122"/>
                <a:cs typeface="Calibri" pitchFamily="34" charset="-120"/>
              </a:rPr>
              <a:t>Including the pricing and support-plan sections. Aim for 80%+ on the first attempt.</a:t>
            </a:r>
            <a:endParaRPr lang="en-US" sz="1400" dirty="0"/>
          </a:p>
        </p:txBody>
      </p:sp>
      <p:sp>
        <p:nvSpPr>
          <p:cNvPr id="9" name="Shape 7"/>
          <p:cNvSpPr/>
          <p:nvPr/>
        </p:nvSpPr>
        <p:spPr>
          <a:xfrm>
            <a:off x="640080" y="3063240"/>
            <a:ext cx="10908792" cy="1143000"/>
          </a:xfrm>
          <a:prstGeom prst="roundRect">
            <a:avLst>
              <a:gd name="adj" fmla="val 8000"/>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sp>
      <p:sp>
        <p:nvSpPr>
          <p:cNvPr id="10" name="Shape 8"/>
          <p:cNvSpPr/>
          <p:nvPr/>
        </p:nvSpPr>
        <p:spPr>
          <a:xfrm>
            <a:off x="960120" y="3355848"/>
            <a:ext cx="566928" cy="566928"/>
          </a:xfrm>
          <a:prstGeom prst="ellipse">
            <a:avLst/>
          </a:prstGeom>
          <a:solidFill>
            <a:srgbClr val="1E8FA5"/>
          </a:solidFill>
          <a:ln/>
        </p:spPr>
      </p:sp>
      <p:sp>
        <p:nvSpPr>
          <p:cNvPr id="11" name="Text 9"/>
          <p:cNvSpPr/>
          <p:nvPr/>
        </p:nvSpPr>
        <p:spPr>
          <a:xfrm>
            <a:off x="960120" y="3355848"/>
            <a:ext cx="566928" cy="56692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783080" y="3246120"/>
            <a:ext cx="9445752" cy="411480"/>
          </a:xfrm>
          <a:prstGeom prst="rect">
            <a:avLst/>
          </a:prstGeom>
          <a:noFill/>
          <a:ln/>
        </p:spPr>
        <p:txBody>
          <a:bodyPr wrap="square" rtlCol="0" anchor="ctr"/>
          <a:lstStyle/>
          <a:p>
            <a:pPr indent="0" marL="0">
              <a:buNone/>
            </a:pPr>
            <a:r>
              <a:rPr lang="en-US" sz="1800" b="1" dirty="0">
                <a:solidFill>
                  <a:srgbClr val="232F3E"/>
                </a:solidFill>
                <a:latin typeface="Calibri" pitchFamily="34" charset="0"/>
                <a:ea typeface="Calibri" pitchFamily="34" charset="-122"/>
                <a:cs typeface="Calibri" pitchFamily="34" charset="-120"/>
              </a:rPr>
              <a:t>Set a budget on your own AWS account</a:t>
            </a:r>
            <a:endParaRPr lang="en-US" sz="1800" dirty="0"/>
          </a:p>
        </p:txBody>
      </p:sp>
      <p:sp>
        <p:nvSpPr>
          <p:cNvPr id="13" name="Text 11"/>
          <p:cNvSpPr/>
          <p:nvPr/>
        </p:nvSpPr>
        <p:spPr>
          <a:xfrm>
            <a:off x="1783080" y="3648456"/>
            <a:ext cx="9354312" cy="457200"/>
          </a:xfrm>
          <a:prstGeom prst="rect">
            <a:avLst/>
          </a:prstGeom>
          <a:noFill/>
          <a:ln/>
        </p:spPr>
        <p:txBody>
          <a:bodyPr wrap="square" rtlCol="0" anchor="ctr"/>
          <a:lstStyle/>
          <a:p>
            <a:pPr indent="0" marL="0">
              <a:buNone/>
            </a:pPr>
            <a:r>
              <a:rPr lang="en-US" sz="1400" dirty="0">
                <a:solidFill>
                  <a:srgbClr val="5B6570"/>
                </a:solidFill>
                <a:latin typeface="Calibri" pitchFamily="34" charset="0"/>
                <a:ea typeface="Calibri" pitchFamily="34" charset="-122"/>
                <a:cs typeface="Calibri" pitchFamily="34" charset="-120"/>
              </a:rPr>
              <a:t>If you created a personal account: set a cost budget with an alert. Screenshot it — I'll ask.</a:t>
            </a:r>
            <a:endParaRPr lang="en-US" sz="1400" dirty="0"/>
          </a:p>
        </p:txBody>
      </p:sp>
      <p:sp>
        <p:nvSpPr>
          <p:cNvPr id="14" name="Shape 12"/>
          <p:cNvSpPr/>
          <p:nvPr/>
        </p:nvSpPr>
        <p:spPr>
          <a:xfrm>
            <a:off x="640080" y="4389120"/>
            <a:ext cx="10908792" cy="1143000"/>
          </a:xfrm>
          <a:prstGeom prst="roundRect">
            <a:avLst>
              <a:gd name="adj" fmla="val 8000"/>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sp>
      <p:sp>
        <p:nvSpPr>
          <p:cNvPr id="15" name="Shape 13"/>
          <p:cNvSpPr/>
          <p:nvPr/>
        </p:nvSpPr>
        <p:spPr>
          <a:xfrm>
            <a:off x="960120" y="4681728"/>
            <a:ext cx="566928" cy="566928"/>
          </a:xfrm>
          <a:prstGeom prst="ellipse">
            <a:avLst/>
          </a:prstGeom>
          <a:solidFill>
            <a:srgbClr val="1F8A38"/>
          </a:solidFill>
          <a:ln/>
        </p:spPr>
      </p:sp>
      <p:sp>
        <p:nvSpPr>
          <p:cNvPr id="16" name="Text 14"/>
          <p:cNvSpPr/>
          <p:nvPr/>
        </p:nvSpPr>
        <p:spPr>
          <a:xfrm>
            <a:off x="960120" y="4681728"/>
            <a:ext cx="566928" cy="56692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783080" y="4572000"/>
            <a:ext cx="9445752" cy="411480"/>
          </a:xfrm>
          <a:prstGeom prst="rect">
            <a:avLst/>
          </a:prstGeom>
          <a:noFill/>
          <a:ln/>
        </p:spPr>
        <p:txBody>
          <a:bodyPr wrap="square" rtlCol="0" anchor="ctr"/>
          <a:lstStyle/>
          <a:p>
            <a:pPr indent="0" marL="0">
              <a:buNone/>
            </a:pPr>
            <a:r>
              <a:rPr lang="en-US" sz="1800" b="1" dirty="0">
                <a:solidFill>
                  <a:srgbClr val="232F3E"/>
                </a:solidFill>
                <a:latin typeface="Calibri" pitchFamily="34" charset="0"/>
                <a:ea typeface="Calibri" pitchFamily="34" charset="-122"/>
                <a:cs typeface="Calibri" pitchFamily="34" charset="-120"/>
              </a:rPr>
              <a:t>Price your own idea</a:t>
            </a:r>
            <a:endParaRPr lang="en-US" sz="1800" dirty="0"/>
          </a:p>
        </p:txBody>
      </p:sp>
      <p:sp>
        <p:nvSpPr>
          <p:cNvPr id="18" name="Text 16"/>
          <p:cNvSpPr/>
          <p:nvPr/>
        </p:nvSpPr>
        <p:spPr>
          <a:xfrm>
            <a:off x="1783080" y="4974336"/>
            <a:ext cx="9354312" cy="457200"/>
          </a:xfrm>
          <a:prstGeom prst="rect">
            <a:avLst/>
          </a:prstGeom>
          <a:noFill/>
          <a:ln/>
        </p:spPr>
        <p:txBody>
          <a:bodyPr wrap="square" rtlCol="0" anchor="ctr"/>
          <a:lstStyle/>
          <a:p>
            <a:pPr indent="0" marL="0">
              <a:buNone/>
            </a:pPr>
            <a:r>
              <a:rPr lang="en-US" sz="1400" dirty="0">
                <a:solidFill>
                  <a:srgbClr val="5B6570"/>
                </a:solidFill>
                <a:latin typeface="Calibri" pitchFamily="34" charset="0"/>
                <a:ea typeface="Calibri" pitchFamily="34" charset="-122"/>
                <a:cs typeface="Calibri" pitchFamily="34" charset="-120"/>
              </a:rPr>
              <a:t>Pick any app you'd like to build and estimate its monthly cost in the Pricing Calculator. Bring the number.</a:t>
            </a:r>
            <a:endParaRPr lang="en-US" sz="1400" dirty="0"/>
          </a:p>
        </p:txBody>
      </p:sp>
      <p:sp>
        <p:nvSpPr>
          <p:cNvPr id="19" name="Text 17"/>
          <p:cNvSpPr/>
          <p:nvPr/>
        </p:nvSpPr>
        <p:spPr>
          <a:xfrm>
            <a:off x="640080" y="5806440"/>
            <a:ext cx="10908792" cy="365760"/>
          </a:xfrm>
          <a:prstGeom prst="rect">
            <a:avLst/>
          </a:prstGeom>
          <a:noFill/>
          <a:ln/>
        </p:spPr>
        <p:txBody>
          <a:bodyPr wrap="square" rtlCol="0" anchor="ctr"/>
          <a:lstStyle/>
          <a:p>
            <a:pPr algn="ctr" indent="0" marL="0">
              <a:buNone/>
            </a:pPr>
            <a:r>
              <a:rPr lang="en-US" sz="1400" b="1" i="1" dirty="0">
                <a:solidFill>
                  <a:srgbClr val="232F3E"/>
                </a:solidFill>
                <a:latin typeface="Calibri" pitchFamily="34" charset="0"/>
                <a:ea typeface="Calibri" pitchFamily="34" charset="-122"/>
                <a:cs typeface="Calibri" pitchFamily="34" charset="-120"/>
              </a:rPr>
              <a:t>Next week:  AWS Global Infrastructure — Regions, Availability Zones, and how AWS is built worldwide.</a:t>
            </a:r>
            <a:endParaRPr lang="en-US" sz="1400" dirty="0"/>
          </a:p>
        </p:txBody>
      </p:sp>
      <p:sp>
        <p:nvSpPr>
          <p:cNvPr id="20" name="Text 18"/>
          <p:cNvSpPr/>
          <p:nvPr/>
        </p:nvSpPr>
        <p:spPr>
          <a:xfrm>
            <a:off x="640080" y="6473952"/>
            <a:ext cx="5943600" cy="274320"/>
          </a:xfrm>
          <a:prstGeom prst="rect">
            <a:avLst/>
          </a:prstGeom>
          <a:noFill/>
          <a:ln/>
        </p:spPr>
        <p:txBody>
          <a:bodyPr wrap="square" rtlCol="0" anchor="ctr"/>
          <a:lstStyle/>
          <a:p>
            <a:pPr indent="0" marL="0">
              <a:buNone/>
            </a:pPr>
            <a:r>
              <a:rPr lang="en-US" sz="900" dirty="0">
                <a:solidFill>
                  <a:srgbClr val="5B6570"/>
                </a:solidFill>
                <a:latin typeface="Calibri" pitchFamily="34" charset="0"/>
                <a:ea typeface="Calibri" pitchFamily="34" charset="-122"/>
                <a:cs typeface="Calibri" pitchFamily="34" charset="-120"/>
              </a:rPr>
              <a:t>AWS SAA-A  ·  Lecture 2  ·  Cloud Economics &amp; Billing</a:t>
            </a:r>
            <a:endParaRPr lang="en-US" sz="900" dirty="0"/>
          </a:p>
        </p:txBody>
      </p:sp>
      <p:sp>
        <p:nvSpPr>
          <p:cNvPr id="21" name="Text 19"/>
          <p:cNvSpPr/>
          <p:nvPr/>
        </p:nvSpPr>
        <p:spPr>
          <a:xfrm>
            <a:off x="11000232" y="6473952"/>
            <a:ext cx="548640" cy="274320"/>
          </a:xfrm>
          <a:prstGeom prst="rect">
            <a:avLst/>
          </a:prstGeom>
          <a:noFill/>
          <a:ln/>
        </p:spPr>
        <p:txBody>
          <a:bodyPr wrap="square" rtlCol="0" anchor="ctr"/>
          <a:lstStyle/>
          <a:p>
            <a:pPr algn="r" indent="0" marL="0">
              <a:buNone/>
            </a:pPr>
            <a:r>
              <a:rPr lang="en-US" sz="900" dirty="0">
                <a:solidFill>
                  <a:srgbClr val="5B6570"/>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9144000" y="3474720"/>
            <a:ext cx="4754880" cy="4754880"/>
          </a:xfrm>
          <a:prstGeom prst="ellipse">
            <a:avLst/>
          </a:prstGeom>
          <a:solidFill>
            <a:srgbClr val="FF9900">
              <a:alpha val="16000"/>
            </a:srgbClr>
          </a:solidFill>
          <a:ln/>
        </p:spPr>
      </p:sp>
      <p:sp>
        <p:nvSpPr>
          <p:cNvPr id="3" name="Shape 1"/>
          <p:cNvSpPr/>
          <p:nvPr/>
        </p:nvSpPr>
        <p:spPr>
          <a:xfrm>
            <a:off x="-1280160" y="-1280160"/>
            <a:ext cx="4023360" cy="4023360"/>
          </a:xfrm>
          <a:prstGeom prst="ellipse">
            <a:avLst/>
          </a:prstGeom>
          <a:solidFill>
            <a:srgbClr val="FF9900">
              <a:alpha val="12000"/>
            </a:srgbClr>
          </a:solidFill>
          <a:ln/>
        </p:spPr>
      </p:sp>
      <p:sp>
        <p:nvSpPr>
          <p:cNvPr id="4" name="Text 2"/>
          <p:cNvSpPr/>
          <p:nvPr/>
        </p:nvSpPr>
        <p:spPr>
          <a:xfrm>
            <a:off x="640080" y="1965960"/>
            <a:ext cx="10058400" cy="457200"/>
          </a:xfrm>
          <a:prstGeom prst="rect">
            <a:avLst/>
          </a:prstGeom>
          <a:noFill/>
          <a:ln/>
        </p:spPr>
        <p:txBody>
          <a:bodyPr wrap="square" rtlCol="0" anchor="ctr"/>
          <a:lstStyle/>
          <a:p>
            <a:pPr indent="0" marL="0">
              <a:buNone/>
            </a:pPr>
            <a:r>
              <a:rPr lang="en-US" sz="1500" b="1" spc="300" kern="0" dirty="0">
                <a:solidFill>
                  <a:srgbClr val="FF9900"/>
                </a:solidFill>
                <a:latin typeface="Calibri" pitchFamily="34" charset="0"/>
                <a:ea typeface="Calibri" pitchFamily="34" charset="-122"/>
                <a:cs typeface="Calibri" pitchFamily="34" charset="-120"/>
              </a:rPr>
              <a:t>QUESTIONS?</a:t>
            </a:r>
            <a:endParaRPr lang="en-US" sz="1500" dirty="0"/>
          </a:p>
        </p:txBody>
      </p:sp>
      <p:sp>
        <p:nvSpPr>
          <p:cNvPr id="5" name="Text 3"/>
          <p:cNvSpPr/>
          <p:nvPr/>
        </p:nvSpPr>
        <p:spPr>
          <a:xfrm>
            <a:off x="640080" y="2423160"/>
            <a:ext cx="10058400" cy="1554480"/>
          </a:xfrm>
          <a:prstGeom prst="rect">
            <a:avLst/>
          </a:prstGeom>
          <a:noFill/>
          <a:ln/>
        </p:spPr>
        <p:txBody>
          <a:bodyPr wrap="square" rtlCol="0" anchor="ctr"/>
          <a:lstStyle/>
          <a:p>
            <a:pPr indent="0" marL="0">
              <a:lnSpc>
                <a:spcPct val="98000"/>
              </a:lnSpc>
              <a:buNone/>
            </a:pPr>
            <a:r>
              <a:rPr lang="en-US" sz="4200" b="1" dirty="0">
                <a:solidFill>
                  <a:srgbClr val="FFFFFF"/>
                </a:solidFill>
                <a:latin typeface="Calibri" pitchFamily="34" charset="0"/>
                <a:ea typeface="Calibri" pitchFamily="34" charset="-122"/>
                <a:cs typeface="Calibri" pitchFamily="34" charset="-120"/>
              </a:rPr>
              <a:t>Now let's go spend</a:t>
            </a:r>
            <a:endParaRPr lang="en-US" sz="4200" dirty="0"/>
          </a:p>
          <a:p>
            <a:pPr indent="0" marL="0">
              <a:lnSpc>
                <a:spcPct val="98000"/>
              </a:lnSpc>
              <a:buNone/>
            </a:pPr>
            <a:r>
              <a:rPr lang="en-US" sz="4200" b="1" dirty="0">
                <a:solidFill>
                  <a:srgbClr val="FFFFFF"/>
                </a:solidFill>
                <a:latin typeface="Calibri" pitchFamily="34" charset="0"/>
                <a:ea typeface="Calibri" pitchFamily="34" charset="-122"/>
                <a:cs typeface="Calibri" pitchFamily="34" charset="-120"/>
              </a:rPr>
              <a:t>someone else's money.</a:t>
            </a:r>
            <a:endParaRPr lang="en-US" sz="4200" dirty="0"/>
          </a:p>
        </p:txBody>
      </p:sp>
      <p:sp>
        <p:nvSpPr>
          <p:cNvPr id="6" name="Text 4"/>
          <p:cNvSpPr/>
          <p:nvPr/>
        </p:nvSpPr>
        <p:spPr>
          <a:xfrm>
            <a:off x="640080" y="4069080"/>
            <a:ext cx="10058400" cy="457200"/>
          </a:xfrm>
          <a:prstGeom prst="rect">
            <a:avLst/>
          </a:prstGeom>
          <a:noFill/>
          <a:ln/>
        </p:spPr>
        <p:txBody>
          <a:bodyPr wrap="square" rtlCol="0" anchor="ctr"/>
          <a:lstStyle/>
          <a:p>
            <a:pPr indent="0" marL="0">
              <a:buNone/>
            </a:pPr>
            <a:r>
              <a:rPr lang="en-US" sz="1800" dirty="0">
                <a:solidFill>
                  <a:srgbClr val="C7D2DE"/>
                </a:solidFill>
                <a:latin typeface="Calibri" pitchFamily="34" charset="0"/>
                <a:ea typeface="Calibri" pitchFamily="34" charset="-122"/>
                <a:cs typeface="Calibri" pitchFamily="34" charset="-120"/>
              </a:rPr>
              <a:t>Ten-minute break — then the Billing Dashboard and the Pricing Calculator.</a:t>
            </a:r>
            <a:endParaRPr lang="en-US" sz="1800" dirty="0"/>
          </a:p>
        </p:txBody>
      </p:sp>
      <p:sp>
        <p:nvSpPr>
          <p:cNvPr id="7" name="Shape 5"/>
          <p:cNvSpPr/>
          <p:nvPr/>
        </p:nvSpPr>
        <p:spPr>
          <a:xfrm>
            <a:off x="640080" y="4892040"/>
            <a:ext cx="5486400" cy="0"/>
          </a:xfrm>
          <a:prstGeom prst="line">
            <a:avLst/>
          </a:prstGeom>
          <a:noFill/>
          <a:ln w="12700">
            <a:solidFill>
              <a:srgbClr val="44536A"/>
            </a:solidFill>
            <a:prstDash val="solid"/>
          </a:ln>
        </p:spPr>
      </p:sp>
      <p:sp>
        <p:nvSpPr>
          <p:cNvPr id="8" name="Text 6"/>
          <p:cNvSpPr/>
          <p:nvPr/>
        </p:nvSpPr>
        <p:spPr>
          <a:xfrm>
            <a:off x="640080" y="5029200"/>
            <a:ext cx="1051560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Dr. Mycal “Mike” Brown</a:t>
            </a:r>
            <a:pPr indent="0" marL="0">
              <a:buNone/>
            </a:pPr>
            <a:r>
              <a:rPr lang="en-US" sz="1300" dirty="0">
                <a:solidFill>
                  <a:srgbClr val="8A97A6"/>
                </a:solidFill>
                <a:latin typeface="Calibri" pitchFamily="34" charset="0"/>
                <a:ea typeface="Calibri" pitchFamily="34" charset="-122"/>
                <a:cs typeface="Calibri" pitchFamily="34" charset="-120"/>
              </a:rPr>
              <a:t>    ·    AWS Certified Solutions Architect – Associate  ·  Wake Tech</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Wake Technical Community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Mycal 'Mike' Brown</dc:creator>
  <cp:lastModifiedBy>Mycal 'Mike' Brown</cp:lastModifiedBy>
  <cp:revision>1</cp:revision>
  <dcterms:created xsi:type="dcterms:W3CDTF">2026-07-23T16:52:16Z</dcterms:created>
  <dcterms:modified xsi:type="dcterms:W3CDTF">2026-07-23T16:52:16Z</dcterms:modified>
</cp:coreProperties>
</file>