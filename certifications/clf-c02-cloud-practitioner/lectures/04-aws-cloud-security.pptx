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Relationship Id="rId30" Type="http://schemas.openxmlformats.org/officeDocument/2006/relationships/slide" Target="slides/slide1.xml"/><Relationship Id="rId31" Type="http://schemas.openxmlformats.org/officeDocument/2006/relationships/slide" Target="slides/slide2.xml"/><Relationship Id="rId32" Type="http://schemas.openxmlformats.org/officeDocument/2006/relationships/slide" Target="slides/slide3.xml"/><Relationship Id="rId33" Type="http://schemas.openxmlformats.org/officeDocument/2006/relationships/slide" Target="slides/slide4.xml"/><Relationship Id="rId34" Type="http://schemas.openxmlformats.org/officeDocument/2006/relationships/slide" Target="slides/slide5.xml"/><Relationship Id="rId35" Type="http://schemas.openxmlformats.org/officeDocument/2006/relationships/slide" Target="slides/slide6.xml"/><Relationship Id="rId36" Type="http://schemas.openxmlformats.org/officeDocument/2006/relationships/slide" Target="slides/slide7.xml"/><Relationship Id="rId37" Type="http://schemas.openxmlformats.org/officeDocument/2006/relationships/slide" Target="slides/slide8.xml"/><Relationship Id="rId38" Type="http://schemas.openxmlformats.org/officeDocument/2006/relationships/slide" Target="slides/slide9.xml"/><Relationship Id="rId39" Type="http://schemas.openxmlformats.org/officeDocument/2006/relationships/slide" Target="slides/slide10.xml"/><Relationship Id="rId40" Type="http://schemas.openxmlformats.org/officeDocument/2006/relationships/slide" Target="slides/slide11.xml"/><Relationship Id="rId41" Type="http://schemas.openxmlformats.org/officeDocument/2006/relationships/slide" Target="slides/slide12.xml"/><Relationship Id="rId42" Type="http://schemas.openxmlformats.org/officeDocument/2006/relationships/slide" Target="slides/slide13.xml"/><Relationship Id="rId43" Type="http://schemas.openxmlformats.org/officeDocument/2006/relationships/slide" Target="slides/slide14.xml"/><Relationship Id="rId44" Type="http://schemas.openxmlformats.org/officeDocument/2006/relationships/slide" Target="slides/slide15.xml"/><Relationship Id="rId45" Type="http://schemas.openxmlformats.org/officeDocument/2006/relationships/slide" Target="slides/slide16.xml"/><Relationship Id="rId46" Type="http://schemas.openxmlformats.org/officeDocument/2006/relationships/slide" Target="slides/slide17.xml"/><Relationship Id="rId47" Type="http://schemas.openxmlformats.org/officeDocument/2006/relationships/slide" Target="slides/slide18.xml"/><Relationship Id="rId48" Type="http://schemas.openxmlformats.org/officeDocument/2006/relationships/slide" Target="slides/slide19.xml"/><Relationship Id="rId49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280160"/>
            <a:ext cx="4754880" cy="4754880"/>
          </a:xfrm>
          <a:prstGeom prst="ellipse">
            <a:avLst/>
          </a:prstGeom>
          <a:solidFill>
            <a:srgbClr val="FF9900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365760"/>
            <a:ext cx="3108960" cy="3108960"/>
          </a:xfrm>
          <a:prstGeom prst="ellipse">
            <a:avLst/>
          </a:prstGeom>
          <a:solidFill>
            <a:srgbClr val="FF9900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509760" y="1463040"/>
            <a:ext cx="2011680" cy="201168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5" name="Text 3"/>
          <p:cNvSpPr/>
          <p:nvPr/>
        </p:nvSpPr>
        <p:spPr>
          <a:xfrm>
            <a:off x="9509760" y="146304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640080" y="1051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 ·  AWS ACADEMY CLOUD FOUNDATIONS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Cloud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640080" y="3611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4  —  Shared Responsibility, IAM, and the Security Toolkit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40080" y="5074920"/>
            <a:ext cx="5120640" cy="0"/>
          </a:xfrm>
          <a:prstGeom prst="line">
            <a:avLst/>
          </a:prstGeom>
          <a:noFill/>
          <a:ln w="12700">
            <a:solidFill>
              <a:srgbClr val="44536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5212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Mycal “Mike” Brown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5532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and Compliance is 30% of the exam — the single heaviest domain — and it starts with one line.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WE START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of the Day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10908792" cy="1371600"/>
          </a:xfrm>
          <a:prstGeom prst="roundRect">
            <a:avLst>
              <a:gd name="adj" fmla="val 8000"/>
            </a:avLst>
          </a:prstGeom>
          <a:solidFill>
            <a:srgbClr val="232F3E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97280" y="1783080"/>
            <a:ext cx="9994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are AWS’s four Region-selection factors, and which one wins the moment a data-residency law is mentioned?”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97280" y="2331720"/>
            <a:ext cx="9994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EB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ticket in the door. Nobody leaves without being able to answer it.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1546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Lecture 3 left us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0080" y="3611880"/>
            <a:ext cx="348386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640080" y="3611880"/>
            <a:ext cx="137160" cy="1828800"/>
          </a:xfrm>
          <a:prstGeom prst="roundRect">
            <a:avLst>
              <a:gd name="adj" fmla="val 13333"/>
            </a:avLst>
          </a:prstGeom>
          <a:solidFill>
            <a:srgbClr val="1E8FA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005840" y="381304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global map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05840" y="4343400"/>
            <a:ext cx="28437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Regions, AZs, edge locations, Local Zones, Wavelength, Outposts — we found where things run.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352544" y="3611880"/>
            <a:ext cx="348386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4352544" y="3611880"/>
            <a:ext cx="137160" cy="1828800"/>
          </a:xfrm>
          <a:prstGeom prst="roundRect">
            <a:avLst>
              <a:gd name="adj" fmla="val 13333"/>
            </a:avLst>
          </a:prstGeom>
          <a:solidFill>
            <a:srgbClr val="EC7211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4718304" y="381304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service families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718304" y="4343400"/>
            <a:ext cx="28437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Compute, storage, database, networking, security, management — every service sorts into one of six buckets.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065008" y="3611880"/>
            <a:ext cx="348386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8065008" y="3611880"/>
            <a:ext cx="137160" cy="1828800"/>
          </a:xfrm>
          <a:prstGeom prst="roundRect">
            <a:avLst>
              <a:gd name="adj" fmla="val 13333"/>
            </a:avLst>
          </a:prstGeom>
          <a:solidFill>
            <a:srgbClr val="1F8A38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8430768" y="381304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Tonight: who’s allowed to touch what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430768" y="4343400"/>
            <a:ext cx="28437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that we know where things run, tonight is the rules for who can touch them.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4  ·  AWS Cloud Security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TONIGHT'S MISSION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You'll Be Able to Do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session you should be able to…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475488" cy="475488"/>
          </a:xfrm>
          <a:prstGeom prst="ellipse">
            <a:avLst/>
          </a:prstGeom>
          <a:solidFill>
            <a:srgbClr val="EC7211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40080" y="196596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25880" y="1965960"/>
            <a:ext cx="10424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the Shared Responsibility Model and correctly sort a task as AWS’s job or yours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640080" y="2624328"/>
            <a:ext cx="475488" cy="475488"/>
          </a:xfrm>
          <a:prstGeom prst="ellipse">
            <a:avLst/>
          </a:prstGeom>
          <a:solidFill>
            <a:srgbClr val="EC7211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40080" y="262432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25880" y="2624328"/>
            <a:ext cx="10424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how the responsibility line shifts between self-managed and managed services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640080" y="3282696"/>
            <a:ext cx="475488" cy="475488"/>
          </a:xfrm>
          <a:prstGeom prst="ellipse">
            <a:avLst/>
          </a:prstGeom>
          <a:solidFill>
            <a:srgbClr val="EC7211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40080" y="328269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25880" y="3282696"/>
            <a:ext cx="10424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IAM’s building blocks and the principle of least privilege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640080" y="3941064"/>
            <a:ext cx="475488" cy="475488"/>
          </a:xfrm>
          <a:prstGeom prst="ellipse">
            <a:avLst/>
          </a:prstGeom>
          <a:solidFill>
            <a:srgbClr val="1E8FA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40080" y="394106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325880" y="3941064"/>
            <a:ext cx="10424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root account best practices and why MFA matters everywhere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640080" y="4599432"/>
            <a:ext cx="475488" cy="475488"/>
          </a:xfrm>
          <a:prstGeom prst="ellipse">
            <a:avLst/>
          </a:prstGeom>
          <a:solidFill>
            <a:srgbClr val="1E8FA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40080" y="459943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25880" y="4599432"/>
            <a:ext cx="10424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 detection, scanning, defense, and the audit trail — different tools, different jobs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640080" y="5257800"/>
            <a:ext cx="475488" cy="475488"/>
          </a:xfrm>
          <a:prstGeom prst="ellipse">
            <a:avLst/>
          </a:prstGeom>
          <a:solidFill>
            <a:srgbClr val="1E8FA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40080" y="525780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325880" y="5257800"/>
            <a:ext cx="10424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the most common cloud-security traps on the exam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4  ·  AWS Cloud Security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PICTURE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Sides of One Line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EB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ideas. Everything about who’s responsible for what comes down to these.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5257800" cy="1783080"/>
          </a:xfrm>
          <a:prstGeom prst="roundRect">
            <a:avLst>
              <a:gd name="adj" fmla="val 6154"/>
            </a:avLst>
          </a:prstGeom>
          <a:solidFill>
            <a:srgbClr val="2E3E52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960120" y="2423160"/>
            <a:ext cx="548640" cy="548640"/>
          </a:xfrm>
          <a:prstGeom prst="ellipse">
            <a:avLst/>
          </a:prstGeom>
          <a:solidFill>
            <a:srgbClr val="FF9900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960120" y="2423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645920" y="24688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OF the Cloud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005840" y="3108960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5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AWS’s job — physical facilities, hardware, global network, the virtualization layer.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17920" y="2148840"/>
            <a:ext cx="5257800" cy="1783080"/>
          </a:xfrm>
          <a:prstGeom prst="roundRect">
            <a:avLst>
              <a:gd name="adj" fmla="val 6154"/>
            </a:avLst>
          </a:prstGeom>
          <a:solidFill>
            <a:srgbClr val="2E3E52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537960" y="2423160"/>
            <a:ext cx="548640" cy="548640"/>
          </a:xfrm>
          <a:prstGeom prst="ellipse">
            <a:avLst/>
          </a:prstGeom>
          <a:solidFill>
            <a:srgbClr val="FF9900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537960" y="2423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223760" y="24688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IN the Cloud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6583680" y="3108960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5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job — data, IAM, patching where applicable, and firewall/security-group configuration.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40080" y="4114800"/>
            <a:ext cx="5257800" cy="1783080"/>
          </a:xfrm>
          <a:prstGeom prst="roundRect">
            <a:avLst>
              <a:gd name="adj" fmla="val 6154"/>
            </a:avLst>
          </a:prstGeom>
          <a:solidFill>
            <a:srgbClr val="2E3E52"/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960120" y="4389120"/>
            <a:ext cx="548640" cy="548640"/>
          </a:xfrm>
          <a:prstGeom prst="ellipse">
            <a:avLst/>
          </a:prstGeom>
          <a:solidFill>
            <a:srgbClr val="FF9900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960120" y="4389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645920" y="44348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Line Moves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1005840" y="5074920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5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managed a service is changes where AWS’s job ends and yours begins.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217920" y="4114800"/>
            <a:ext cx="5257800" cy="1783080"/>
          </a:xfrm>
          <a:prstGeom prst="roundRect">
            <a:avLst>
              <a:gd name="adj" fmla="val 6154"/>
            </a:avLst>
          </a:prstGeom>
          <a:solidFill>
            <a:srgbClr val="2E3E52"/>
          </a:solidFill>
          <a:ln/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6537960" y="4389120"/>
            <a:ext cx="548640" cy="548640"/>
          </a:xfrm>
          <a:prstGeom prst="ellipse">
            <a:avLst/>
          </a:prstGeom>
          <a:solidFill>
            <a:srgbClr val="FF9900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537960" y="4389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223760" y="44348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Tonight’s Toolkit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6583680" y="5074920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5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IAM, detection, scanning, defense, and the audit trail — for your half of the line.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4  ·  AWS Cloud Security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FOUNDATIONAL IDEA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Shared Responsibility Model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Nearly a third of the exam leans on this one idea — get the line right and most of Domain 2 is recognition, not memorization.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5486400" cy="38404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101600" dist="38100" dir="5400000">
              <a:srgbClr val="C6CDD4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1488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8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024128" y="2651760"/>
            <a:ext cx="237744" cy="237744"/>
          </a:xfrm>
          <a:prstGeom prst="ellipse">
            <a:avLst/>
          </a:prstGeom>
          <a:solidFill>
            <a:srgbClr val="1E8FA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417320" y="260604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is responsible for security OF the cloud — physical facilities, hardware, network, hypervisor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024128" y="3255264"/>
            <a:ext cx="237744" cy="237744"/>
          </a:xfrm>
          <a:prstGeom prst="ellipse">
            <a:avLst/>
          </a:prstGeom>
          <a:solidFill>
            <a:srgbClr val="1E8FA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417320" y="3209544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You’re responsible for security IN the cloud — data, IAM, patching, and configuration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024128" y="3858768"/>
            <a:ext cx="237744" cy="237744"/>
          </a:xfrm>
          <a:prstGeom prst="ellipse">
            <a:avLst/>
          </a:prstGeom>
          <a:solidFill>
            <a:srgbClr val="1E8FA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417320" y="3813048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50/50 split — it’s a line, and the line’s position depends on the service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024128" y="4462272"/>
            <a:ext cx="237744" cy="237744"/>
          </a:xfrm>
          <a:prstGeom prst="ellipse">
            <a:avLst/>
          </a:prstGeom>
          <a:solidFill>
            <a:srgbClr val="1E8FA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1417320" y="4416552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Misconfiguration — a public bucket, an overly permissive policy — is always your side, never AWS’s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024128" y="5065776"/>
            <a:ext cx="237744" cy="237744"/>
          </a:xfrm>
          <a:prstGeom prst="ellipse">
            <a:avLst/>
          </a:prstGeom>
          <a:solidFill>
            <a:srgbClr val="1E8FA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417320" y="5020056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Nearly a third of the entire CLF-C02 exam leans on this one idea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92240" y="1920240"/>
            <a:ext cx="5029200" cy="3840480"/>
          </a:xfrm>
          <a:prstGeom prst="roundRect">
            <a:avLst>
              <a:gd name="adj" fmla="val 2857"/>
            </a:avLst>
          </a:prstGeom>
          <a:solidFill>
            <a:srgbClr val="232F3E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858000" y="214884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58000" y="251460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line moves by service type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6858000" y="3063240"/>
            <a:ext cx="42976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IaaS (EC2) leaves more on you; managed services (RDS, Lambda) shift more of the line to AWS — but IAM, data, and access control never move.</a:t>
            </a:r>
            <a:endParaRPr lang="en-US" sz="1400" dirty="0"/>
          </a:p>
          <a:p>
            <a:pPr indent="0" marL="0">
              <a:lnSpc>
                <a:spcPct val="106000"/>
              </a:lnSpc>
              <a:buNone/>
            </a:pPr>
            <a:endParaRPr lang="en-US" sz="14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this wrong and you’ll assume AWS is protecting something that was actually your job.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4  ·  AWS Cloud Security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3931920" cy="384048"/>
          </a:xfrm>
          <a:prstGeom prst="roundRect">
            <a:avLst>
              <a:gd name="adj" fmla="val 19048"/>
            </a:avLst>
          </a:prstGeom>
          <a:solidFill>
            <a:srgbClr val="B7791F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45720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IMPORTANT SECURITY IDEA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Line Move?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EB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question separates a customer who understands their exposure from one who doesn’t — and it’s simpler than it sounds.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194560"/>
            <a:ext cx="5257800" cy="3566160"/>
          </a:xfrm>
          <a:prstGeom prst="roundRect">
            <a:avLst>
              <a:gd name="adj" fmla="val 3077"/>
            </a:avLst>
          </a:prstGeom>
          <a:solidFill>
            <a:srgbClr val="2E3E52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005840" y="2423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UNMANAGED (EC2)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288036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4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 You patch the OS — skip it, and you’re exposed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342900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4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 You configure the firewall — misconfigure it, it’s on you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05840" y="397764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4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 No safety net if you forget a step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05840" y="461772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i="1" dirty="0">
                <a:solidFill>
                  <a:srgbClr val="AEB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what happens when “managed by AWS” gets assumed for a service that isn’t.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63640" y="2194560"/>
            <a:ext cx="5257800" cy="3566160"/>
          </a:xfrm>
          <a:prstGeom prst="roundRect">
            <a:avLst>
              <a:gd name="adj" fmla="val 3077"/>
            </a:avLst>
          </a:prstGeom>
          <a:solidFill>
            <a:srgbClr val="2E3E52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629400" y="2423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FD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MANAGED-SERVICE SHIFT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629400" y="288036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takes the OS and engine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6629400" y="3209544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RDS, Lambda: AWS patches the database engine and underlying OS for you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629400" y="374904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and data stay yours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6629400" y="4078224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Permissions, credentials, and what’s actually stored are always the customer’s job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629400" y="461772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line doesn’t disappear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6629400" y="4946904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shrinks — moving to managed reduces your footprint, it doesn’t erase it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" y="598932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line moves depending on the service — but IAM, data, and access control never cross to AWS’s side.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4  ·  AWS Cloud Security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WORK VS. RARE WORK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vs. the Root Account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257800" cy="41148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101600" dist="38100" dir="5400000">
              <a:srgbClr val="C6CDD4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05840" y="18745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8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— EVERYDAY WORK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05840" y="23317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daily work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05840" y="2624328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Users, groups, and roles do the actual day-to-day operations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317296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scope it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05840" y="3465576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decide exactly which permissions each user or role actually needs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4014216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least privilege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05840" y="4306824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Narrow, specific policies — not broad access “to be safe”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05840" y="4855464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 more common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05840" y="5148072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 root usage should ever be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63640" y="1645920"/>
            <a:ext cx="5257800" cy="4114800"/>
          </a:xfrm>
          <a:prstGeom prst="roundRect">
            <a:avLst>
              <a:gd name="adj" fmla="val 2667"/>
            </a:avLst>
          </a:prstGeom>
          <a:solidFill>
            <a:srgbClr val="232F3E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629400" y="18745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ACCOUNT — RARE WORK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629400" y="23317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FD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Full, unrestricted power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629400" y="2624328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do literally anything in the account, including closing it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629400" y="317296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Locked away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629400" y="3465576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 enabled, credentials secured, not used day to day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629400" y="4014216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C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Reserved for rare tasks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629400" y="4306824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Changing a support plan, closing an account — not daily logins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629400" y="4855464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C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 fewer uses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629400" y="5148072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 everyday IAM work, by design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4  ·  AWS Cloud Security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PIECES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Building Blocks — 4 Pieces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IAM does is built from four pieces — and it’s a real exam question.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5340096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640080" y="1965960"/>
            <a:ext cx="137160" cy="1965960"/>
          </a:xfrm>
          <a:prstGeom prst="roundRect">
            <a:avLst>
              <a:gd name="adj" fmla="val 13333"/>
            </a:avLst>
          </a:prstGeom>
          <a:solidFill>
            <a:srgbClr val="EC7211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005840" y="2167128"/>
            <a:ext cx="4745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2697480"/>
            <a:ext cx="4700016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 or application that needs to interact with AWS.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08776" y="1965960"/>
            <a:ext cx="5340096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208776" y="1965960"/>
            <a:ext cx="137160" cy="1965960"/>
          </a:xfrm>
          <a:prstGeom prst="roundRect">
            <a:avLst>
              <a:gd name="adj" fmla="val 13333"/>
            </a:avLst>
          </a:prstGeom>
          <a:solidFill>
            <a:srgbClr val="1F8A38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574536" y="2167128"/>
            <a:ext cx="4745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74536" y="2697480"/>
            <a:ext cx="4700016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collection of users that share the same set of permissions.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160520"/>
            <a:ext cx="5340096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640080" y="4160520"/>
            <a:ext cx="137160" cy="1965960"/>
          </a:xfrm>
          <a:prstGeom prst="roundRect">
            <a:avLst>
              <a:gd name="adj" fmla="val 13333"/>
            </a:avLst>
          </a:prstGeom>
          <a:solidFill>
            <a:srgbClr val="1E8FA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1005840" y="4361688"/>
            <a:ext cx="4745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05840" y="4892040"/>
            <a:ext cx="4700016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Temporary permissions that can be assumed — no long-term credentials attached.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08776" y="4160520"/>
            <a:ext cx="5340096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6208776" y="4160520"/>
            <a:ext cx="137160" cy="1965960"/>
          </a:xfrm>
          <a:prstGeom prst="roundRect">
            <a:avLst>
              <a:gd name="adj" fmla="val 13333"/>
            </a:avLst>
          </a:prstGeom>
          <a:solidFill>
            <a:srgbClr val="7A5C9E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574536" y="4361688"/>
            <a:ext cx="4745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Policies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574536" y="4892040"/>
            <a:ext cx="4700016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actual document, written in JSON, that defines what’s allowed or denied.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0080" y="6080760"/>
            <a:ext cx="10908792" cy="914"/>
          </a:xfrm>
          <a:prstGeom prst="roundRect">
            <a:avLst/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40080" y="598932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cue:  least privilege wins whenever a scenario asks how much access something should get — the narrower policy is almost always correct.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4  ·  AWS Cloud Security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3291840" cy="384048"/>
          </a:xfrm>
          <a:prstGeom prst="roundRect">
            <a:avLst>
              <a:gd name="adj" fmla="val 19048"/>
            </a:avLst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45720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AND SCAN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Different Jobs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EB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services that sound similar solve very different problems — and the exam tests whether you can tell them apart.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194560"/>
            <a:ext cx="5257800" cy="1234440"/>
          </a:xfrm>
          <a:prstGeom prst="roundRect">
            <a:avLst>
              <a:gd name="adj" fmla="val 7407"/>
            </a:avLst>
          </a:prstGeom>
          <a:solidFill>
            <a:srgbClr val="2E3E52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00584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GuardDuty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005840" y="2761488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Continuously watches for suspicious or malicious behavior happening right now.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17920" y="2194560"/>
            <a:ext cx="5257800" cy="1234440"/>
          </a:xfrm>
          <a:prstGeom prst="roundRect">
            <a:avLst>
              <a:gd name="adj" fmla="val 7407"/>
            </a:avLst>
          </a:prstGeom>
          <a:solidFill>
            <a:srgbClr val="2E3E52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58368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Inspector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6583680" y="2761488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 EC2 instances and container images for known software vulnerabilities.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3611880"/>
            <a:ext cx="5257800" cy="1234440"/>
          </a:xfrm>
          <a:prstGeom prst="roundRect">
            <a:avLst>
              <a:gd name="adj" fmla="val 7407"/>
            </a:avLst>
          </a:prstGeom>
          <a:solidFill>
            <a:srgbClr val="2E3E52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005840" y="3794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replacement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1005840" y="4178808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and scanning solve different problems — one watches live behavior, the other checks for weaknesses before they’re exploited.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217920" y="3611880"/>
            <a:ext cx="5257800" cy="1234440"/>
          </a:xfrm>
          <a:prstGeom prst="roundRect">
            <a:avLst>
              <a:gd name="adj" fmla="val 7407"/>
            </a:avLst>
          </a:prstGeom>
          <a:solidFill>
            <a:srgbClr val="2E3E52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583680" y="3794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different tenses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6583680" y="4178808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GuardDuty asks “is something bad happening now”; Inspector asks “could something go wrong later.”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40080" y="5120640"/>
            <a:ext cx="10908792" cy="914400"/>
          </a:xfrm>
          <a:prstGeom prst="roundRect">
            <a:avLst>
              <a:gd name="adj" fmla="val 10000"/>
            </a:avLst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1051560" y="5303520"/>
            <a:ext cx="100858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Trap to know:  </a:t>
            </a:r>
            <a:pPr indent="0" marL="0">
              <a:lnSpc>
                <a:spcPct val="103000"/>
              </a:lnSpc>
              <a:buNone/>
            </a:pPr>
            <a:r>
              <a:rPr lang="en-US" sz="1450" dirty="0">
                <a:solidFill>
                  <a:srgbClr val="FFE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GuardDuty, Inspector, and Macie get mixed up constantly — detection, vulnerability scanning, and data scanning are three separate jobs.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4  ·  AWS Cloud Security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WHAT SHOULDN’T BE THERE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Macie — Sensitive Data in S3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Sometimes the risk isn’t a vulnerability or a threat — it’s data sitting somewhere it never should have been stored.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3383280" cy="283464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101600" dist="38100" dir="5400000">
              <a:srgbClr val="C6CDD4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640080" y="1965960"/>
            <a:ext cx="3383280" cy="146304"/>
          </a:xfrm>
          <a:prstGeom prst="roundRect">
            <a:avLst>
              <a:gd name="adj" fmla="val 12500"/>
            </a:avLst>
          </a:prstGeom>
          <a:solidFill>
            <a:srgbClr val="EC7211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960120" y="23317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What It Is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2834640"/>
            <a:ext cx="274320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Machine-learning-powered scanning of Amazon S3 for sensitive data, like personally identifiable information.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343400" y="1965960"/>
            <a:ext cx="3383280" cy="283464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101600" dist="38100" dir="5400000">
              <a:srgbClr val="C6CDD4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343400" y="1965960"/>
            <a:ext cx="3383280" cy="146304"/>
          </a:xfrm>
          <a:prstGeom prst="roundRect">
            <a:avLst>
              <a:gd name="adj" fmla="val 12500"/>
            </a:avLst>
          </a:prstGeom>
          <a:solidFill>
            <a:srgbClr val="1E8FA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663440" y="23317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8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How It Works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663440" y="2834640"/>
            <a:ext cx="274320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 buckets and flags data that looks sensitive, without you writing detection rules by hand.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046720" y="1965960"/>
            <a:ext cx="3383280" cy="283464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101600" dist="38100" dir="5400000">
              <a:srgbClr val="C6CDD4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8046720" y="1965960"/>
            <a:ext cx="3383280" cy="146304"/>
          </a:xfrm>
          <a:prstGeom prst="roundRect">
            <a:avLst>
              <a:gd name="adj" fmla="val 12500"/>
            </a:avLst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366760" y="23317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When You’d Use It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366760" y="2834640"/>
            <a:ext cx="274320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audits, data-classification cleanup, or investigating whether a breach exposed sensitive data.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40080" y="5029200"/>
            <a:ext cx="10908792" cy="914400"/>
          </a:xfrm>
          <a:prstGeom prst="roundRect">
            <a:avLst>
              <a:gd name="adj" fmla="val 10000"/>
            </a:avLst>
          </a:prstGeom>
          <a:solidFill>
            <a:srgbClr val="232F3E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051560" y="5212080"/>
            <a:ext cx="100858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5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exam angle:  </a:t>
            </a:r>
            <a:pPr indent="0" marL="0">
              <a:lnSpc>
                <a:spcPct val="103000"/>
              </a:lnSpc>
              <a:buNone/>
            </a:pPr>
            <a:r>
              <a:rPr lang="en-US" sz="1500" dirty="0">
                <a:solidFill>
                  <a:srgbClr val="D6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Macie is the answer whenever a scenario is specifically about S3 containing data that shouldn’t be there — GuardDuty and Inspector don’t look inside your data the way Macie does.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4  ·  AWS Cloud Security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TOOLKIT, AT A GLANCE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Security Toolkit, at a Glance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jobs we’ve covered tonight, and the tools behind each one. The names matter less than the job each one does.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2035454" cy="2834640"/>
          </a:xfrm>
          <a:prstGeom prst="roundRect">
            <a:avLst>
              <a:gd name="adj" fmla="val 4492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640080" y="2011680"/>
            <a:ext cx="2035454" cy="146304"/>
          </a:xfrm>
          <a:prstGeom prst="roundRect">
            <a:avLst>
              <a:gd name="adj" fmla="val 12500"/>
            </a:avLst>
          </a:prstGeom>
          <a:solidFill>
            <a:srgbClr val="1F8A38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68680" y="2377440"/>
            <a:ext cx="157825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50" b="1" dirty="0">
                <a:solidFill>
                  <a:srgbClr val="1F8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68680" y="3154680"/>
            <a:ext cx="157825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+ MFA — controls who can do what, the foundation everything else builds on.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858414" y="2011680"/>
            <a:ext cx="2035454" cy="2834640"/>
          </a:xfrm>
          <a:prstGeom prst="roundRect">
            <a:avLst>
              <a:gd name="adj" fmla="val 4492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2858414" y="2011680"/>
            <a:ext cx="2035454" cy="146304"/>
          </a:xfrm>
          <a:prstGeom prst="roundRect">
            <a:avLst>
              <a:gd name="adj" fmla="val 12500"/>
            </a:avLst>
          </a:prstGeom>
          <a:solidFill>
            <a:srgbClr val="1E8FA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3087014" y="2377440"/>
            <a:ext cx="157825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50" b="1" dirty="0">
                <a:solidFill>
                  <a:srgbClr val="1E8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3087014" y="3154680"/>
            <a:ext cx="157825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GuardDuty — watches for suspicious behavior happening right now.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76749" y="2011680"/>
            <a:ext cx="2035454" cy="2834640"/>
          </a:xfrm>
          <a:prstGeom prst="roundRect">
            <a:avLst>
              <a:gd name="adj" fmla="val 4492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5076749" y="2011680"/>
            <a:ext cx="2035454" cy="146304"/>
          </a:xfrm>
          <a:prstGeom prst="roundRect">
            <a:avLst>
              <a:gd name="adj" fmla="val 12500"/>
            </a:avLst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305349" y="2377440"/>
            <a:ext cx="157825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Scanning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5305349" y="3154680"/>
            <a:ext cx="157825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Inspector + Macie — catches known vulnerabilities and misplaced sensitive data before they’re a problem.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295083" y="2011680"/>
            <a:ext cx="2035454" cy="2834640"/>
          </a:xfrm>
          <a:prstGeom prst="roundRect">
            <a:avLst>
              <a:gd name="adj" fmla="val 4492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7295083" y="2011680"/>
            <a:ext cx="2035454" cy="146304"/>
          </a:xfrm>
          <a:prstGeom prst="roundRect">
            <a:avLst>
              <a:gd name="adj" fmla="val 12500"/>
            </a:avLst>
          </a:prstGeom>
          <a:solidFill>
            <a:srgbClr val="EC7211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7523683" y="2377440"/>
            <a:ext cx="157825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50" b="1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7523683" y="3154680"/>
            <a:ext cx="157825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WAF + Shield — blocks malicious web traffic and DDoS floods aimed at public-facing apps.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9513418" y="2011680"/>
            <a:ext cx="2035454" cy="2834640"/>
          </a:xfrm>
          <a:prstGeom prst="roundRect">
            <a:avLst>
              <a:gd name="adj" fmla="val 4492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9513418" y="2011680"/>
            <a:ext cx="2035454" cy="146304"/>
          </a:xfrm>
          <a:prstGeom prst="roundRect">
            <a:avLst>
              <a:gd name="adj" fmla="val 12500"/>
            </a:avLst>
          </a:prstGeom>
          <a:solidFill>
            <a:srgbClr val="7A5C9E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9742018" y="2377440"/>
            <a:ext cx="157825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50" b="1" dirty="0">
                <a:solidFill>
                  <a:srgbClr val="7A5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&amp; Trail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9742018" y="3154680"/>
            <a:ext cx="157825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Artifact, KMS, CloudTrail, Config — encrypts data, proves compliance, records who did what and when.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40080" y="507492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232F3E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1051560" y="5257800"/>
            <a:ext cx="100858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6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pattern:  </a:t>
            </a:r>
            <a:pPr indent="0" marL="0">
              <a:buNone/>
            </a:pPr>
            <a:r>
              <a:rPr lang="en-US" sz="15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comes first, then detection and scanning catch problems, then defense and the audit trail close the loop.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4  ·  AWS Cloud Security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BIGGER DECISION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 in Depth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control protects against one kind of failure. It doesn’t protect against that one control being wrong.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525780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1945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LAYER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26974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control, e.g. just IAM</a:t>
            </a:r>
            <a:endParaRPr lang="en-US" sz="17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point of failure</a:t>
            </a:r>
            <a:endParaRPr lang="en-US" sz="17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Simpler to set up, cheaper to run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05840" y="438912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if that one control is misconfigured?”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63640" y="1965960"/>
            <a:ext cx="5257800" cy="3291840"/>
          </a:xfrm>
          <a:prstGeom prst="roundRect">
            <a:avLst>
              <a:gd name="adj" fmla="val 3333"/>
            </a:avLst>
          </a:prstGeom>
          <a:solidFill>
            <a:srgbClr val="232F3E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29400" y="21945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FD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 IN DEPTH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629400" y="26974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D6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+ security groups + WAF + Shield + KMS, stacked</a:t>
            </a:r>
            <a:endParaRPr lang="en-US" sz="16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D6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control is the only thing standing between you and a breach</a:t>
            </a:r>
            <a:endParaRPr lang="en-US" sz="16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D6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misconfigured layer doesn’t mean total exposure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629400" y="438912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FD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“Layered security is a deliberate design choice, not paranoia.”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553212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 in depth is a real design choice, not overkill — most production workloads are well served by stacking a handful of these controls, not relying on just one.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4  ·  AWS Cloud Security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IT TOGETHER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Scenario: Lock Down a Healthcare Startup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healthcare startup stores patient records in S3 and needs to satisfy an auditor. Let’s apply tonight’s toolkit.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5394960" cy="3794760"/>
          </a:xfrm>
          <a:prstGeom prst="roundRect">
            <a:avLst>
              <a:gd name="adj" fmla="val 2892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101600" dist="38100" dir="5400000">
              <a:srgbClr val="C6CDD4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14884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8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SCENARIO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260604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005840" y="2907792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to know immediately if the account is compromised or behaving strangely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338328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protection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1005840" y="3685032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patient records in S3 that must never be publicly exposed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416052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proof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1005840" y="4462272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auditor wants to see AWS’s own HIPAA-eligibility documentation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05840" y="493776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1005840" y="5239512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specific staff should be able to view patient records, nobody else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355080" y="1920240"/>
            <a:ext cx="5166360" cy="3794760"/>
          </a:xfrm>
          <a:prstGeom prst="roundRect">
            <a:avLst>
              <a:gd name="adj" fmla="val 2892"/>
            </a:avLst>
          </a:prstGeom>
          <a:solidFill>
            <a:srgbClr val="232F3E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720840" y="214884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TOOLKIT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720840" y="2560320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GuardDuty + Macie + Artifact + IAM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6720840" y="3474720"/>
            <a:ext cx="44805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different needs, four different tools — detection is GuardDuty, S3 data protection is Macie, compliance proof is Artifact, and scoped access is IAM with least privilege.</a:t>
            </a:r>
            <a:endParaRPr lang="en-US" sz="1400" dirty="0"/>
          </a:p>
          <a:p>
            <a:pPr indent="0" marL="0">
              <a:lnSpc>
                <a:spcPct val="106000"/>
              </a:lnSpc>
              <a:buNone/>
            </a:pPr>
            <a:endParaRPr lang="en-US" sz="14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there’s no single “security service” — real security is always several of these working together, exactly like defense in depth on the last slide.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4  ·  AWS Cloud Security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WE OPEN THE CONSOLE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Preview: Finding Your Security Tools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don’t have to guess where security concepts live in the AWS Console. Here’s where to look tonight.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348386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640080" y="1965960"/>
            <a:ext cx="137160" cy="1828800"/>
          </a:xfrm>
          <a:prstGeom prst="roundRect">
            <a:avLst>
              <a:gd name="adj" fmla="val 13333"/>
            </a:avLst>
          </a:prstGeom>
          <a:solidFill>
            <a:srgbClr val="EC7211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005840" y="216712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console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2697480"/>
            <a:ext cx="28437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own dedicated console — where you create users, groups, roles, and policies.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52544" y="1965960"/>
            <a:ext cx="348386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352544" y="1965960"/>
            <a:ext cx="137160" cy="1828800"/>
          </a:xfrm>
          <a:prstGeom prst="roundRect">
            <a:avLst>
              <a:gd name="adj" fmla="val 13333"/>
            </a:avLst>
          </a:prstGeom>
          <a:solidFill>
            <a:srgbClr val="1F8A38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718304" y="216712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account settings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718304" y="2697480"/>
            <a:ext cx="28437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Account, top-right menu — this is where you enable MFA on root.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065008" y="1965960"/>
            <a:ext cx="348386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8065008" y="1965960"/>
            <a:ext cx="137160" cy="1828800"/>
          </a:xfrm>
          <a:prstGeom prst="roundRect">
            <a:avLst>
              <a:gd name="adj" fmla="val 13333"/>
            </a:avLst>
          </a:prstGeom>
          <a:solidFill>
            <a:srgbClr val="1E8FA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430768" y="216712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GuardDuty / Inspector / Macie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430768" y="2697480"/>
            <a:ext cx="28437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has its own console, reachable from the security services section.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4023360"/>
            <a:ext cx="348386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640080" y="4023360"/>
            <a:ext cx="137160" cy="1828800"/>
          </a:xfrm>
          <a:prstGeom prst="roundRect">
            <a:avLst>
              <a:gd name="adj" fmla="val 13333"/>
            </a:avLst>
          </a:prstGeom>
          <a:solidFill>
            <a:srgbClr val="7A5C9E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1005840" y="422452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WAF &amp; Shield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05840" y="4754880"/>
            <a:ext cx="28437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Configured from the WAF console, often attached to CloudFront or a load balancer.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352544" y="4023360"/>
            <a:ext cx="348386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4352544" y="4023360"/>
            <a:ext cx="137160" cy="1828800"/>
          </a:xfrm>
          <a:prstGeom prst="roundRect">
            <a:avLst>
              <a:gd name="adj" fmla="val 13333"/>
            </a:avLst>
          </a:prstGeom>
          <a:solidFill>
            <a:srgbClr val="4B6584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4718304" y="422452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718304" y="4754880"/>
            <a:ext cx="28437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own console — where you create and manage encryption keys.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065008" y="4023360"/>
            <a:ext cx="348386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8065008" y="4023360"/>
            <a:ext cx="137160" cy="1828800"/>
          </a:xfrm>
          <a:prstGeom prst="roundRect">
            <a:avLst>
              <a:gd name="adj" fmla="val 13333"/>
            </a:avLst>
          </a:prstGeom>
          <a:solidFill>
            <a:srgbClr val="B7791F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8430768" y="422452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CloudTrail &amp; Config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430768" y="4754880"/>
            <a:ext cx="28437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consoles — CloudTrail for the event history, Config for configuration timelines.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0080" y="594360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cue:  the exam won’t quiz you on console navigation directly, but knowing where a concept “lives” helps you recognize what a scenario is actually describing.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4  ·  AWS Cloud Security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SHORTCUT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These Questions, in Order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questions resolve almost every AWS security scenario on the exam — this is worth writing down.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348386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640080" y="1965960"/>
            <a:ext cx="137160" cy="1828800"/>
          </a:xfrm>
          <a:prstGeom prst="roundRect">
            <a:avLst>
              <a:gd name="adj" fmla="val 13333"/>
            </a:avLst>
          </a:prstGeom>
          <a:solidFill>
            <a:srgbClr val="1E8FA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005840" y="216712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can access it?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2697480"/>
            <a:ext cx="28437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— the starting question for almost every access scenario.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52544" y="1965960"/>
            <a:ext cx="348386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352544" y="1965960"/>
            <a:ext cx="137160" cy="1828800"/>
          </a:xfrm>
          <a:prstGeom prst="roundRect">
            <a:avLst>
              <a:gd name="adj" fmla="val 13333"/>
            </a:avLst>
          </a:prstGeom>
          <a:solidFill>
            <a:srgbClr val="1F8A38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718304" y="216712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Detecting behavior now?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718304" y="2697480"/>
            <a:ext cx="28437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GuardDuty — continuous, automated threat detection.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065008" y="1965960"/>
            <a:ext cx="348386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8065008" y="1965960"/>
            <a:ext cx="137160" cy="1828800"/>
          </a:xfrm>
          <a:prstGeom prst="roundRect">
            <a:avLst>
              <a:gd name="adj" fmla="val 13333"/>
            </a:avLst>
          </a:prstGeom>
          <a:solidFill>
            <a:srgbClr val="EC7211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430768" y="216712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Scanning before something goes wrong?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430768" y="2697480"/>
            <a:ext cx="28437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Inspector for compute, Macie for sensitive data in S3.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4023360"/>
            <a:ext cx="348386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640080" y="4023360"/>
            <a:ext cx="137160" cy="1828800"/>
          </a:xfrm>
          <a:prstGeom prst="roundRect">
            <a:avLst>
              <a:gd name="adj" fmla="val 13333"/>
            </a:avLst>
          </a:prstGeom>
          <a:solidFill>
            <a:srgbClr val="7A5C9E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1005840" y="422452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Blocking an attack?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05840" y="4754880"/>
            <a:ext cx="28437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WAF for malicious requests, Shield for DDoS floods.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352544" y="4023360"/>
            <a:ext cx="348386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4352544" y="4023360"/>
            <a:ext cx="137160" cy="1828800"/>
          </a:xfrm>
          <a:prstGeom prst="roundRect">
            <a:avLst>
              <a:gd name="adj" fmla="val 13333"/>
            </a:avLst>
          </a:prstGeom>
          <a:solidFill>
            <a:srgbClr val="4B6584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4718304" y="422452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Proving compliance externally?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718304" y="4754880"/>
            <a:ext cx="28437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Artifact — on-demand compliance reports.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065008" y="4023360"/>
            <a:ext cx="348386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8065008" y="4023360"/>
            <a:ext cx="137160" cy="1828800"/>
          </a:xfrm>
          <a:prstGeom prst="roundRect">
            <a:avLst>
              <a:gd name="adj" fmla="val 13333"/>
            </a:avLst>
          </a:prstGeom>
          <a:solidFill>
            <a:srgbClr val="B7791F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8430768" y="422452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Encrypting or auditing?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430768" y="4754880"/>
            <a:ext cx="28437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KMS for keys; CloudTrail and Config for the historical record.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0080" y="594360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pattern:  work through these six questions in order, and almost every AWS security scenario resolves cleanly.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4  ·  AWS Cloud Security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THESE FOR THE EXAM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Security Tools, Side by Side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tools, plus the audit trail. The exam gives you a scenario and asks which tool fits — match the verb to the tool.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10908792" cy="576072"/>
          </a:xfrm>
          <a:prstGeom prst="rect">
            <a:avLst/>
          </a:prstGeom>
          <a:solidFill>
            <a:srgbClr val="232F3E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04672" y="1920240"/>
            <a:ext cx="257860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39312" y="1920240"/>
            <a:ext cx="331012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205472" y="1920240"/>
            <a:ext cx="239572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9857232" y="1920240"/>
            <a:ext cx="160020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/ Controls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2496312"/>
            <a:ext cx="10908792" cy="5760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04672" y="2496312"/>
            <a:ext cx="257860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39312" y="2496312"/>
            <a:ext cx="331012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who can do what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7205472" y="2496312"/>
            <a:ext cx="239572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9857232" y="2496312"/>
            <a:ext cx="160020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to every AWS resource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40080" y="3072384"/>
            <a:ext cx="10908792" cy="576072"/>
          </a:xfrm>
          <a:prstGeom prst="rect">
            <a:avLst/>
          </a:prstGeom>
          <a:solidFill>
            <a:srgbClr val="EDF1F4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04672" y="3072384"/>
            <a:ext cx="257860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GuardDuty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639312" y="3072384"/>
            <a:ext cx="331012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suspicious behavior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205472" y="3072384"/>
            <a:ext cx="239572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9857232" y="3072384"/>
            <a:ext cx="160020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Compromised credentials, unusual API calls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40080" y="3648456"/>
            <a:ext cx="10908792" cy="5760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804672" y="3648456"/>
            <a:ext cx="257860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Inspector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639312" y="3648456"/>
            <a:ext cx="331012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 for known vulnerabilities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205472" y="3648456"/>
            <a:ext cx="239572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Scanning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9857232" y="3648456"/>
            <a:ext cx="160020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 instances, container images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40080" y="4224528"/>
            <a:ext cx="10908792" cy="576072"/>
          </a:xfrm>
          <a:prstGeom prst="rect">
            <a:avLst/>
          </a:prstGeom>
          <a:solidFill>
            <a:srgbClr val="EDF1F4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804672" y="4224528"/>
            <a:ext cx="257860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Macie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639312" y="4224528"/>
            <a:ext cx="331012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 for sensitive data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7205472" y="4224528"/>
            <a:ext cx="239572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Scanning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9857232" y="4224528"/>
            <a:ext cx="160020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and sensitive data in S3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640080" y="4800600"/>
            <a:ext cx="10908792" cy="5760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804672" y="4800600"/>
            <a:ext cx="257860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WAF / Shield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639312" y="4800600"/>
            <a:ext cx="331012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malicious traffic and DDoS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7205472" y="4800600"/>
            <a:ext cx="239572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9857232" y="4800600"/>
            <a:ext cx="160020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Public-facing web applications</a:t>
            </a:r>
            <a:endParaRPr lang="en-US" sz="1350" dirty="0"/>
          </a:p>
        </p:txBody>
      </p:sp>
      <p:sp>
        <p:nvSpPr>
          <p:cNvPr id="35" name="Shape 33"/>
          <p:cNvSpPr/>
          <p:nvPr/>
        </p:nvSpPr>
        <p:spPr>
          <a:xfrm>
            <a:off x="640080" y="1920240"/>
            <a:ext cx="10908792" cy="3456432"/>
          </a:xfrm>
          <a:prstGeom prst="rect">
            <a:avLst/>
          </a:prstGeom>
          <a:ln w="12700">
            <a:solidFill>
              <a:srgbClr val="DCE1E6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640080" y="562356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 if a scenario names a specific kind of watching, scanning, or blocking, match the verb to the tool — precise matching beats general security vocabulary.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4  ·  AWS Cloud Security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SIT THE EXAM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Security: The Traps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483864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640080" y="1691640"/>
            <a:ext cx="137160" cy="2194560"/>
          </a:xfrm>
          <a:prstGeom prst="roundRect">
            <a:avLst>
              <a:gd name="adj" fmla="val 13333"/>
            </a:avLst>
          </a:prstGeom>
          <a:solidFill>
            <a:srgbClr val="EC7211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189280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“Who patches the OS on a self-managed EC2 instance?”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2423160"/>
            <a:ext cx="284378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do. AWS patches the hypervisor underneath, not your guest OS.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52544" y="1691640"/>
            <a:ext cx="3483864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4352544" y="1691640"/>
            <a:ext cx="137160" cy="2194560"/>
          </a:xfrm>
          <a:prstGeom prst="roundRect">
            <a:avLst>
              <a:gd name="adj" fmla="val 13333"/>
            </a:avLst>
          </a:prstGeom>
          <a:solidFill>
            <a:srgbClr val="1F8A38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718304" y="189280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“Fastest way to know if credentials are compromised?”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718304" y="2423160"/>
            <a:ext cx="284378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GuardDuty — not Inspector, which scans for vulnerabilities, not live behavior.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065008" y="1691640"/>
            <a:ext cx="3483864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8065008" y="1691640"/>
            <a:ext cx="137160" cy="2194560"/>
          </a:xfrm>
          <a:prstGeom prst="roundRect">
            <a:avLst>
              <a:gd name="adj" fmla="val 13333"/>
            </a:avLst>
          </a:prstGeom>
          <a:solidFill>
            <a:srgbClr val="7A5C9E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430768" y="189280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 law says data must stay in-country — what do you check?”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430768" y="2423160"/>
            <a:ext cx="284378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 selection and compliance, not encryption settings (callback to Lecture 3).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4114800"/>
            <a:ext cx="3483864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640080" y="4114800"/>
            <a:ext cx="137160" cy="2194560"/>
          </a:xfrm>
          <a:prstGeom prst="roundRect">
            <a:avLst>
              <a:gd name="adj" fmla="val 13333"/>
            </a:avLst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005840" y="431596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“How should root credentials be used day to day?”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05840" y="4846320"/>
            <a:ext cx="284378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shouldn’t be — lock root away with MFA, use IAM for daily work.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352544" y="4114800"/>
            <a:ext cx="3483864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4352544" y="4114800"/>
            <a:ext cx="137160" cy="2194560"/>
          </a:xfrm>
          <a:prstGeom prst="roundRect">
            <a:avLst>
              <a:gd name="adj" fmla="val 13333"/>
            </a:avLst>
          </a:prstGeom>
          <a:solidFill>
            <a:srgbClr val="1E8FA5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4718304" y="431596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“Who’s responsible for a misconfigured security group?”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718304" y="4846320"/>
            <a:ext cx="284378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the customer — never AWS, no matter how the scenario is framed.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065008" y="4114800"/>
            <a:ext cx="3483864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8065008" y="4114800"/>
            <a:ext cx="137160" cy="2194560"/>
          </a:xfrm>
          <a:prstGeom prst="roundRect">
            <a:avLst>
              <a:gd name="adj" fmla="val 13333"/>
            </a:avLst>
          </a:prstGeom>
          <a:solidFill>
            <a:srgbClr val="4B6584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8430768" y="431596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“Restrict what an entire account can do, regardless of IAM policies?”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430768" y="4846320"/>
            <a:ext cx="284378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Service Control Policy in AWS Organizations (callback to Lecture 2).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4  ·  AWS Cloud Security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THE BREAK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Tonight’s Hands-On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908792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914400" y="1892808"/>
            <a:ext cx="548640" cy="548640"/>
          </a:xfrm>
          <a:prstGeom prst="ellipse">
            <a:avLst/>
          </a:prstGeom>
          <a:solidFill>
            <a:srgbClr val="1E8FA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914400" y="189280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691640" y="1837944"/>
            <a:ext cx="95371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Responsibility Sort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1691640" y="2212848"/>
            <a:ext cx="9445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a list of tasks into AWS’s job or yours — and see how the line moves for a managed service.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2788920"/>
            <a:ext cx="10908792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914400" y="2990088"/>
            <a:ext cx="548640" cy="548640"/>
          </a:xfrm>
          <a:prstGeom prst="ellipse">
            <a:avLst/>
          </a:prstGeom>
          <a:solidFill>
            <a:srgbClr val="EC7211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914400" y="299008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691640" y="2935224"/>
            <a:ext cx="95371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Tool Hunt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1691640" y="3310128"/>
            <a:ext cx="9445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teams: given a scenario, find and defend the right security service.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3886200"/>
            <a:ext cx="10908792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914400" y="4087368"/>
            <a:ext cx="548640" cy="548640"/>
          </a:xfrm>
          <a:prstGeom prst="ellipse">
            <a:avLst/>
          </a:prstGeom>
          <a:solidFill>
            <a:srgbClr val="1F8A38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914400" y="408736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691640" y="4032504"/>
            <a:ext cx="95371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account check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1691640" y="4407408"/>
            <a:ext cx="9445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have a personal AWS account, we’ll confirm MFA is enabled on root live.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0080" y="4983480"/>
            <a:ext cx="10908792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914400" y="5184648"/>
            <a:ext cx="548640" cy="548640"/>
          </a:xfrm>
          <a:prstGeom prst="ellipse">
            <a:avLst/>
          </a:prstGeom>
          <a:solidFill>
            <a:srgbClr val="7A5C9E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914400" y="518464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691640" y="5129784"/>
            <a:ext cx="95371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Academy Module 4</a:t>
            </a:r>
            <a:endParaRPr lang="en-US" sz="1750" dirty="0"/>
          </a:p>
        </p:txBody>
      </p:sp>
      <p:sp>
        <p:nvSpPr>
          <p:cNvPr id="23" name="Text 21"/>
          <p:cNvSpPr/>
          <p:nvPr/>
        </p:nvSpPr>
        <p:spPr>
          <a:xfrm>
            <a:off x="1691640" y="5504688"/>
            <a:ext cx="9445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online module content and the knowledge check.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4  ·  AWS Cloud Security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NEXT CLASS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Assignment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960120" y="2029968"/>
            <a:ext cx="566928" cy="566928"/>
          </a:xfrm>
          <a:prstGeom prst="ellipse">
            <a:avLst/>
          </a:prstGeom>
          <a:solidFill>
            <a:srgbClr val="EC7211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960120" y="202996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783080" y="1920240"/>
            <a:ext cx="94457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 AWS Academy Module 4 + knowledge check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783080" y="2322576"/>
            <a:ext cx="93543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Including the shared responsibility and IAM sections. Aim for 80%+ on the first attempt.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306324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960120" y="3355848"/>
            <a:ext cx="566928" cy="566928"/>
          </a:xfrm>
          <a:prstGeom prst="ellipse">
            <a:avLst/>
          </a:prstGeom>
          <a:solidFill>
            <a:srgbClr val="1E8FA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960120" y="33558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783080" y="3246120"/>
            <a:ext cx="94457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MFA on root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783080" y="3648456"/>
            <a:ext cx="93543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have a personal AWS account, confirm MFA is enabled on your root user — screenshot it.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438912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960120" y="4681728"/>
            <a:ext cx="566928" cy="566928"/>
          </a:xfrm>
          <a:prstGeom prst="ellipse">
            <a:avLst/>
          </a:prstGeom>
          <a:solidFill>
            <a:srgbClr val="1F8A38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960120" y="468172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783080" y="4572000"/>
            <a:ext cx="94457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security service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783080" y="4974336"/>
            <a:ext cx="93543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tonight’s toolkit, explain what it does in your own words, no notes.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" y="580644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week:  Networking and Content Delivery — VPCs, subnets, and how traffic actually moves.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4  ·  AWS Cloud Security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3474720"/>
            <a:ext cx="4754880" cy="4754880"/>
          </a:xfrm>
          <a:prstGeom prst="ellipse">
            <a:avLst/>
          </a:prstGeom>
          <a:solidFill>
            <a:srgbClr val="FF9900">
              <a:alpha val="1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-1280160"/>
            <a:ext cx="4023360" cy="4023360"/>
          </a:xfrm>
          <a:prstGeom prst="ellipse">
            <a:avLst/>
          </a:prstGeom>
          <a:solidFill>
            <a:srgbClr val="FF9900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9659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2423160"/>
            <a:ext cx="10058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let’s go</a:t>
            </a:r>
            <a:endParaRPr lang="en-US" sz="42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this down.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640080" y="40690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Ten-minute break — then the Shared Responsibility sort and the security tool hunt.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4892040"/>
            <a:ext cx="5486400" cy="0"/>
          </a:xfrm>
          <a:prstGeom prst="line">
            <a:avLst/>
          </a:prstGeom>
          <a:noFill/>
          <a:ln w="12700">
            <a:solidFill>
              <a:srgbClr val="44536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50292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Mycal “Mike” Brown</a:t>
            </a:r>
            <a:pPr indent="0" marL="0">
              <a:buNone/>
            </a:pPr>
            <a:r>
              <a:rPr lang="en-US" sz="1300" dirty="0">
                <a:solidFill>
                  <a:srgbClr val="8A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·    AWS Certified Solutions Architect – Associate  ·  Wake Tech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Wake Technical Community College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Mycal 'Mike' Brown</dc:creator>
  <cp:lastModifiedBy>Mycal 'Mike' Brown</cp:lastModifiedBy>
  <cp:revision>1</cp:revision>
  <dcterms:created xsi:type="dcterms:W3CDTF">2026-07-23T16:52:16Z</dcterms:created>
  <dcterms:modified xsi:type="dcterms:W3CDTF">2026-07-23T16:52:16Z</dcterms:modified>
</cp:coreProperties>
</file>