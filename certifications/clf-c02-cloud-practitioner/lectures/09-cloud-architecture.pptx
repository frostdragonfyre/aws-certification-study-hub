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1.xml"/><Relationship Id="rId31" Type="http://schemas.openxmlformats.org/officeDocument/2006/relationships/slide" Target="slides/slide2.xml"/><Relationship Id="rId32" Type="http://schemas.openxmlformats.org/officeDocument/2006/relationships/slide" Target="slides/slide3.xml"/><Relationship Id="rId33" Type="http://schemas.openxmlformats.org/officeDocument/2006/relationships/slide" Target="slides/slide4.xml"/><Relationship Id="rId34" Type="http://schemas.openxmlformats.org/officeDocument/2006/relationships/slide" Target="slides/slide5.xml"/><Relationship Id="rId35" Type="http://schemas.openxmlformats.org/officeDocument/2006/relationships/slide" Target="slides/slide6.xml"/><Relationship Id="rId36" Type="http://schemas.openxmlformats.org/officeDocument/2006/relationships/slide" Target="slides/slide7.xml"/><Relationship Id="rId37" Type="http://schemas.openxmlformats.org/officeDocument/2006/relationships/slide" Target="slides/slide8.xml"/><Relationship Id="rId38" Type="http://schemas.openxmlformats.org/officeDocument/2006/relationships/slide" Target="slides/slide9.xml"/><Relationship Id="rId39" Type="http://schemas.openxmlformats.org/officeDocument/2006/relationships/slide" Target="slides/slide10.xml"/><Relationship Id="rId40" Type="http://schemas.openxmlformats.org/officeDocument/2006/relationships/slide" Target="slides/slide11.xml"/><Relationship Id="rId41" Type="http://schemas.openxmlformats.org/officeDocument/2006/relationships/slide" Target="slides/slide12.xml"/><Relationship Id="rId42" Type="http://schemas.openxmlformats.org/officeDocument/2006/relationships/slide" Target="slides/slide13.xml"/><Relationship Id="rId43" Type="http://schemas.openxmlformats.org/officeDocument/2006/relationships/slide" Target="slides/slide14.xml"/><Relationship Id="rId44" Type="http://schemas.openxmlformats.org/officeDocument/2006/relationships/slide" Target="slides/slide15.xml"/><Relationship Id="rId45" Type="http://schemas.openxmlformats.org/officeDocument/2006/relationships/slide" Target="slides/slide16.xml"/><Relationship Id="rId46" Type="http://schemas.openxmlformats.org/officeDocument/2006/relationships/slide" Target="slides/slide17.xml"/><Relationship Id="rId47" Type="http://schemas.openxmlformats.org/officeDocument/2006/relationships/slide" Target="slides/slide18.xml"/><Relationship Id="rId48" Type="http://schemas.openxmlformats.org/officeDocument/2006/relationships/slide" Target="slides/slide19.xml"/><Relationship Id="rId49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FF9900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058400" y="365760"/>
            <a:ext cx="3108960" cy="3108960"/>
          </a:xfrm>
          <a:prstGeom prst="ellipse">
            <a:avLst/>
          </a:prstGeom>
          <a:solidFill>
            <a:srgbClr val="FF9900">
              <a:alpha val="3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509760" y="1463040"/>
            <a:ext cx="2011680" cy="201168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509760" y="146304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 ·  AWS ACADEMY CLOUD FOUNDATIONS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Architecting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9  —  The Well-Architected Framework, Reliability, and Trusted Advisor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5074920"/>
            <a:ext cx="5120640" cy="0"/>
          </a:xfrm>
          <a:prstGeom prst="line">
            <a:avLst/>
          </a:prstGeom>
          <a:noFill/>
          <a:ln w="12700">
            <a:solidFill>
              <a:srgbClr val="44536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5212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 Dr. Mycal “Mike” Brown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5532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1 comes back — this time it's how all the pieces from Modules 1-8 actually get assembled into something that holds up.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of the 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08792" cy="1371600"/>
          </a:xfrm>
          <a:prstGeom prst="roundRect">
            <a:avLst>
              <a:gd name="adj" fmla="val 8000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97280" y="1783080"/>
            <a:ext cx="9994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the one-sentence difference between OLTP and OLAP, and which AWS service is built for each?”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2331720"/>
            <a:ext cx="9994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ticket in the door. Nobody leaves without being able to answer it.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154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Lecture 8 left us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61188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0080" y="361188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05840" y="381304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vs. NoSQL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434340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RDS/Aurora for structured data, DynamoDB for flexible, massive-scale data.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52544" y="361188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352544" y="361188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718304" y="381304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vs. analytical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18304" y="434340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operations vs. Redshift's big historical queries.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65008" y="361188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065008" y="361188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430768" y="381304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Tonight: how it all gets assembled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30768" y="434340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 from Modules 1-8 is a piece — tonight is how good architects put the pieces together.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9  ·  Cloud Architecture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TONIGHT'S 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Be Able to 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 you should be able to…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475488" cy="47548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9659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965960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AWS Well-Architected Framework, including its six pillars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475488" cy="47548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6243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2624328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Framework's general design principles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3282696"/>
            <a:ext cx="475488" cy="47548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32826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3282696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importance of reliability and high availability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3941064"/>
            <a:ext cx="475488" cy="47548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39410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3941064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how AWS Trusted Advisor helps customers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40080" y="4599432"/>
            <a:ext cx="475488" cy="47548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080" y="45994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4599432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AWS Trusted Advisor recommendations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40080" y="5257800"/>
            <a:ext cx="475488" cy="47548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" y="52578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5257800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 most common cloud architecture traps on the exam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9  ·  Cloud Architecture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Framework, Deep Dive, Tool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ideas. Everything about how good architecture actually gets built comes down to these.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60120" y="242316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05840" y="31089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pillars, a consistent way to evaluate any cloud architecture.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214884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537960" y="242316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3796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2376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583680" y="31089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 that apply across all six pillars, not a seventh category.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60120" y="438912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6012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45920" y="4434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Reliability, In Practice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005840" y="50749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 built from patterns already covered — Multi-AZ, Auto Scaling.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17920" y="411480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537960" y="438912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53796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23760" y="4434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Advisor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583680" y="50749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that automatically checks a real account against several pillars at once.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9  ·  Cloud Architecture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FOUNDATIONAL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AWS Well-Architected Framework?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product — a way of thinking, built from reviewing thousands of real customer architectures.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4864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148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24128" y="2651760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417320" y="26060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 for designing infrastructures that are secure, high-performing, resilient, and efficient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24128" y="3255264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417320" y="320954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 approach to evaluating and implementing cloud architectures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24128" y="3858768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417320" y="38130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best practices developed through lessons learned reviewing real customer architectures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24128" y="4462272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417320" y="44165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foundational questions you can ask about any workload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24128" y="5065776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17320" y="502005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checklist of specific services — a way of thinking about trade-offs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92240" y="1920240"/>
            <a:ext cx="5029200" cy="3840480"/>
          </a:xfrm>
          <a:prstGeom prst="roundRect">
            <a:avLst>
              <a:gd name="adj" fmla="val 2857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58000" y="21488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25146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architecture makes trade-offs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858000" y="3063240"/>
            <a:ext cx="42976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redundancy costs more; tighter security can add friction — the Framework makes those trade-offs deliberate.</a:t>
            </a: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exam expects you to know the six pillars exist, not to rank them against each other.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9  ·  Cloud Architecture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931920" cy="384048"/>
          </a:xfrm>
          <a:prstGeom prst="roundRect">
            <a:avLst>
              <a:gd name="adj" fmla="val 19048"/>
            </a:avLst>
          </a:prstGeom>
          <a:solidFill>
            <a:srgbClr val="B7791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572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ARCHITECTURE IDEA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Pillars vs. Design Principles — Not the Same Thing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mix-up trips up more students than any other single detail in this module — and it's simpler than it sounds once you see the pattern.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PILLARS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880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Categories — WHAT a well-architected system needs to be good at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429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Operational Excellence, Security, Reliability, Performance Efficiency, Cost Optimization, Sustainability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977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Every real workload makes trade-offs between them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46177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what the six pillars are for — organizing WHAT good architecture covers.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219456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62940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PRINCIPLES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28803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 — HOW to design well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629400" y="320954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guessing capacity, test at production scale, automate, allow evolution, drive with data, improve through game days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29400" y="37490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apply across every pillar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629400" y="40782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game day tests reliability, security, AND performance all at once — not one pillar in isolation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46177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seventh pillar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629400" y="494690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a different kind of list entirely — process habits, not outcome categories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Pillars are WHAT to aim for; design principles are HOW you get there — a question asking for one should never be answered with the other.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9  ·  Cloud Architecture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SCOPES OF PROTECTION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 vs. Disaster Recovery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Minimizes downtime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6243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 system operational as close to 100% of the time as possible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1729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common failures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46557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instance or a single Availability Zone going down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40142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familiar patterns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43068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Multi-AZ, Auto Scaling, Elastic Load Balancing — all already covered in this course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48554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good habit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51480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every production workload should have this, by default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164592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2940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RECOVERY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2940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rare, large-scale events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29400" y="26243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entire Region becoming unavailable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31729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deliberate, separate decision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29400" y="346557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design — more expensive, reserved for workloads that truly can't tolerate a Region-level event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9400" y="40142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automatic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29400" y="43068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Multi-AZ, this doesn't happen by default just because you used AWS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29400" y="48554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step up from HA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29400" y="51480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solves the common case; DR solves the rare, catastrophic one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9  ·  Cloud Architecture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PIECES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Reliability — 4 Pieces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module is built from four pieces — and it's a real exam question.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16712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Availability Zones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spread resources so one data-center failure doesn't take down the app.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08776" y="196596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208776" y="196596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74536" y="216712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 Databases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74536" y="269748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a synchronous standby with automatic failover.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0080" y="416052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05840" y="436168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489204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— capacity that grows and shrinks to match demand.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08776" y="416052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208776" y="416052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74536" y="436168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Load Balancing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74536" y="489204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— traffic routes around unhealthy resources automatically.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6080760"/>
            <a:ext cx="10908792" cy="914"/>
          </a:xfrm>
          <a:prstGeom prst="round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cue:  high availability isn't one service — it's several familiar patterns from earlier modules, stacked together deliberately.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9  ·  Cloud Architecture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572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VS. FULL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Advisor: Core Checks vs. Full Checks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tool behaves differently depending on your support plan — a direct callback to Module 2.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CHECKS — EVERY ACCOUNT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05840" y="276148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limited set of checks available for free, on any support plan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219456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8368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CHECKS — BUSINESS/ENTERPRISE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583680" y="276148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categories, in full depth, require a Business or Enterprise support plan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584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five categories either way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05840" y="417880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Optimization, Performance, Security, Fault Tolerance, Service Limits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17920" y="361188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58368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support plan decides depth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583680" y="417880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whether Trusted Advisor exists for you, but how much of it you can see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512064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51560" y="530352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 to know:  every account gets Trusted Advisor's core checks for free — full checks specifically require Business or Enterprise, the same tiers introduced in Module 2.</a:t>
            </a:r>
            <a:pPr indent="0" marL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F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9  ·  Cloud Architecture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BEST-PRACTICE CHECKS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Trusted Advisor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that checks a real account against several Well-Architected pillars at once, automatically.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3383280" cy="146304"/>
          </a:xfrm>
          <a:prstGeom prst="roundRect">
            <a:avLst>
              <a:gd name="adj" fmla="val 12500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331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What It 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834640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online tool providing real-time guidance to help you provision resources following AWS best practices.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43400" y="1965960"/>
            <a:ext cx="3383280" cy="146304"/>
          </a:xfrm>
          <a:prstGeom prst="roundRect">
            <a:avLst>
              <a:gd name="adj" fmla="val 12500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63440" y="2331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How It Works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2834640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Inspects your account and makes recommendations across five categories, automatically, without you running a manual audit.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46720" y="196596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383280" cy="146304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366760" y="2331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When You'd Use It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66760" y="2834640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for idle resources wasting money, security gaps like an open security group, or a database missing Multi-AZ — all from one place.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02920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51560" y="521208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exam angle:  a scenario describing ONE tool that spans cost, performance, security, fault tolerance, AND service limits is Trusted Advisor — not five separate services.</a:t>
            </a:r>
            <a:pPr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9  ·  Cloud Architecture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TOOLKIT,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Toolkit,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 we've covered tonight, and what each one does. The names matter less than the job each one does.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F8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six pillars live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Well-Architected Framework — Operational Excellence, Security, Reliability, Performance Efficiency, Cost Optimization, Sustainability.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858414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858414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087014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design habits live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087014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design principles — stop guessing capacity, automate, drive with data, and more.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76749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076749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05349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reliability gets built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305349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Multi-AZ, Auto Scaling, and Elastic Load Balancing, stacked together.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295083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295083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523683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automated best-practice checks live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523683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Trusted Advisor — five categories, one tool.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513418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513418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742018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7A5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support depth comes from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742018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Business/Enterprise support plans unlock Trusted Advisor's full checks — a Module 2 callback.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507492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51560" y="5257800"/>
            <a:ext cx="10085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 framework, principles, practice, and tooling — four layers that turn “well-architected” from a slogan into something checkable.</a:t>
            </a:r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9  ·  Cloud Architecture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BIGGER 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One Pillar vs. Balancing All Six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Maximizing one pillar in isolation almost always costs you on another. That's the trade-off this slide is about.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ONE PILLAR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effort goes into, say, Cost Optimization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pillar looks great in isolation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to build, easier to justify short-term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4389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did we quietly give up on Reliability or Security to get here?”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2940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ACROSS SIX, DELIBERATELY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29400" y="26974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made consciously across all six pillars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pillar is accidentally neglected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more up front, holds up better over time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4389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well-architected system is a deliberate balance, not a maximum on one axis.”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5321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entire point of having six pillars instead of one score — a system optimized for a single pillar is rarely actually well-architected.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9  ·  Cloud Architecture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Review a Startup's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startup asks for a Well-Architected review, and four gaps turn up immediately. Let's apply tonight's framework.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949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1488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6060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EC2 instance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05840" y="290779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application runs on one EC2 instance, no redundancy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33832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monitoring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05840" y="368503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finds out about a problem until a customer complains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4160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deployments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05840" y="446227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release is a manual, undocumented, stressful process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49377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AWS bill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05840" y="523951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has looked at whether resources are actually being used efficiently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1920240"/>
            <a:ext cx="5166360" cy="3794760"/>
          </a:xfrm>
          <a:prstGeom prst="roundRect">
            <a:avLst>
              <a:gd name="adj" fmla="val 2892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720840" y="21488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FRAMEWORK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20840" y="256032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+ Operational Excellence + Cost Optimization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720840" y="3474720"/>
            <a:ext cx="4480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different gaps map to three different pillars — the single instance is a Reliability gap (no Multi-AZ, no Auto Scaling), the lack of monitoring and manual deployments are Operational Excellence gaps, and the unreviewed bill is a Cost Optimization gap.</a:t>
            </a: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this is exactly what Trusted Advisor would flag automatically — fault tolerance and cost optimization checks, in one pass.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9  ·  Cloud Architecture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OPEN THE CONSOLE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Preview: Finding Your Architecture Tools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have to guess where architecture concepts live in the AWS Console. Here's where to look tonight.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Well-Architected Tool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console — where you actually run a workload through the Framework's questions.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2544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52544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18304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Advisor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18304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console — where recommendations appear, organized by category.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65008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65008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30768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30768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its own console — the data source that drives the “drive architectures using data” principle.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05840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 settings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inside the RDS console, from Module 8.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52544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352544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4B6584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18304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 &amp; Load Balancing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18304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live inside the EC2 console, from Module 6.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65008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065008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B7791F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430768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plan settings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30768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under Billing and Support — decides how much of Trusted Advisor you can see.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cue:  the exam won't quiz you on console navigation directly, but knowing where a concept lives helps you recognize what a scenario is actually describing.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9  ·  Cloud Architecture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SHORTCUT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These Questions, in Order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questions resolve almost every “which pillar is this” question on the exam — this is worth writing down.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about running and improving processes?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2544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52544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18304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about protecting information and systems?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18304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65008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65008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30768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about recovering from failure and meeting demand?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30768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05840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about using resources efficiently as demand evolves?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Efficiency.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52544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352544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4B6584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18304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about avoiding unnecessary spend?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18304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Optimization.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65008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065008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B7791F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430768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about environmental impact?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30768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 work through the six pillars in order, and almost every “which pillar is this” question resolves cleanly.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9  ·  Cloud Architecture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THESE FOR THE EXAM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Advisor's Five Categories, Side by Side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categories, one job each. The exam gives you a scenario and asks which category fits — match the verb to the category.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908792" cy="576072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04672" y="1920240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39312" y="1920240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205472" y="1920240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Pillar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857232" y="1920240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10908792" cy="5760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04672" y="2496312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39312" y="2496312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underused or idle resources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205472" y="2496312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Optimization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857232" y="2496312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spend on unused capacity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072384"/>
            <a:ext cx="10908792" cy="576072"/>
          </a:xfrm>
          <a:prstGeom prst="rect">
            <a:avLst/>
          </a:prstGeom>
          <a:solidFill>
            <a:srgbClr val="EDF1F4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04672" y="3072384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39312" y="3072384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configurations limiting performance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205472" y="3072384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Efficiency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857232" y="3072384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Bottlenecks before they affect users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3648456"/>
            <a:ext cx="10908792" cy="5760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04672" y="3648456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39312" y="3648456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gaps like open security groups or no root MFA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205472" y="3648456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857232" y="3648456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misconfigurations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4224528"/>
            <a:ext cx="10908792" cy="576072"/>
          </a:xfrm>
          <a:prstGeom prst="rect">
            <a:avLst/>
          </a:prstGeom>
          <a:solidFill>
            <a:srgbClr val="EDF1F4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04672" y="4224528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Tolerance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39312" y="4224528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missing redundancy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205472" y="4224528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857232" y="4224528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without Multi-AZ enabled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40080" y="4800600"/>
            <a:ext cx="10908792" cy="5760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04672" y="4800600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Limits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639312" y="4800600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resources nearing account quotas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205472" y="4800600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857232" y="4800600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a hard stop from a hit limit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40080" y="1920240"/>
            <a:ext cx="10908792" cy="3456432"/>
          </a:xfrm>
          <a:prstGeom prst="rect">
            <a:avLst/>
          </a:prstGeom>
          <a:ln w="12700">
            <a:solidFill>
              <a:srgbClr val="DCE1E6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40080" y="56235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Trusted Advisor's five categories map almost one-to-one onto the Well-Architected pillars — recognize the pattern, don't memorize them as unrelated lists.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9  ·  Cloud Architecture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SIT THE EXAM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Architecture: The Traps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40080" y="169164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189280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many pillars does the Well-Architected Framework have?”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42316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— Operational Excellence, Security, Reliability, Performance Efficiency, Cost Optimization, Sustainability.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52544" y="169164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352544" y="169164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718304" y="189280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‘test at production scale’ a pillar?”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18304" y="242316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it's a design principle, a habit that applies across pillars, not a category itself.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65008" y="169164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065008" y="169164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30768" y="189280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database has no Multi-AZ enabled — HA gap or DR gap?”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30768" y="242316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 gap — Multi-AZ addresses common, smaller-scale failures, not Region-level disasters.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0080" y="411480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05840" y="431596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tool flags cost, performance, security, fault tolerance, and service limits all at once?”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484632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Trusted Advisor — one tool, five categories.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52544" y="411480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352544" y="411480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718304" y="431596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“Does every account get full Trusted Advisor checks for free?”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18304" y="484632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core checks are free for everyone; full checks require a Business or Enterprise support plan.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65008" y="411480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065008" y="411480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4B6584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430768" y="431596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team maximizes Cost Optimization and ignores everything else — is that well-architected?”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30768" y="484632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a well-architected system deliberately balances all six pillars, not just one.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9  ·  Cloud Architecture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BREAK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Tonight's Hands-On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1892808"/>
            <a:ext cx="548640" cy="548640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892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91640" y="183794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 Match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691640" y="221284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real scenarios onto the six pillars — and defend each pick.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14400" y="2990088"/>
            <a:ext cx="548640" cy="548640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2990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91640" y="293522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Trusted Advisor Recommendations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691640" y="331012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teams: given sample Trusted Advisor output, decide what it's actually telling you to fix.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14400" y="4087368"/>
            <a:ext cx="548640" cy="548640"/>
          </a:xfrm>
          <a:prstGeom prst="ellipse">
            <a:avLst/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40873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91640" y="403250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691640" y="440740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review a startup's architecture together and map its gaps to specific pillars, live.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98348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14400" y="5184648"/>
            <a:ext cx="548640" cy="548640"/>
          </a:xfrm>
          <a:prstGeom prst="ellipse">
            <a:avLst/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14400" y="51846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91640" y="512978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Academy Module 9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691640" y="550468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online module content and the knowledge check.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9  ·  Cloud Architecture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CLASS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Assignment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" y="2029968"/>
            <a:ext cx="566928" cy="56692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60120" y="20299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83080" y="192024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AWS Academy Module 9 + knowledge check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83080" y="2322576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both activities. Aim for 80%+ on the first attempt.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60120" y="3355848"/>
            <a:ext cx="566928" cy="56692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33558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83080" y="324612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the six pillars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83080" y="3648456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memory, with one clue phrase for each — no notes.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60120" y="4681728"/>
            <a:ext cx="566928" cy="566928"/>
          </a:xfrm>
          <a:prstGeom prst="ellipse">
            <a:avLst/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60120" y="46817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83080" y="457200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design principle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83080" y="4974336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tonight's list, explain what it means and give a real example, no notes.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 Auto Scaling and Monitoring — Module 10, and Foundations wraps up.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9  ·  Cloud Architecture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474720"/>
            <a:ext cx="4754880" cy="4754880"/>
          </a:xfrm>
          <a:prstGeom prst="ellipse">
            <a:avLst/>
          </a:prstGeom>
          <a:solidFill>
            <a:srgbClr val="FF9900">
              <a:alpha val="16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280160" y="-1280160"/>
            <a:ext cx="4023360" cy="4023360"/>
          </a:xfrm>
          <a:prstGeom prst="ellipse">
            <a:avLst/>
          </a:prstGeom>
          <a:solidFill>
            <a:srgbClr val="FF9900">
              <a:alpha val="12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let's go</a:t>
            </a:r>
            <a:endParaRPr lang="en-US" sz="4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this.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4069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Ten-minute break — then Design Principles Match and interpreting Trusted Advisor recommendations.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5486400" cy="0"/>
          </a:xfrm>
          <a:prstGeom prst="line">
            <a:avLst/>
          </a:prstGeom>
          <a:noFill/>
          <a:ln w="12700">
            <a:solidFill>
              <a:srgbClr val="44536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5029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Mycal “Mike” Brown    ·    AWS Certified Solutions Architect – Associate  ·  Wake Tech</a:t>
            </a:r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Wake Technical Community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Mycal 'Mike' Brown</dc:creator>
  <cp:lastModifiedBy>Mycal 'Mike' Brown</cp:lastModifiedBy>
  <cp:revision>1</cp:revision>
  <dcterms:created xsi:type="dcterms:W3CDTF">2026-07-23T16:52:16Z</dcterms:created>
  <dcterms:modified xsi:type="dcterms:W3CDTF">2026-07-23T16:52:16Z</dcterms:modified>
</cp:coreProperties>
</file>