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  <Relationship Id="rId46" Type="http://schemas.openxmlformats.org/officeDocument/2006/relationships/slide" Target="slides/slide40.xml"/>
  <Relationship Id="rId47" Type="http://schemas.openxmlformats.org/officeDocument/2006/relationships/slide" Target="slides/slide41.xml"/>
  <Relationship Id="rId48" Type="http://schemas.openxmlformats.org/officeDocument/2006/relationships/slide" Target="slides/slide42.xml"/>
  <Relationship Id="rId49" Type="http://schemas.openxmlformats.org/officeDocument/2006/relationships/slide" Target="slides/slide4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FF990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65760"/>
            <a:ext cx="3108960" cy="3108960"/>
          </a:xfrm>
          <a:prstGeom prst="ellipse">
            <a:avLst/>
          </a:prstGeom>
          <a:solidFill>
            <a:srgbClr val="FF990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1463040"/>
            <a:ext cx="2011680" cy="201168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9509760" y="14630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 ·  AWS ACADEMY CLOUD FOUNDATIONS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Infrastructure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  —  Regions, Availability Zones, and Edge Locations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5120640" cy="0"/>
          </a:xfrm>
          <a:prstGeom prst="line">
            <a:avLst/>
          </a:prstGeom>
          <a:noFill/>
          <a:ln w="12700">
            <a:solidFill>
              <a:srgbClr val="4453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Mycal “Mike” Brown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infrastructure underpins Domain 1 of the exam — and every resilience call you’ll ever make.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of the 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1371600"/>
          </a:xfrm>
          <a:prstGeom prst="roundRect">
            <a:avLst>
              <a:gd name="adj" fmla="val 8000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78308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“Name AWS’s four pricing principles, and explain why data transfer OUT costs money but data transfer IN usually doesn’t.”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2331720"/>
            <a:ext cx="9994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ticket in the door. Nobody leaves without being able to answer it.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Lecture 2 left us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61188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361188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1E8FA5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81304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cost drivers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434340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storage, data transfer — we priced them. Tonight: the actual places those resources run.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2544" y="361188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52544" y="361188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EC7211"/>
          </a:solidFill>
          <a:ln/>
        </p:spPr>
      </p:sp>
      <p:sp>
        <p:nvSpPr>
          <p:cNvPr id="14" name="Text 12"/>
          <p:cNvSpPr/>
          <p:nvPr/>
        </p:nvSpPr>
        <p:spPr>
          <a:xfrm>
            <a:off x="4718304" y="381304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ways to buy compute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18304" y="434340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On-Demand, Reserved, Spot, Dedicated. Tonight: the data centers behind whichever one you pick.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65008" y="361188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361188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1F8A38"/>
          </a:solidFill>
          <a:ln/>
        </p:spPr>
      </p:sp>
      <p:sp>
        <p:nvSpPr>
          <p:cNvPr id="18" name="Text 16"/>
          <p:cNvSpPr/>
          <p:nvPr/>
        </p:nvSpPr>
        <p:spPr>
          <a:xfrm>
            <a:off x="8430768" y="381304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bill, consolidated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30768" y="434340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and the Billing Dashboard tied it together. Tonight we zoom out to AWS’s map of the world.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TONIGHT'S 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Be Able to 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session you should be able to…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475488" cy="475488"/>
          </a:xfrm>
          <a:prstGeom prst="ellipse">
            <a:avLst/>
          </a:prstGeom>
          <a:solidFill>
            <a:srgbClr val="EC721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9659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1965960"/>
            <a:ext cx="10424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Region is and name the four factors that decide which one to use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475488" cy="475488"/>
          </a:xfrm>
          <a:prstGeom prst="ellipse">
            <a:avLst/>
          </a:prstGeom>
          <a:solidFill>
            <a:srgbClr val="EC721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6243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624328"/>
            <a:ext cx="10424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Availability Zones and why spreading across them is the core resilience habit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282696"/>
            <a:ext cx="475488" cy="475488"/>
          </a:xfrm>
          <a:prstGeom prst="ellipse">
            <a:avLst/>
          </a:prstGeom>
          <a:solidFill>
            <a:srgbClr val="EC721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826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3282696"/>
            <a:ext cx="10424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edge locations from Regions and AZs, and explain what Amazon CloudFront does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941064"/>
            <a:ext cx="475488" cy="475488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41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25880" y="3941064"/>
            <a:ext cx="10424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Local Zones and Wavelength to a standard Region and know when each applies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40080" y="4599432"/>
            <a:ext cx="475488" cy="475488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5994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4599432"/>
            <a:ext cx="10424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major categories of AWS services, from compute to networking to security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40080" y="5257800"/>
            <a:ext cx="475488" cy="475488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2578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25880" y="5257800"/>
            <a:ext cx="10424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 most common global-infrastructure traps on the exam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Up AWS Global Infrastructure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E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building blocks. Everything about where your workload runs comes down to these.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2E3E52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2316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23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2468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10896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geographic areas around the world. You choose where your workload lives.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2E3E52"/>
          </a:solidFill>
          <a:ln/>
        </p:spPr>
      </p:sp>
      <p:sp>
        <p:nvSpPr>
          <p:cNvPr id="11" name="Shape 9"/>
          <p:cNvSpPr/>
          <p:nvPr/>
        </p:nvSpPr>
        <p:spPr>
          <a:xfrm>
            <a:off x="6537960" y="242316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423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468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Zones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83680" y="310896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data centers inside a Region — each with its own power, cooling, and network.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2E3E52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38912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45920" y="44348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005840" y="50749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even closer to users, used to cache content and cut latency.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17920" y="411480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2E3E52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7960" y="438912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23760" y="44348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Zones &amp; Wavelength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583680" y="50749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Newer extensions that push AWS infrastructure closer to specific cities or telecom networks.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DECISION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— Where Your Workload Lives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workload you launch lives in a Region you choose — it’s the first infrastructure decision you make.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101600" dist="38100" dir="5400000">
              <a:srgbClr val="C6CDD4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REGION 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24128" y="2651760"/>
            <a:ext cx="237744" cy="237744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6060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separate, self-contained geographic area — e.g., a Region in Ohio, one in Ireland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24128" y="3255264"/>
            <a:ext cx="237744" cy="237744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2095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independent — a problem in one Region doesn’t take down another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3858768"/>
            <a:ext cx="237744" cy="237744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381304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multiple Availability Zones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24128" y="4462272"/>
            <a:ext cx="237744" cy="237744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14" name="Text 12"/>
          <p:cNvSpPr/>
          <p:nvPr/>
        </p:nvSpPr>
        <p:spPr>
          <a:xfrm>
            <a:off x="1417320" y="441655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AWS service launches in every Region on day 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24128" y="5065776"/>
            <a:ext cx="237744" cy="237744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16" name="Text 14"/>
          <p:cNvSpPr/>
          <p:nvPr/>
        </p:nvSpPr>
        <p:spPr>
          <a:xfrm>
            <a:off x="1417320" y="502005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usually stay in the Region you launched them in, unless you configure otherwise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1920240"/>
            <a:ext cx="5029200" cy="3840480"/>
          </a:xfrm>
          <a:prstGeom prst="roundRect">
            <a:avLst>
              <a:gd name="adj" fmla="val 2857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1488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251460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factors decide your Region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858000" y="3063240"/>
            <a:ext cx="4297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(stay close to users), price (cost varies by Region), compliance (data-residency laws), and service availability.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this wrong and you’re either overpaying, or breaking a data-residency requirement without realizing it.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3931920" cy="384048"/>
          </a:xfrm>
          <a:prstGeom prst="roundRect">
            <a:avLst>
              <a:gd name="adj" fmla="val 19048"/>
            </a:avLst>
          </a:prstGeom>
          <a:solidFill>
            <a:srgbClr val="B7791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RELIABILITY IDEA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Across Availability Zones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E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habit separates a fragile architecture from a resilient one — and it’s simpler than it sounds.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2E3E5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423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SINGLE-AZ RISK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 One data center, one point of failure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3429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 A power or network outage takes the whole app down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977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 No automatic way to fail over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461772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AE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happens when “in the cloud” gets mistaken for “automatically resilient.”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219456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2E3E52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2423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MULTI-AZ HABIT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88036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copies in 2–3 AZs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629400" y="320954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Availability Zone has its own power, cooling, and network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29400" y="37490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AZ fails, the others keep serving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629400" y="40782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never notice the failure happened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461772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AZ is a dependency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629400" y="494690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whole Region has a problem, that’s a separate, much rarer, conversation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single habit — spreading across AZs — is the foundation of nearly everything the exam calls resilience.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MILE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Locations vs. Regions and AZs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101600" dist="38100" dir="5400000">
              <a:srgbClr val="C6CDD4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&amp; AVAILABILITY ZONES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application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62432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storage, and databases actually execute here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172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34655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 your workload runs 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40142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AZs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43068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across 2–3 per Region for resilience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48554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fewer sites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514807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edge locations worldwide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164592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29400" y="2331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run your application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262432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cache content close to users instead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3172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CloudFront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9400" y="34655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cached copies from the nearest site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40142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more sites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43068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Regions, spread worldwide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29400" y="48554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latency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514807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“last mile” to the end user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DESIGN DECISION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Region — 4 Factors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workload lives in a Region you pick. These four things decide which one — and it’s a real exam question.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34009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137160" cy="1965960"/>
          </a:xfrm>
          <a:prstGeom prst="roundRect">
            <a:avLst>
              <a:gd name="adj" fmla="val 13333"/>
            </a:avLst>
          </a:prstGeom>
          <a:solidFill>
            <a:srgbClr val="EC721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67128"/>
            <a:ext cx="4745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470001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resources close to your users — someone in Dallas is served faster from a US Region than from Frankfurt.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1965960"/>
            <a:ext cx="534009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08776" y="1965960"/>
            <a:ext cx="137160" cy="1965960"/>
          </a:xfrm>
          <a:prstGeom prst="roundRect">
            <a:avLst>
              <a:gd name="adj" fmla="val 13333"/>
            </a:avLst>
          </a:prstGeom>
          <a:solidFill>
            <a:srgbClr val="1F8A38"/>
          </a:solidFill>
          <a:ln/>
        </p:spPr>
      </p:sp>
      <p:sp>
        <p:nvSpPr>
          <p:cNvPr id="11" name="Text 9"/>
          <p:cNvSpPr/>
          <p:nvPr/>
        </p:nvSpPr>
        <p:spPr>
          <a:xfrm>
            <a:off x="6574536" y="2167128"/>
            <a:ext cx="4745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74536" y="2697480"/>
            <a:ext cx="470001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service can cost different amounts in different Regions.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534009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160520"/>
            <a:ext cx="137160" cy="1965960"/>
          </a:xfrm>
          <a:prstGeom prst="roundRect">
            <a:avLst>
              <a:gd name="adj" fmla="val 13333"/>
            </a:avLst>
          </a:prstGeom>
          <a:solidFill>
            <a:srgbClr val="1E8FA5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361688"/>
            <a:ext cx="4745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4892040"/>
            <a:ext cx="470001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Data-residency laws, like GDPR, may require data to physically stay in a specific country.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08776" y="4160520"/>
            <a:ext cx="534009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08776" y="4160520"/>
            <a:ext cx="137160" cy="1965960"/>
          </a:xfrm>
          <a:prstGeom prst="roundRect">
            <a:avLst>
              <a:gd name="adj" fmla="val 13333"/>
            </a:avLst>
          </a:prstGeom>
          <a:solidFill>
            <a:srgbClr val="7A5C9E"/>
          </a:solidFill>
          <a:ln/>
        </p:spPr>
      </p:sp>
      <p:sp>
        <p:nvSpPr>
          <p:cNvPr id="19" name="Text 17"/>
          <p:cNvSpPr/>
          <p:nvPr/>
        </p:nvSpPr>
        <p:spPr>
          <a:xfrm>
            <a:off x="6574536" y="4361688"/>
            <a:ext cx="4745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availability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74536" y="4892040"/>
            <a:ext cx="470001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AWS service launches in every Region on day one.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6080760"/>
            <a:ext cx="10908792" cy="914"/>
          </a:xfrm>
          <a:prstGeom prst="roundRect">
            <a:avLst/>
          </a:prstGeom>
          <a:solidFill>
            <a:srgbClr val="F4F6F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cue:  if a scenario mentions a country’s data-privacy law, the answer is almost always Region choice — not encryption.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EDGE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Zones and Wavelength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E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newer infrastructure types push AWS closer to specific places — for workloads that can’t tolerate normal Region latency.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2E3E5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Local Zones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276148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compute and storage in large metro areas outside a full Region — think gaming or media production.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2E3E5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Wavelength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83680" y="276148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AWS infrastructure inside telecom 5G networks, for single-digit-millisecond mobile latency.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2E3E52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5840" y="41788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extend a parent Region rather than replacing the standard Region/AZ model.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17920" y="361188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2E3E52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Niche, not default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583680" y="417880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workloads never need either — the exam tests recognition, not configuration.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530352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to know:  </a:t>
            </a:r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F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confuse a Local Zone with an Availability Zone — a Local Zone is a single site with no AZ-style redundancy of its own.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EVEN FURTHER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Outposts — Bringing AWS On-Premises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the workload can’t come to AWS — so AWS goes to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101600" dist="38100" dir="5400000">
              <a:srgbClr val="C6CDD4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3383280" cy="146304"/>
          </a:xfrm>
          <a:prstGeom prst="roundRect">
            <a:avLst>
              <a:gd name="adj" fmla="val 12500"/>
            </a:avLst>
          </a:prstGeom>
          <a:solidFill>
            <a:srgbClr val="EC721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31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It 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834640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AWS hardware, installed in your own data center or facility, managed by AWS.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101600" dist="38100" dir="5400000">
              <a:srgbClr val="C6CDD4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965960"/>
            <a:ext cx="3383280" cy="146304"/>
          </a:xfrm>
          <a:prstGeom prst="roundRect">
            <a:avLst>
              <a:gd name="adj" fmla="val 12500"/>
            </a:avLst>
          </a:prstGeom>
          <a:solidFill>
            <a:srgbClr val="1E8FA5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331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8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How It Connects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same APIs and services as a Region, linked back to AWS over a network connection.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101600" dist="38100" dir="5400000">
              <a:srgbClr val="C6CDD4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965960"/>
            <a:ext cx="3383280" cy="146304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2331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When You’d Use It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66760" y="2834640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Ultra-low latency on-site, local data processing needs, or workloads that legally can’t leave the building.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5212080"/>
            <a:ext cx="100858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angle:  </a:t>
            </a:r>
            <a:pPr indent="0" marL="0">
              <a:lnSpc>
                <a:spcPct val="103000"/>
              </a:lnSpc>
              <a:buNone/>
            </a:pPr>
            <a:r>
              <a:rPr lang="en-US" sz="1500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Outposts is the answer whenever a scenario says data or processing legally or physically cannot leave a specific building — everything else (Local Zones, Wavelength, Regions) assumes it’s fine to leave the premises.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PICTURE, IN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Infrastructure by the Numbers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 we’ve covered tonight, and roughly how AWS’s footprint breaks down. Exact counts change — treat these as orders of magnitude.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035454" cy="2834640"/>
          </a:xfrm>
          <a:prstGeom prst="roundRect">
            <a:avLst>
              <a:gd name="adj" fmla="val 4492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2035454" cy="146304"/>
          </a:xfrm>
          <a:prstGeom prst="roundRect">
            <a:avLst>
              <a:gd name="adj" fmla="val 12500"/>
            </a:avLst>
          </a:prstGeom>
          <a:solidFill>
            <a:srgbClr val="1F8A3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77440"/>
            <a:ext cx="15782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F8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3154680"/>
            <a:ext cx="157825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separate geographic areas worldwide, and still growing.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858414" y="2011680"/>
            <a:ext cx="2035454" cy="2834640"/>
          </a:xfrm>
          <a:prstGeom prst="roundRect">
            <a:avLst>
              <a:gd name="adj" fmla="val 4492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58414" y="2011680"/>
            <a:ext cx="2035454" cy="146304"/>
          </a:xfrm>
          <a:prstGeom prst="roundRect">
            <a:avLst>
              <a:gd name="adj" fmla="val 12500"/>
            </a:avLst>
          </a:prstGeom>
          <a:solidFill>
            <a:srgbClr val="1E8FA5"/>
          </a:solidFill>
          <a:ln/>
        </p:spPr>
      </p:sp>
      <p:sp>
        <p:nvSpPr>
          <p:cNvPr id="11" name="Text 9"/>
          <p:cNvSpPr/>
          <p:nvPr/>
        </p:nvSpPr>
        <p:spPr>
          <a:xfrm>
            <a:off x="3087014" y="2377440"/>
            <a:ext cx="15782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E8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Zones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087014" y="3154680"/>
            <a:ext cx="157825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3 or more per Region — often 90+ AZs worldwide.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76749" y="2011680"/>
            <a:ext cx="2035454" cy="2834640"/>
          </a:xfrm>
          <a:prstGeom prst="roundRect">
            <a:avLst>
              <a:gd name="adj" fmla="val 4492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76749" y="2011680"/>
            <a:ext cx="2035454" cy="146304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305349" y="2377440"/>
            <a:ext cx="15782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305349" y="3154680"/>
            <a:ext cx="157825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CloudFront caching sites worldwide.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95083" y="2011680"/>
            <a:ext cx="2035454" cy="2834640"/>
          </a:xfrm>
          <a:prstGeom prst="roundRect">
            <a:avLst>
              <a:gd name="adj" fmla="val 4492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95083" y="2011680"/>
            <a:ext cx="2035454" cy="146304"/>
          </a:xfrm>
          <a:prstGeom prst="roundRect">
            <a:avLst>
              <a:gd name="adj" fmla="val 12500"/>
            </a:avLst>
          </a:prstGeom>
          <a:solidFill>
            <a:srgbClr val="EC7211"/>
          </a:solidFill>
          <a:ln/>
        </p:spPr>
      </p:sp>
      <p:sp>
        <p:nvSpPr>
          <p:cNvPr id="19" name="Text 17"/>
          <p:cNvSpPr/>
          <p:nvPr/>
        </p:nvSpPr>
        <p:spPr>
          <a:xfrm>
            <a:off x="7523683" y="2377440"/>
            <a:ext cx="15782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Zones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523683" y="3154680"/>
            <a:ext cx="157825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metro-area extensions, and growing.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513418" y="2011680"/>
            <a:ext cx="2035454" cy="2834640"/>
          </a:xfrm>
          <a:prstGeom prst="roundRect">
            <a:avLst>
              <a:gd name="adj" fmla="val 4492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13418" y="2011680"/>
            <a:ext cx="2035454" cy="146304"/>
          </a:xfrm>
          <a:prstGeom prst="roundRect">
            <a:avLst>
              <a:gd name="adj" fmla="val 12500"/>
            </a:avLst>
          </a:prstGeom>
          <a:solidFill>
            <a:srgbClr val="7A5C9E"/>
          </a:solidFill>
          <a:ln/>
        </p:spPr>
      </p:sp>
      <p:sp>
        <p:nvSpPr>
          <p:cNvPr id="23" name="Text 21"/>
          <p:cNvSpPr/>
          <p:nvPr/>
        </p:nvSpPr>
        <p:spPr>
          <a:xfrm>
            <a:off x="9742018" y="2377440"/>
            <a:ext cx="157825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7A5C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Outposts &amp; Wavelength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742018" y="3154680"/>
            <a:ext cx="157825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on-site or embedded in telecom networks — count depends on customer demand, not a fixed footprint.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07492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23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" y="5257800"/>
            <a:ext cx="10085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quote a number:  </a:t>
            </a:r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adds Regions, AZs, and Local Zones regularly — check aws.amazon.com/about-aws/global-infrastructure for the current count rather than memorizing today’s.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BIGGER ARCHITECTURE DECISION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Single-Region vs. Multi-Region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protects against a data center problem. It doesn’t protect against a whole Region having a bad day.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SINGLE-REGION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us-east-1: App + DB, spread across 3 AZs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Region, one blast radius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build, cheaper to run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3891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the whole Region has a problem?”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232F3E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2194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26974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us-east-1 primary, us-west-2 standby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replicated across Regions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6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ready if the primary Region has a problem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29400" y="43891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“Rare, expensive, and usually reserved for workloads that truly can’t go down.”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 is a real design choice, not a default — most workloads are well served by solid multi-AZ alone.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Where Should This Workload Live?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German media company wants to launch a video-streaming app for EU customers. Let’s apply tonight’s four factors.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949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101600" dist="38100" dir="5400000">
              <a:srgbClr val="C6CDD4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6060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005840" y="290779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 are almost entirely in Germany and neighboring countries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3832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005840" y="368503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requires EU customer data to stay in the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05840" y="446227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stated budget constraint, but leadership wants to avoid overpaying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9377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availability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005840" y="523951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CloudFront, S3, and a standard database — all widely available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920240"/>
            <a:ext cx="5166360" cy="3794760"/>
          </a:xfrm>
          <a:prstGeom prst="roundRect">
            <a:avLst>
              <a:gd name="adj" fmla="val 2892"/>
            </a:avLst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21488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FACTORS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20840" y="256032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Region: eu-central-1 (Frankfurt)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720840" y="3474720"/>
            <a:ext cx="4480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settles it before latency or price even get a vote — GDPR isn’t optional, and Frankfurt happens to satisfy latency too as a bonus.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order: compliance was non-negotiable, and everything else fell into place around it.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OPEN THE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Preview: Finding Your Infrastructure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have to guess where infrastructure concepts live in the AWS Console. Here’s where to look tonight.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EC721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671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selector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 corner of every console page — this is the Region you’re currently working in.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9659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52544" y="19659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1F8A38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21671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picker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18304" y="26974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up when launching an EC2 instance or creating a subnet — you choose the AZ there.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65008" y="19659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19659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1E8FA5"/>
          </a:solidFill>
          <a:ln/>
        </p:spPr>
      </p:sp>
      <p:sp>
        <p:nvSpPr>
          <p:cNvPr id="15" name="Text 13"/>
          <p:cNvSpPr/>
          <p:nvPr/>
        </p:nvSpPr>
        <p:spPr>
          <a:xfrm>
            <a:off x="8430768" y="21671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distributions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30768" y="26974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service console — where you create and manage edge caching.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0233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0233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7A5C9E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245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Zones opt-in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7548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enabled per Region in Account Settings before they appear as a launch option.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52544" y="40233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52544" y="40233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4B6584"/>
          </a:solidFill>
          <a:ln/>
        </p:spPr>
      </p:sp>
      <p:sp>
        <p:nvSpPr>
          <p:cNvPr id="23" name="Text 21"/>
          <p:cNvSpPr/>
          <p:nvPr/>
        </p:nvSpPr>
        <p:spPr>
          <a:xfrm>
            <a:off x="4718304" y="42245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Infrastructure map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18304" y="47548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AWS page showing every Region and AZ count — no login required.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65008" y="40233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65008" y="40233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B7791F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42245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Outposts console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30768" y="47548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you’d order and manage on-premises AWS hardware, if your organization uses it.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cue:  the exam won’t quiz you on console navigation directly, but knowing where a concept “lives” helps you recognize what a scenario is actually describing.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30,000-FOOT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Look at AWS Service Categories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need to know every service yet — just which family it belongs to. We’ll go deep on each starting next module.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1E8FA5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671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your code and applications — e.g., Amazon EC2, AWS Lambda.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9659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52544" y="19659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1F8A38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21671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18304" y="26974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your data, from object storage to file systems — e.g., Amazon S3.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65008" y="19659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19659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EC7211"/>
          </a:solidFill>
          <a:ln/>
        </p:spPr>
      </p:sp>
      <p:sp>
        <p:nvSpPr>
          <p:cNvPr id="15" name="Text 13"/>
          <p:cNvSpPr/>
          <p:nvPr/>
        </p:nvSpPr>
        <p:spPr>
          <a:xfrm>
            <a:off x="8430768" y="21671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30768" y="26974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stores for structured and unstructured data — e.g., Amazon RDS, DynamoDB.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0233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0233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7A5C9E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245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Content Delivery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7548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everything and gets content to users — e.g., Amazon VPC, CloudFront.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52544" y="40233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52544" y="40233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4B6584"/>
          </a:solidFill>
          <a:ln/>
        </p:spPr>
      </p:sp>
      <p:sp>
        <p:nvSpPr>
          <p:cNvPr id="23" name="Text 21"/>
          <p:cNvSpPr/>
          <p:nvPr/>
        </p:nvSpPr>
        <p:spPr>
          <a:xfrm>
            <a:off x="4718304" y="42245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Identity &amp; Compliance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18304" y="47548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who can do what, and protects your data — e.g., IAM.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65008" y="4023360"/>
            <a:ext cx="348386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65008" y="4023360"/>
            <a:ext cx="137160" cy="1828800"/>
          </a:xfrm>
          <a:prstGeom prst="roundRect">
            <a:avLst>
              <a:gd name="adj" fmla="val 13333"/>
            </a:avLst>
          </a:prstGeom>
          <a:solidFill>
            <a:srgbClr val="B7791F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422452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Governance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30768" y="4754880"/>
            <a:ext cx="28437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Monitors, automates, and keeps accounts organized — e.g., CloudWatch, Organizations.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pattern:  almost everything you’ll learn this term is one of these six families — Regions and AZs are just where they all run.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THESE FOR THE EXAM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Infrastructure Layers, Side by Side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layers, plus one specialized fifth. The exam gives you a scenario and asks which layer fits — match the need to the layer.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08792" cy="576072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920240"/>
            <a:ext cx="257860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39312" y="1920240"/>
            <a:ext cx="33101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05472" y="1920240"/>
            <a:ext cx="23957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How Many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57232" y="1920240"/>
            <a:ext cx="160020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There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496312"/>
            <a:ext cx="10908792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496312"/>
            <a:ext cx="257860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39312" y="2496312"/>
            <a:ext cx="33101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geographic area you choose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05472" y="2496312"/>
            <a:ext cx="23957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worldwide (growing)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857232" y="2496312"/>
            <a:ext cx="160020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 and data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072384"/>
            <a:ext cx="10908792" cy="576072"/>
          </a:xfrm>
          <a:prstGeom prst="rect">
            <a:avLst/>
          </a:prstGeom>
          <a:solidFill>
            <a:srgbClr val="EDF1F4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72384"/>
            <a:ext cx="257860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Zone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39312" y="3072384"/>
            <a:ext cx="33101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isolated data center inside a Region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205472" y="3072384"/>
            <a:ext cx="23957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3+ per Region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857232" y="3072384"/>
            <a:ext cx="160020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copies of your app for resilience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3648456"/>
            <a:ext cx="10908792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648456"/>
            <a:ext cx="257860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39312" y="3648456"/>
            <a:ext cx="33101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caching site close to end users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205472" y="3648456"/>
            <a:ext cx="23957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worldwide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857232" y="3648456"/>
            <a:ext cx="160020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content only, via CloudFront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4224528"/>
            <a:ext cx="10908792" cy="576072"/>
          </a:xfrm>
          <a:prstGeom prst="rect">
            <a:avLst/>
          </a:prstGeom>
          <a:solidFill>
            <a:srgbClr val="EDF1F4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224528"/>
            <a:ext cx="257860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Zone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39312" y="4224528"/>
            <a:ext cx="33101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of a Region in a specific metro area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205472" y="4224528"/>
            <a:ext cx="23957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(growing)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857232" y="4224528"/>
            <a:ext cx="160020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Latency-sensitive workloads for that metro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" y="4800600"/>
            <a:ext cx="10908792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804672" y="4800600"/>
            <a:ext cx="257860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Wavelength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639312" y="4800600"/>
            <a:ext cx="33101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infrastructure embedded in telecom 5G networks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205472" y="4800600"/>
            <a:ext cx="2395728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metro coverage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857232" y="4800600"/>
            <a:ext cx="160020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Ultra-low-latency mobile/5G workloads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40080" y="1920240"/>
            <a:ext cx="10908792" cy="3456432"/>
          </a:xfrm>
          <a:prstGeom prst="rect">
            <a:avLst/>
          </a:prstGeom>
          <a:ln w="12700">
            <a:solidFill>
              <a:srgbClr val="DCE1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235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closer to the user and more redundant almost always means a different layer — not a bigger instance.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SIT THE EXAM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Infrastructure: The Traps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8386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137160" cy="2194560"/>
          </a:xfrm>
          <a:prstGeom prst="roundRect">
            <a:avLst>
              <a:gd name="adj" fmla="val 13333"/>
            </a:avLst>
          </a:prstGeom>
          <a:solidFill>
            <a:srgbClr val="EC7211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9280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one actually runs my application?”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423160"/>
            <a:ext cx="284378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Availability Zone. Regions are the container; AZs — and the servers in them — are where compute actually executes.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52544" y="1691640"/>
            <a:ext cx="348386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52544" y="1691640"/>
            <a:ext cx="137160" cy="2194560"/>
          </a:xfrm>
          <a:prstGeom prst="roundRect">
            <a:avLst>
              <a:gd name="adj" fmla="val 13333"/>
            </a:avLst>
          </a:prstGeom>
          <a:solidFill>
            <a:srgbClr val="1F8A38"/>
          </a:solidFill>
          <a:ln/>
        </p:spPr>
      </p:sp>
      <p:sp>
        <p:nvSpPr>
          <p:cNvPr id="10" name="Text 8"/>
          <p:cNvSpPr/>
          <p:nvPr/>
        </p:nvSpPr>
        <p:spPr>
          <a:xfrm>
            <a:off x="4718304" y="189280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“Fastest way to cut latency for users worldwide?”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18304" y="2423160"/>
            <a:ext cx="284378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locations via CloudFront — not launching more EC2 instances in more Regions.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5008" y="1691640"/>
            <a:ext cx="348386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691640"/>
            <a:ext cx="137160" cy="2194560"/>
          </a:xfrm>
          <a:prstGeom prst="roundRect">
            <a:avLst>
              <a:gd name="adj" fmla="val 13333"/>
            </a:avLst>
          </a:prstGeom>
          <a:solidFill>
            <a:srgbClr val="7A5C9E"/>
          </a:solidFill>
          <a:ln/>
        </p:spPr>
      </p:sp>
      <p:sp>
        <p:nvSpPr>
          <p:cNvPr id="14" name="Text 12"/>
          <p:cNvSpPr/>
          <p:nvPr/>
        </p:nvSpPr>
        <p:spPr>
          <a:xfrm>
            <a:off x="8430768" y="189280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law says data must stay in-country — what do you check?”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30768" y="2423160"/>
            <a:ext cx="284378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selection and compliance — not encryption settings.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348386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114800"/>
            <a:ext cx="137160" cy="219456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31596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many AZs should a resilient app span?”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4846320"/>
            <a:ext cx="284378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two, ideally three, within the same Region.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52544" y="4114800"/>
            <a:ext cx="348386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52544" y="4114800"/>
            <a:ext cx="137160" cy="2194560"/>
          </a:xfrm>
          <a:prstGeom prst="roundRect">
            <a:avLst>
              <a:gd name="adj" fmla="val 13333"/>
            </a:avLst>
          </a:prstGeom>
          <a:solidFill>
            <a:srgbClr val="1E8FA5"/>
          </a:solidFill>
          <a:ln/>
        </p:spPr>
      </p:sp>
      <p:sp>
        <p:nvSpPr>
          <p:cNvPr id="22" name="Text 20"/>
          <p:cNvSpPr/>
          <p:nvPr/>
        </p:nvSpPr>
        <p:spPr>
          <a:xfrm>
            <a:off x="4718304" y="431596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“Local Zone vs. Availability Zone — what’s the difference?”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18304" y="4846320"/>
            <a:ext cx="284378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 Zone is a single site with no built-in redundancy; an AZ is one of several redundant sites inside a Region.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65008" y="4114800"/>
            <a:ext cx="3483864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4114800"/>
            <a:ext cx="137160" cy="2194560"/>
          </a:xfrm>
          <a:prstGeom prst="roundRect">
            <a:avLst>
              <a:gd name="adj" fmla="val 13333"/>
            </a:avLst>
          </a:prstGeom>
          <a:solidFill>
            <a:srgbClr val="4B6584"/>
          </a:solidFill>
          <a:ln/>
        </p:spPr>
      </p:sp>
      <p:sp>
        <p:nvSpPr>
          <p:cNvPr id="26" name="Text 24"/>
          <p:cNvSpPr/>
          <p:nvPr/>
        </p:nvSpPr>
        <p:spPr>
          <a:xfrm>
            <a:off x="8430768" y="4315968"/>
            <a:ext cx="2889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every service is everywhere — what do you check first?”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30768" y="4846320"/>
            <a:ext cx="284378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availability by Region — one of the four Region-selection factors.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BREAK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Tonight's Hands-On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92808"/>
            <a:ext cx="548640" cy="548640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92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91640" y="1837944"/>
            <a:ext cx="9537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Global Infrastructure map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691640" y="2212848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interactive Region/AZ map together and find the Region closest to campus.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990088"/>
            <a:ext cx="548640" cy="548640"/>
          </a:xfrm>
          <a:prstGeom prst="ellipse">
            <a:avLst/>
          </a:prstGeom>
          <a:solidFill>
            <a:srgbClr val="EC721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935224"/>
            <a:ext cx="9537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Region-picking scenarios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691640" y="3310128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teams: given a scenario — a law firm in Germany, a gaming studio in Seoul — pick and defend a Region.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087368"/>
            <a:ext cx="548640" cy="548640"/>
          </a:xfrm>
          <a:prstGeom prst="ellipse">
            <a:avLst/>
          </a:prstGeom>
          <a:solidFill>
            <a:srgbClr val="1F8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873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4032504"/>
            <a:ext cx="9537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demo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691640" y="4407408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console tour of setting up a CloudFront distribution in front of a static site.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184648"/>
            <a:ext cx="548640" cy="548640"/>
          </a:xfrm>
          <a:prstGeom prst="ellipse">
            <a:avLst/>
          </a:prstGeom>
          <a:solidFill>
            <a:srgbClr val="7A5C9E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1846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1640" y="5129784"/>
            <a:ext cx="9537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Academy Module 3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1691640" y="5504688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online module content and the knowledge check.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72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CLASS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Assignment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29968"/>
            <a:ext cx="566928" cy="566928"/>
          </a:xfrm>
          <a:prstGeom prst="ellipse">
            <a:avLst/>
          </a:prstGeom>
          <a:solidFill>
            <a:srgbClr val="EC721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2996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83080" y="192024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AWS Academy Module 3 + knowledge check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2322576"/>
            <a:ext cx="9354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global infrastructure and services sections. Aim for 80%+ on the first attempt.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55848"/>
            <a:ext cx="566928" cy="566928"/>
          </a:xfrm>
          <a:prstGeom prst="ellipse">
            <a:avLst/>
          </a:prstGeom>
          <a:solidFill>
            <a:srgbClr val="1E8FA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3558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83080" y="324612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closest Region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48456"/>
            <a:ext cx="9354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AWS Region map and note the Region name and how many Availability Zones it has.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1E6"/>
            </a:solidFill>
            <a:prstDash val="solid"/>
          </a:ln>
          <a:effectLst>
            <a:outerShdw sx="100000" sy="100000" kx="0" ky="0" algn="bl" rotWithShape="0" blurRad="88900" dist="25400" dir="5400000">
              <a:srgbClr val="CBD2D8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81728"/>
            <a:ext cx="566928" cy="566928"/>
          </a:xfrm>
          <a:prstGeom prst="ellipse">
            <a:avLst/>
          </a:prstGeom>
          <a:solidFill>
            <a:srgbClr val="1F8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6817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83080" y="457200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service from each family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83080" y="4974336"/>
            <a:ext cx="9354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six categories we covered, name one example service per family, in your own words.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 AWS Cloud Security — the Shared Responsibility Model, IAM, and securing a new account.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SAA-A  ·  Lecture 3  ·  AWS Global Infrastructure Overview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3474720"/>
            <a:ext cx="4754880" cy="4754880"/>
          </a:xfrm>
          <a:prstGeom prst="ellipse">
            <a:avLst/>
          </a:prstGeom>
          <a:solidFill>
            <a:srgbClr val="FF9900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280160"/>
            <a:ext cx="4023360" cy="4023360"/>
          </a:xfrm>
          <a:prstGeom prst="ellipse">
            <a:avLst/>
          </a:prstGeom>
          <a:solidFill>
            <a:srgbClr val="FF9900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let’s go find out</a:t>
            </a:r>
            <a:endParaRPr lang="en-US" sz="4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cloud actually lives.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Ten-minute break — then the AWS Global Infrastructure map and a first look at the console.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5486400" cy="0"/>
          </a:xfrm>
          <a:prstGeom prst="line">
            <a:avLst/>
          </a:prstGeom>
          <a:noFill/>
          <a:ln w="12700">
            <a:solidFill>
              <a:srgbClr val="4453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029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Mycal “Mike” Brown</a:t>
            </a:r>
            <a:pPr indent="0" marL="0">
              <a:buNone/>
            </a:pPr>
            <a:r>
              <a:rPr lang="en-US" sz="13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AWS Certified Solutions Architect – Associate  ·  Wake Tech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Wake Technical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Mycal 'Mike' Brown</dc:creator>
  <cp:lastModifiedBy>Mycal 'Mike' Brown</cp:lastModifiedBy>
  <cp:revision>1</cp:revision>
  <dcterms:created xsi:type="dcterms:W3CDTF">2026-07-23T16:52:16Z</dcterms:created>
  <dcterms:modified xsi:type="dcterms:W3CDTF">2026-07-23T16:52:16Z</dcterms:modified>
</cp:coreProperties>
</file>