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058400" y="365760"/>
            <a:ext cx="3108960" cy="3108960"/>
          </a:xfrm>
          <a:prstGeom prst="ellipse">
            <a:avLst/>
          </a:prstGeom>
          <a:solidFill>
            <a:srgbClr val="FF9900">
              <a:alpha val="3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9509760" y="1463040"/>
            <a:ext cx="2011680" cy="201168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509760" y="146304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 ·  AWS ACADEMY CLOUD FOUNDATIONS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and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Delivery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5  —  VPCs, Subnets, DNS, and Getting Traffic Where It Needs to Go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5074920"/>
            <a:ext cx="512064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5212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 Dr. Mycal “Mike” Brown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5532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 — Cloud Technology and Services — is 34% of the exam, and it starts with the network everything else lives inside.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of the 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08792" cy="1371600"/>
          </a:xfrm>
          <a:prstGeom prst="roundRect">
            <a:avLst>
              <a:gd name="adj" fmla="val 8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97280" y="1783080"/>
            <a:ext cx="9994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“What’s the difference between security OF the cloud and security IN the cloud — and who owns a misconfigured security group?”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2331720"/>
            <a:ext cx="99943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ticket in the door. Nobody leaves without being able to answer it.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4 left us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0080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05840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responsibility 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owns the infrastructure; you own your data, IAM, and configuration — and the line moves by service type.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52544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352544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18304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security toolkit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18304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IAM, detection, scanning, defense, and the audit trail — five jobs, five different tools.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65008" y="361188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65008" y="361188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430768" y="381304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Tonight: the network underneath it all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30768" y="434340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last week’s tools protects resources that live inside a network — tonight we build that network.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MISSION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Be Able to 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session you should be able to…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196596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5880" y="196596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VPC and explain why resources are launched inside one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40080" y="2624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26243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public and private subnets — and explain what actually makes a subnet public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3282696"/>
            <a:ext cx="475488" cy="47548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" y="32826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328269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roles of an Internet Gateway, a NAT Gateway, and a route table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" y="39410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25880" y="394106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Security Groups from Network ACLs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40080" y="4599432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40080" y="4599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459943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Route 53, CloudFront, Direct Connect, VPN, and Global Accelerator — and when each is the answer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475488" cy="47548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40080" y="52578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257800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most common networking traps on the exam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Everything Lives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ideas. Everything about how traffic finds its way through AWS comes down to these.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VPC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0584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isolated network in AWS — nearly everything else launches inside one.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7920" y="214884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42316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2423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23760" y="2468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or Out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10896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 decide whether a subnet is public or private — not a label.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601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64592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Traffic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00584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and Network ACLs guard traffic at two different levels.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411480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5379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23760" y="44348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Traffic There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507492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DNS, a CDN, and dedicated connectivity move traffic in and out efficiently.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IDEA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VPC: Your Own Private Network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 resource you launch sits inside a VPC — get comfortable with it now, since it underlies the rest of this course and the SAA exam after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486400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4128" y="2651760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417320" y="2606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is a logically isolated section of the AWS Cloud where you launch resources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24128" y="3255264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417320" y="32095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Spans an entire Region, but subdivided into subnets — each subnet pinned to one Availability Zone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24128" y="3858768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417320" y="381304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the IP address range and how it’s carved up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24128" y="4462272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417320" y="441655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everything you launch — EC2, RDS, and more — lives inside one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24128" y="5065776"/>
            <a:ext cx="237744" cy="237744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417320" y="50200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VPC is the network almost every other AWS service, and this entire course, builds 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5029200" cy="3840480"/>
          </a:xfrm>
          <a:prstGeom prst="roundRect">
            <a:avLst>
              <a:gd name="adj" fmla="val 285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2148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0" y="251460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Subnets decide public vs. private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858000" y="3063240"/>
            <a:ext cx="42976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is public or private because of its route table — not because of a label someone typed in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this wrong and you’ll assume a resource is protected when its route table actually exposes 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931920" cy="384048"/>
          </a:xfrm>
          <a:prstGeom prst="roundRect">
            <a:avLst>
              <a:gd name="adj" fmla="val 19048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NETWORKING IDEA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Makes a Subnet Public?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separates a student who understands VPC routing from one who doesn’t — and it’s simpler than it sounds.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 WITH NO IGW ROUTE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880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Nothing here is reachable from the internet — no route to an Internet Gateway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429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Perfect for a backend database — inbound traffic from the internet can’t reach it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9776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 But it also can’t reach OUT to the internet without help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4617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a private subnet looks like when it’s working as intended.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257800" cy="3566160"/>
          </a:xfrm>
          <a:prstGeom prst="roundRect">
            <a:avLst>
              <a:gd name="adj" fmla="val 307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2940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THE NAT GATEWAY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29400" y="28803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access, added deliberately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629400" y="320954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 in the public subnet lets private-subnet resources initiate outbound connections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629400" y="374904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still blocked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29400" y="40782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internet still can’t reach in — only the private resource can reach out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46177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doesn’t change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629400" y="494690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access doesn’t make the subnet public — no route to an IGW means it’s still private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subnet’s public/private status depends entirely on its route table — not on what’s running inside it, and not on what it’s named.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LAYERS OF FILTERING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vs. Network ACLs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0584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— INSTANCE LEVEL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traffic for an already-allowed connection is automatically allowed back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rules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can’t write an explicit deny — only what’s permitted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together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rules apply at once, no ordering to worry about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choice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instance-level access control happens here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257800" cy="4114800"/>
          </a:xfrm>
          <a:prstGeom prst="roundRect">
            <a:avLst>
              <a:gd name="adj" fmla="val 2667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62940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ACLS — SUBNET LEVEL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26243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traffic must be explicitly allowed — nothing is automatic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629400" y="31729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8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AND deny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9400" y="34655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to explicitly block a specific IP address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40142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in order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629400" y="430682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numbered and processed lowest-number first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29400" y="485546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backstop layer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514807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broader net behind every security group in the subnet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PIECES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Building Blocks — 4 Pieces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this module is built from four pieces — and it’s a real exam question.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isolated network itself — the container everything else lives inside.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08776" y="196596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208776" y="196596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74536" y="216712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Subnet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74536" y="269748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of the VPC pinned to one Availability Zone — public or private, based on its route 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40080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005840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VPC — gives a public subnet two-way access to the internet.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08776" y="4160520"/>
            <a:ext cx="5340096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208776" y="4160520"/>
            <a:ext cx="137160" cy="19659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574536" y="4361688"/>
            <a:ext cx="4745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74536" y="4892040"/>
            <a:ext cx="4700016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a public subnet — gives a private subnet outbound-only internet access.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6080760"/>
            <a:ext cx="10908792" cy="914"/>
          </a:xfrm>
          <a:prstGeom prst="round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match the component to the direction of traffic it controls — two-way (IGW) vs. outbound-only (NAT) is the most tested distinction here.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3291840" cy="384048"/>
          </a:xfrm>
          <a:prstGeom prst="roundRect">
            <a:avLst>
              <a:gd name="adj" fmla="val 19048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4572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GATEWAYS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vs. NAT Gateway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components that sound similar solve very different problems — and the exam tests whether you can tell them apart.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0584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Attached to the VPC — gives a public subnet two-way access to and from the internet.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 Gateway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76148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a public subnet — gives a private subnet outbound-only internet access.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interchangeable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is two-way and lives at the VPC level; the other is outbound-only and lives in a public subnet.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17920" y="36118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2E3E52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583680" y="3794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directions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83680" y="4178808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IGW asks “can traffic go both ways”; NAT Gateway asks “can this resource reach out without being reached.”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51560" y="530352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 to know:  a private subnet with a NAT Gateway can still initiate outbound connections — that doesn’t make it public. Only a route to an Internet Gateway does that.</a:t>
            </a:r>
            <a:pPr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F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NAMES TO ADDRESSES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Route 53 — DNS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domain name typed into a browser has to become an IP address somewhere — that’s Route 53’s job.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It Is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AWS’s Domain Name System (DNS) service — translates domain names like example.com into IP addresses.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4340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6344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How It Works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DNS records, handles domain registration, and offers health checks and routing policies.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38328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1965960"/>
            <a:ext cx="3383280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366760" y="2331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When You'd Use It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2743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scenario about resolving a domain name, managing DNS records, or routing users to the closest healthy endpoint.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502920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51560" y="5212080"/>
            <a:ext cx="10085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 angle:  anything about translating a domain name to an IP address, or DNS records generally, is Route 53 — full stop.</a:t>
            </a:r>
            <a:pPr indent="0" marL="0">
              <a:lnSpc>
                <a:spcPct val="103000"/>
              </a:lnSpc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TOOLKIT,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Networking Toolkit, at a Glance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jobs we’ve covered tonight, and the tools behind each one. The names matter less than the job each one does.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F8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+ subnets — the isolated network and how it’s carved up by Availability Zone.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858414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858414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7014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access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087014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(two-way) + NAT Gateway (outbound only) — control what can reach the internet.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76749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076749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5349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05349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(instance) + Network ACLs (subnet) — two layers of traffic rules.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295083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7295083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683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and caching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523683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 (DNS) + CloudFront (CDN) — resolve names and cache content close to users.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13418" y="2011680"/>
            <a:ext cx="2035454" cy="283464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513418" y="2011680"/>
            <a:ext cx="2035454" cy="146304"/>
          </a:xfrm>
          <a:prstGeom prst="roundRect">
            <a:avLst>
              <a:gd name="adj" fmla="val 12500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2018" y="2377440"/>
            <a:ext cx="157825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7A5C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connectivity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9742018" y="3154680"/>
            <a:ext cx="157825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+ Site-to-Site VPN — dedicated vs. fast-to-set-up links to on-premises.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51560" y="5257800"/>
            <a:ext cx="100858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location, direction, filtering, and delivery — four questions that resolve almost every networking scenario.</a:t>
            </a:r>
            <a:pPr indent="0" marL="0">
              <a:buNone/>
            </a:pPr>
            <a:r>
              <a:rPr lang="en-US" sz="15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BIGGER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Connection vs. Two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protects against one kind of failure. It doesn’t protect against that one link going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DIRECT CONNECT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dedicated circuit to AWS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point of failure</a:t>
            </a:r>
            <a:endParaRPr lang="en-US" sz="17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performance, higher cost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happens if that circuit goes down?”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965960"/>
            <a:ext cx="5257800" cy="3291840"/>
          </a:xfrm>
          <a:prstGeom prst="roundRect">
            <a:avLst>
              <a:gd name="adj" fmla="val 3333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294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+ VPN, PAIRED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29400" y="26974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as primary, Site-to-Site VPN as automatic backup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link is the only thing standing between you and a hybrid outage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D6D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failed circuit doesn’t mean total disconnection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43891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FD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“Layered connectivity is a deliberate design choice, not overkill.”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5321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Direct Connect with a VPN backup is a real design choice for hybrid workloads that can’t tolerate downtime — the same instinct as defense in depth or spreading across multiple Availability Zones.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Launch a Two-Tier Web App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startup needs public web servers and a private database, reachable worldwide with low latency. Let’s apply tonight’s toolkit.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101600" dist="38100" dir="5400000">
              <a:srgbClr val="C6CDD4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1488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8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servers and database need to be separated — one internet-facing, one not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updates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368503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needs to pull patches without ever accepting an inbound connection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1605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users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05840" y="446227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assets need to load quickly for users on every continent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49377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05840" y="523951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need to type a domain name, not an IP address, to reach the site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55080" y="1920240"/>
            <a:ext cx="5166360" cy="3794760"/>
          </a:xfrm>
          <a:prstGeom prst="roundRect">
            <a:avLst>
              <a:gd name="adj" fmla="val 2892"/>
            </a:avLst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720840" y="21488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TOOLKIT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5603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Public/private subnets + NAT Gateway + CloudFront + Route 53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20840" y="347472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needs, four different tools — isolation is public/private subnets, outbound-only access is a NAT Gateway, global speed is CloudFront, and the domain name is Route 53.</a:t>
            </a: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endParaRPr lang="en-US" sz="14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there’s no single “networking service” — real architectures are always several of these working together, exactly like defense in depth on the last slide.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OPEN THE CONSOLE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Preview: Finding Your Networking Tools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guess where networking concepts live in the AWS Console. Here’s where to look tonight.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console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create VPCs, subnets, route tables, and gateways.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 inside the VPC console — this is where you’d actually see whether a subnet routes to an IGW.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groups &amp; NACLs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live inside the VPC console, under Security — listed separately from each other.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dedicated console — where you manage hosted zones and DNS records.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console — where you create and manage distributions.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&amp; VPN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consoles — Direct Connect for physical connections, VPN for Site-to-Site VPN connections.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cue:  the exam won’t quiz you on console navigation directly, but knowing where a concept “lives” helps you recognize what a scenario is actually describing.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Questions, in Order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questions resolve almost every AWS networking scenario on the exam — this is worth writing down.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05840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resources live?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and subnets — the network they’re carved out of.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52544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52544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18304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Letting traffic in or out?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Gateway (two-way) or NAT Gateway (outbound only).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65008" y="19659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65008" y="19659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430768" y="21671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traffic?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30768" y="26974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Group (instance) or Network ACL (subnet).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40080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05840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a domain name?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52544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352544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718304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content close to users?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65008" y="4023360"/>
            <a:ext cx="348386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065008" y="4023360"/>
            <a:ext cx="137160" cy="1828800"/>
          </a:xfrm>
          <a:prstGeom prst="roundRect">
            <a:avLst>
              <a:gd name="adj" fmla="val 13333"/>
            </a:avLst>
          </a:prstGeom>
          <a:solidFill>
            <a:srgbClr val="B7791F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8430768" y="422452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 physical location?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30768" y="4754880"/>
            <a:ext cx="28437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 (dedicated) or VPN (fast, over the internet).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59436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pattern:  work through these six questions in order, and almost every AWS networking scenario resolves cleanly.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THESE FOR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Networking Services, Side by Side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services, one job each. The exam gives you a scenario and asks which service fits — match the verb to the tool.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0908792" cy="576072"/>
          </a:xfrm>
          <a:prstGeom prst="rect">
            <a:avLst/>
          </a:prstGeom>
          <a:solidFill>
            <a:srgbClr val="232F3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92024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39312" y="192024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205472" y="192024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857232" y="192024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496312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496312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53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9312" y="2496312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domain names to IP addresses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05472" y="2496312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857232" y="2496312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domain-name-to-IP scenario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3072384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04672" y="3072384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39312" y="3072384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content at edge locations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205472" y="3072384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857232" y="3072384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delivery to users worldwide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3648456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804672" y="3648456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Connect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39312" y="3648456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physical connection to AWS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205472" y="3648456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connectivity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57232" y="3648456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high-bandwidth needs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40080" y="4224528"/>
            <a:ext cx="10908792" cy="576072"/>
          </a:xfrm>
          <a:prstGeom prst="rect">
            <a:avLst/>
          </a:prstGeom>
          <a:solidFill>
            <a:srgbClr val="EDF1F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4224528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39312" y="4224528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connection over the internet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205472" y="4224528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connectivity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9857232" y="4224528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setup, backup connectivity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40080" y="4800600"/>
            <a:ext cx="10908792" cy="57607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4800600"/>
            <a:ext cx="257860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Accelerator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39312" y="4800600"/>
            <a:ext cx="33101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app traffic over AWS’s private backbone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205472" y="4800600"/>
            <a:ext cx="2395728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routing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857232" y="4800600"/>
            <a:ext cx="16002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apps needing better performance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640080" y="1920240"/>
            <a:ext cx="10908792" cy="3456432"/>
          </a:xfrm>
          <a:prstGeom prst="rect">
            <a:avLst/>
          </a:prstGeom>
          <a:ln w="12700">
            <a:solidFill>
              <a:srgbClr val="DCE1E6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080" y="56235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if a scenario names a specific kind of naming, caching, or connecting, match the verb to the tool — precise matching beats general networking vocabulary.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SIT THE EXAM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Networking: The Traps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makes a subnet public?”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route table has a route to an Internet Gateway — not a label, not what’s running inside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52544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352544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718304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private database needs to download a patch — what allows that?”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18304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 Gateway — outbound only, never inbound. Not an Internet Gateway.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65008" y="169164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65008" y="169164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430768" y="189280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 to explicitly block one IP address — what tool?”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30768" y="242316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ACL — security groups can only allow, never deny.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05840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“Users worldwide need video content to load fast — what service?”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05840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— a CDN caches content at edge locations close to users.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52544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352544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718304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 consistent performance to AWS, unaffected by internet congestion — what connection?”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18304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Direct Connect — a dedicated physical circuit, not a VPN.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65008" y="4114800"/>
            <a:ext cx="3483864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8065008" y="4114800"/>
            <a:ext cx="137160" cy="2194560"/>
          </a:xfrm>
          <a:prstGeom prst="roundRect">
            <a:avLst>
              <a:gd name="adj" fmla="val 13333"/>
            </a:avLst>
          </a:prstGeom>
          <a:solidFill>
            <a:srgbClr val="4B6584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430768" y="4315968"/>
            <a:ext cx="2889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“Need a hybrid connection set up quickly, encrypted over the internet — what connection?”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30768" y="4846320"/>
            <a:ext cx="284378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Site-to-Site VPN — fast to configure, though subject to internet conditions.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BREAK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Hands-On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892808"/>
            <a:ext cx="548640" cy="548640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928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83794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Network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691640" y="221284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components into a two-tier VPC diagram — and see how a subnet’s classification actually gets decided.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14400" y="2990088"/>
            <a:ext cx="548640" cy="548640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2990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91640" y="293522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 Service Hunt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691640" y="331012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teams: given a scenario, find and defend the right networking or content-delivery service.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4087368"/>
            <a:ext cx="548640" cy="548640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40873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91640" y="403250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table check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691640" y="440740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We’ll trace through a real route table together and decide, live, whether a subnet is public or private.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10908792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14400" y="5184648"/>
            <a:ext cx="548640" cy="548640"/>
          </a:xfrm>
          <a:prstGeom prst="ellipse">
            <a:avLst/>
          </a:prstGeom>
          <a:solidFill>
            <a:srgbClr val="7A5C9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" y="51846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5129784"/>
            <a:ext cx="95371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Academy Module 5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691640" y="5504688"/>
            <a:ext cx="9445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online module content and the knowledge check.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C72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CLASS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Assignment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2029968"/>
            <a:ext cx="566928" cy="566928"/>
          </a:xfrm>
          <a:prstGeom prst="ellipse">
            <a:avLst/>
          </a:prstGeom>
          <a:solidFill>
            <a:srgbClr val="EC7211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6012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AWS Academy Module 5 + knowledge check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83080" y="232257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Including the VPC and connectivity sections. Aim for 80%+ on the first attempt.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60120" y="3355848"/>
            <a:ext cx="566928" cy="566928"/>
          </a:xfrm>
          <a:prstGeom prst="ellipse">
            <a:avLst/>
          </a:prstGeom>
          <a:solidFill>
            <a:srgbClr val="1E8FA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60120" y="33558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83080" y="324612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the two-tier VPC diagram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364845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memory, without looking at your notes — public subnet, private subnet, and the pieces connecting them.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1E6"/>
            </a:solidFill>
            <a:prstDash val="solid"/>
          </a:ln>
          <a:effectLst>
            <a:outerShdw sx="100000" sy="100000" kx="0" ky="0" algn="bl" rotWithShape="0" blurRad="88900" dist="25400" dir="5400000">
              <a:srgbClr val="CBD2D8">
                <a:alpha val="50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" y="4681728"/>
            <a:ext cx="566928" cy="566928"/>
          </a:xfrm>
          <a:prstGeom prst="ellipse">
            <a:avLst/>
          </a:prstGeom>
          <a:solidFill>
            <a:srgbClr val="1F8A38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4681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83080" y="4572000"/>
            <a:ext cx="94457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networking service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783080" y="4974336"/>
            <a:ext cx="93543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tonight’s toolkit, explain what it does in your own words, no notes.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 Compute — EC2, instance types, and how AWS actually runs your workloads.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SAA-A  ·  Lecture 5  ·  Networking and Content Delivery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0023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3474720"/>
            <a:ext cx="4754880" cy="475488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280160"/>
            <a:ext cx="4023360" cy="4023360"/>
          </a:xfrm>
          <a:prstGeom prst="ellipse">
            <a:avLst/>
          </a:prstGeom>
          <a:solidFill>
            <a:srgbClr val="FF9900">
              <a:alpha val="12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let’s go</a:t>
            </a:r>
            <a:endParaRPr lang="en-US" sz="42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this out.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Ten-minute break — then Build the Network and the networking service hunt.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892040"/>
            <a:ext cx="5486400" cy="0"/>
          </a:xfrm>
          <a:prstGeom prst="line">
            <a:avLst/>
          </a:prstGeom>
          <a:noFill/>
          <a:ln w="12700">
            <a:solidFill>
              <a:srgbClr val="44536A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Mycal “Mike” Brown    ·    AWS Certified Solutions Architect – Associate  ·  Wake Tech</a:t>
            </a:r>
            <a:pPr indent="0" marL="0">
              <a:buNone/>
            </a:pPr>
            <a:r>
              <a:rPr lang="en-US" sz="1300" dirty="0">
                <a:solidFill>
                  <a:srgbClr val="8A97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Wake Technical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Mycal 'Mike' Brown</dc:creator>
  <cp:lastModifiedBy>Mycal 'Mike' Brown</cp:lastModifiedBy>
  <cp:revision>1</cp:revision>
  <dcterms:created xsi:type="dcterms:W3CDTF">2026-07-23T16:52:16Z</dcterms:created>
  <dcterms:modified xsi:type="dcterms:W3CDTF">2026-07-23T16:52:16Z</dcterms:modified>
</cp:coreProperties>
</file>