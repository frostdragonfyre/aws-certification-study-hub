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xml"/><Relationship Id="rId31" Type="http://schemas.openxmlformats.org/officeDocument/2006/relationships/slide" Target="slides/slide2.xml"/><Relationship Id="rId32" Type="http://schemas.openxmlformats.org/officeDocument/2006/relationships/slide" Target="slides/slide3.xml"/><Relationship Id="rId33" Type="http://schemas.openxmlformats.org/officeDocument/2006/relationships/slide" Target="slides/slide4.xml"/><Relationship Id="rId34" Type="http://schemas.openxmlformats.org/officeDocument/2006/relationships/slide" Target="slides/slide5.xml"/><Relationship Id="rId35" Type="http://schemas.openxmlformats.org/officeDocument/2006/relationships/slide" Target="slides/slide6.xml"/><Relationship Id="rId36" Type="http://schemas.openxmlformats.org/officeDocument/2006/relationships/slide" Target="slides/slide7.xml"/><Relationship Id="rId37" Type="http://schemas.openxmlformats.org/officeDocument/2006/relationships/slide" Target="slides/slide8.xml"/><Relationship Id="rId38" Type="http://schemas.openxmlformats.org/officeDocument/2006/relationships/slide" Target="slides/slide9.xml"/><Relationship Id="rId39" Type="http://schemas.openxmlformats.org/officeDocument/2006/relationships/slide" Target="slides/slide10.xml"/><Relationship Id="rId40" Type="http://schemas.openxmlformats.org/officeDocument/2006/relationships/slide" Target="slides/slide11.xml"/><Relationship Id="rId41" Type="http://schemas.openxmlformats.org/officeDocument/2006/relationships/slide" Target="slides/slide12.xml"/><Relationship Id="rId42" Type="http://schemas.openxmlformats.org/officeDocument/2006/relationships/slide" Target="slides/slide13.xml"/><Relationship Id="rId43" Type="http://schemas.openxmlformats.org/officeDocument/2006/relationships/slide" Target="slides/slide14.xml"/><Relationship Id="rId44" Type="http://schemas.openxmlformats.org/officeDocument/2006/relationships/slide" Target="slides/slide15.xml"/><Relationship Id="rId45" Type="http://schemas.openxmlformats.org/officeDocument/2006/relationships/slide" Target="slides/slide16.xml"/><Relationship Id="rId46" Type="http://schemas.openxmlformats.org/officeDocument/2006/relationships/slide" Target="slides/slide17.xml"/><Relationship Id="rId47" Type="http://schemas.openxmlformats.org/officeDocument/2006/relationships/slide" Target="slides/slide18.xml"/><Relationship Id="rId48" Type="http://schemas.openxmlformats.org/officeDocument/2006/relationships/slide" Target="slides/slide19.xml"/><Relationship Id="rId49"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961120" y="-1280160"/>
            <a:ext cx="4754880" cy="4754880"/>
          </a:xfrm>
          <a:prstGeom prst="ellipse">
            <a:avLst/>
          </a:prstGeom>
          <a:solidFill>
            <a:srgbClr val="FF9900">
              <a:alpha val="18000"/>
            </a:srgbClr>
          </a:solidFill>
          <a:ln/>
        </p:spPr>
        <p:txBody>
          <a:bodyPr/>
          <a:p/>
        </p:txBody>
      </p:sp>
      <p:sp>
        <p:nvSpPr>
          <p:cNvPr id="3" name="Shape 1"/>
          <p:cNvSpPr/>
          <p:nvPr/>
        </p:nvSpPr>
        <p:spPr>
          <a:xfrm>
            <a:off x="10058400" y="365760"/>
            <a:ext cx="3108960" cy="3108960"/>
          </a:xfrm>
          <a:prstGeom prst="ellipse">
            <a:avLst/>
          </a:prstGeom>
          <a:solidFill>
            <a:srgbClr val="FF9900">
              <a:alpha val="30000"/>
            </a:srgbClr>
          </a:solidFill>
          <a:ln/>
        </p:spPr>
        <p:txBody>
          <a:bodyPr/>
          <a:p/>
        </p:txBody>
      </p:sp>
      <p:sp>
        <p:nvSpPr>
          <p:cNvPr id="4" name="Shape 2"/>
          <p:cNvSpPr/>
          <p:nvPr/>
        </p:nvSpPr>
        <p:spPr>
          <a:xfrm>
            <a:off x="9509760" y="1463040"/>
            <a:ext cx="2011680" cy="2011680"/>
          </a:xfrm>
          <a:prstGeom prst="ellipse">
            <a:avLst/>
          </a:prstGeom>
          <a:solidFill>
            <a:srgbClr val="FF9900"/>
          </a:solidFill>
          <a:ln/>
        </p:spPr>
        <p:txBody>
          <a:bodyPr/>
          <a:p/>
        </p:txBody>
      </p:sp>
      <p:sp>
        <p:nvSpPr>
          <p:cNvPr id="5" name="Text 3"/>
          <p:cNvSpPr/>
          <p:nvPr/>
        </p:nvSpPr>
        <p:spPr>
          <a:xfrm>
            <a:off x="9509760" y="1463040"/>
            <a:ext cx="2011680" cy="2011680"/>
          </a:xfrm>
          <a:prstGeom prst="rect">
            <a:avLst/>
          </a:prstGeom>
          <a:noFill/>
          <a:ln/>
        </p:spPr>
        <p:txBody>
          <a:bodyPr wrap="square" rtlCol="0" anchor="ctr"/>
          <a:lstStyle/>
          <a:p>
            <a:pPr algn="ctr" indent="0" marL="0">
              <a:buNone/>
            </a:pPr>
            <a:r>
              <a:rPr lang="en-US" sz="4800" b="1" dirty="0">
                <a:solidFill>
                  <a:srgbClr val="232F3E"/>
                </a:solidFill>
                <a:latin typeface="Calibri" pitchFamily="34" charset="0"/>
                <a:ea typeface="Calibri" pitchFamily="34" charset="-122"/>
                <a:cs typeface="Calibri" pitchFamily="34" charset="-120"/>
              </a:rPr>
              <a:t>7</a:t>
            </a:r>
            <a:endParaRPr lang="en-US" sz="4800" dirty="0"/>
          </a:p>
        </p:txBody>
      </p:sp>
      <p:sp>
        <p:nvSpPr>
          <p:cNvPr id="6" name="Text 4"/>
          <p:cNvSpPr/>
          <p:nvPr/>
        </p:nvSpPr>
        <p:spPr>
          <a:xfrm>
            <a:off x="640080" y="1051560"/>
            <a:ext cx="8229600" cy="320040"/>
          </a:xfrm>
          <a:prstGeom prst="rect">
            <a:avLst/>
          </a:prstGeom>
          <a:noFill/>
          <a:ln/>
        </p:spPr>
        <p:txBody>
          <a:bodyPr wrap="square"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MODULE 7  ·  AWS ACADEMY CLOUD FOUNDATIONS</a:t>
            </a:r>
            <a:endParaRPr lang="en-US" sz="1300" dirty="0"/>
          </a:p>
        </p:txBody>
      </p:sp>
      <p:sp>
        <p:nvSpPr>
          <p:cNvPr id="7" name="Text 5"/>
          <p:cNvSpPr/>
          <p:nvPr/>
        </p:nvSpPr>
        <p:spPr>
          <a:xfrm>
            <a:off x="640080" y="1600200"/>
            <a:ext cx="8229600" cy="1828800"/>
          </a:xfrm>
          <a:prstGeom prst="rect">
            <a:avLst/>
          </a:prstGeom>
          <a:noFill/>
          <a:ln/>
        </p:spPr>
        <p:txBody>
          <a:bodyPr wrap="square" rtlCol="0" anchor="ctr"/>
          <a:lstStyle/>
          <a:p>
            <a:pPr indent="0" marL="0">
              <a:lnSpc>
                <a:spcPct val="98000"/>
              </a:lnSpc>
              <a:buNone/>
            </a:pPr>
            <a:r>
              <a:rPr lang="en-US" sz="4600" b="1" dirty="0">
                <a:solidFill>
                  <a:srgbClr val="FFFFFF"/>
                </a:solidFill>
                <a:latin typeface="Calibri" pitchFamily="34" charset="0"/>
                <a:ea typeface="Calibri" pitchFamily="34" charset="-122"/>
                <a:cs typeface="Calibri" pitchFamily="34" charset="-120"/>
              </a:rPr>
              <a:t>Storage,</a:t>
            </a:r>
            <a:endParaRPr lang="en-US" sz="4600" dirty="0"/>
          </a:p>
          <a:p>
            <a:pPr indent="0" marL="0">
              <a:lnSpc>
                <a:spcPct val="98000"/>
              </a:lnSpc>
              <a:buNone/>
            </a:pPr>
            <a:r>
              <a:rPr lang="en-US" sz="4600" b="1" dirty="0">
                <a:solidFill>
                  <a:srgbClr val="FFFFFF"/>
                </a:solidFill>
                <a:latin typeface="Calibri" pitchFamily="34" charset="0"/>
                <a:ea typeface="Calibri" pitchFamily="34" charset="-122"/>
                <a:cs typeface="Calibri" pitchFamily="34" charset="-120"/>
              </a:rPr>
              <a:t>Sorted</a:t>
            </a:r>
            <a:endParaRPr lang="en-US" sz="4600" dirty="0"/>
          </a:p>
        </p:txBody>
      </p:sp>
      <p:sp>
        <p:nvSpPr>
          <p:cNvPr id="8" name="Text 6"/>
          <p:cNvSpPr/>
          <p:nvPr/>
        </p:nvSpPr>
        <p:spPr>
          <a:xfrm>
            <a:off x="640080" y="3611880"/>
            <a:ext cx="8229600" cy="457200"/>
          </a:xfrm>
          <a:prstGeom prst="rect">
            <a:avLst/>
          </a:prstGeom>
          <a:noFill/>
          <a:ln/>
        </p:spPr>
        <p:txBody>
          <a:bodyPr wrap="square" rtlCol="0" anchor="ctr"/>
          <a:lstStyle/>
          <a:p>
            <a:pPr indent="0" marL="0">
              <a:buNone/>
            </a:pPr>
            <a:r>
              <a:rPr lang="en-US" sz="2200" dirty="0">
                <a:solidFill>
                  <a:srgbClr val="CADCE8"/>
                </a:solidFill>
                <a:latin typeface="Calibri" pitchFamily="34" charset="0"/>
                <a:ea typeface="Calibri" pitchFamily="34" charset="-122"/>
                <a:cs typeface="Calibri" pitchFamily="34" charset="-120"/>
              </a:rPr>
              <a:t>Lecture 7  —  Object, Block, and File Storage, and Where Data Actually Lives</a:t>
            </a:r>
            <a:endParaRPr lang="en-US" sz="2200" dirty="0"/>
          </a:p>
        </p:txBody>
      </p:sp>
      <p:sp>
        <p:nvSpPr>
          <p:cNvPr id="9" name="Shape 7"/>
          <p:cNvSpPr/>
          <p:nvPr/>
        </p:nvSpPr>
        <p:spPr>
          <a:xfrm>
            <a:off x="640080" y="5074920"/>
            <a:ext cx="5120640" cy="0"/>
          </a:xfrm>
          <a:prstGeom prst="line">
            <a:avLst/>
          </a:prstGeom>
          <a:noFill/>
          <a:ln w="12700">
            <a:solidFill>
              <a:srgbClr val="44536A"/>
            </a:solidFill>
            <a:prstDash val="solid"/>
          </a:ln>
        </p:spPr>
        <p:txBody>
          <a:bodyPr/>
          <a:p/>
        </p:txBody>
      </p:sp>
      <p:sp>
        <p:nvSpPr>
          <p:cNvPr id="10" name="Text 8"/>
          <p:cNvSpPr/>
          <p:nvPr/>
        </p:nvSpPr>
        <p:spPr>
          <a:xfrm>
            <a:off x="640080" y="5212080"/>
            <a:ext cx="8229600" cy="320040"/>
          </a:xfrm>
          <a:prstGeom prst="rect">
            <a:avLst/>
          </a:prstGeom>
          <a:noFill/>
          <a:ln/>
        </p:spPr>
        <p:txBody>
          <a:bodyPr wrap="square" rtlCol="0" anchor="ctr"/>
          <a:lstStyle/>
          <a:p>
            <a:pPr indent="0" marL="0">
              <a:buNone/>
            </a:pPr>
            <a:r>
              <a:rPr lang="en-US" sz="1300" dirty="0">
                <a:solidFill>
                  <a:srgbClr val="8A97A6"/>
                </a:solidFill>
                <a:latin typeface="Calibri" pitchFamily="34" charset="0"/>
                <a:ea typeface="Calibri" pitchFamily="34" charset="-122"/>
                <a:cs typeface="Calibri" pitchFamily="34" charset="-120"/>
              </a:rPr>
              <a:t>Instructor  Dr. Mycal “Mike” Brown</a:t>
            </a:r>
            <a:pPr indent="0" marL="0">
              <a:buNone/>
            </a:pPr>
            <a:r>
              <a:rPr lang="en-US" sz="1500" b="1" dirty="0">
                <a:solidFill>
                  <a:srgbClr val="FFFFFF"/>
                </a:solidFill>
                <a:latin typeface="Calibri" pitchFamily="34" charset="0"/>
                <a:ea typeface="Calibri" pitchFamily="34" charset="-122"/>
                <a:cs typeface="Calibri" pitchFamily="34" charset="-120"/>
              </a:rPr>
              <a:t/>
            </a:r>
            <a:endParaRPr lang="en-US" sz="1300" dirty="0"/>
          </a:p>
        </p:txBody>
      </p:sp>
      <p:sp>
        <p:nvSpPr>
          <p:cNvPr id="11" name="Text 9"/>
          <p:cNvSpPr/>
          <p:nvPr/>
        </p:nvSpPr>
        <p:spPr>
          <a:xfrm>
            <a:off x="640080" y="5532120"/>
            <a:ext cx="8229600" cy="320040"/>
          </a:xfrm>
          <a:prstGeom prst="rect">
            <a:avLst/>
          </a:prstGeom>
          <a:noFill/>
          <a:ln/>
        </p:spPr>
        <p:txBody>
          <a:bodyPr wrap="square" rtlCol="0" anchor="ctr"/>
          <a:lstStyle/>
          <a:p>
            <a:pPr indent="0" marL="0">
              <a:buNone/>
            </a:pPr>
            <a:r>
              <a:rPr lang="en-US" sz="1200" i="1" dirty="0">
                <a:solidFill>
                  <a:srgbClr val="8A97A6"/>
                </a:solidFill>
                <a:latin typeface="Calibri" pitchFamily="34" charset="0"/>
                <a:ea typeface="Calibri" pitchFamily="34" charset="-122"/>
                <a:cs typeface="Calibri" pitchFamily="34" charset="-120"/>
              </a:rPr>
              <a:t>Domain 3 finishes here — three storage types, one S3 spectrum of its own, and the tools that move and protect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BEFORE WE START</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Question of the Day</a:t>
            </a:r>
            <a:endParaRPr lang="en-US" sz="3200" dirty="0"/>
          </a:p>
        </p:txBody>
      </p:sp>
      <p:sp>
        <p:nvSpPr>
          <p:cNvPr id="4" name="Shape 2"/>
          <p:cNvSpPr/>
          <p:nvPr/>
        </p:nvSpPr>
        <p:spPr>
          <a:xfrm>
            <a:off x="640080" y="1554480"/>
            <a:ext cx="10908792" cy="1371600"/>
          </a:xfrm>
          <a:prstGeom prst="roundRect">
            <a:avLst>
              <a:gd name="adj" fmla="val 8000"/>
            </a:avLst>
          </a:prstGeom>
          <a:solidFill>
            <a:srgbClr val="232F3E"/>
          </a:solidFill>
          <a:ln/>
        </p:spPr>
        <p:txBody>
          <a:bodyPr/>
          <a:p/>
        </p:txBody>
      </p:sp>
      <p:sp>
        <p:nvSpPr>
          <p:cNvPr id="5" name="Text 3"/>
          <p:cNvSpPr/>
          <p:nvPr/>
        </p:nvSpPr>
        <p:spPr>
          <a:xfrm>
            <a:off x="1097280" y="1783080"/>
            <a:ext cx="9994392" cy="5486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“What's the difference between EC2 purchasing options and EC2 instance types, and why does mixing them up cause problems?”</a:t>
            </a:r>
            <a:endParaRPr lang="en-US" sz="2400" dirty="0"/>
          </a:p>
        </p:txBody>
      </p:sp>
      <p:sp>
        <p:nvSpPr>
          <p:cNvPr id="6" name="Text 4"/>
          <p:cNvSpPr/>
          <p:nvPr/>
        </p:nvSpPr>
        <p:spPr>
          <a:xfrm>
            <a:off x="1097280" y="2331720"/>
            <a:ext cx="9994392" cy="365760"/>
          </a:xfrm>
          <a:prstGeom prst="rect">
            <a:avLst/>
          </a:prstGeom>
          <a:noFill/>
          <a:ln/>
        </p:spPr>
        <p:txBody>
          <a:bodyPr wrap="square" rtlCol="0" anchor="ctr"/>
          <a:lstStyle/>
          <a:p>
            <a:pPr indent="0" marL="0">
              <a:buNone/>
            </a:pPr>
            <a:r>
              <a:rPr lang="en-US" sz="1400" i="1" dirty="0">
                <a:solidFill>
                  <a:srgbClr val="AEB9C6"/>
                </a:solidFill>
                <a:latin typeface="Calibri" pitchFamily="34" charset="0"/>
                <a:ea typeface="Calibri" pitchFamily="34" charset="-122"/>
                <a:cs typeface="Calibri" pitchFamily="34" charset="-120"/>
              </a:rPr>
              <a:t>Your ticket in the door. Nobody leaves without being able to answer it.</a:t>
            </a:r>
            <a:endParaRPr lang="en-US" sz="1400" dirty="0"/>
          </a:p>
        </p:txBody>
      </p:sp>
      <p:sp>
        <p:nvSpPr>
          <p:cNvPr id="7" name="Text 5"/>
          <p:cNvSpPr/>
          <p:nvPr/>
        </p:nvSpPr>
        <p:spPr>
          <a:xfrm>
            <a:off x="640080" y="3154680"/>
            <a:ext cx="5486400" cy="36576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Where Lecture 6 left us</a:t>
            </a:r>
            <a:endParaRPr lang="en-US" sz="1800" dirty="0"/>
          </a:p>
        </p:txBody>
      </p:sp>
      <p:sp>
        <p:nvSpPr>
          <p:cNvPr id="8" name="Shape 6"/>
          <p:cNvSpPr/>
          <p:nvPr/>
        </p:nvSpPr>
        <p:spPr>
          <a:xfrm>
            <a:off x="640080"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9" name="Shape 7"/>
          <p:cNvSpPr/>
          <p:nvPr/>
        </p:nvSpPr>
        <p:spPr>
          <a:xfrm>
            <a:off x="640080" y="3611880"/>
            <a:ext cx="137160" cy="1828800"/>
          </a:xfrm>
          <a:prstGeom prst="roundRect">
            <a:avLst>
              <a:gd name="adj" fmla="val 13333"/>
            </a:avLst>
          </a:prstGeom>
          <a:solidFill>
            <a:srgbClr val="1E8FA5"/>
          </a:solidFill>
          <a:ln/>
        </p:spPr>
        <p:txBody>
          <a:bodyPr/>
          <a:p/>
        </p:txBody>
      </p:sp>
      <p:sp>
        <p:nvSpPr>
          <p:cNvPr id="10" name="Text 8"/>
          <p:cNvSpPr/>
          <p:nvPr/>
        </p:nvSpPr>
        <p:spPr>
          <a:xfrm>
            <a:off x="1005840"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The compute spectrum</a:t>
            </a:r>
            <a:endParaRPr lang="en-US" sz="1600" dirty="0"/>
          </a:p>
        </p:txBody>
      </p:sp>
      <p:sp>
        <p:nvSpPr>
          <p:cNvPr id="11" name="Text 9"/>
          <p:cNvSpPr/>
          <p:nvPr/>
        </p:nvSpPr>
        <p:spPr>
          <a:xfrm>
            <a:off x="1005840"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EC2, containers, Lambda, and Elastic Beanstalk — full control to zero infrastructure.</a:t>
            </a:r>
            <a:endParaRPr lang="en-US" sz="1300" dirty="0"/>
          </a:p>
        </p:txBody>
      </p:sp>
      <p:sp>
        <p:nvSpPr>
          <p:cNvPr id="12" name="Shape 10"/>
          <p:cNvSpPr/>
          <p:nvPr/>
        </p:nvSpPr>
        <p:spPr>
          <a:xfrm>
            <a:off x="4352544"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3" name="Shape 11"/>
          <p:cNvSpPr/>
          <p:nvPr/>
        </p:nvSpPr>
        <p:spPr>
          <a:xfrm>
            <a:off x="4352544" y="3611880"/>
            <a:ext cx="137160" cy="1828800"/>
          </a:xfrm>
          <a:prstGeom prst="roundRect">
            <a:avLst>
              <a:gd name="adj" fmla="val 13333"/>
            </a:avLst>
          </a:prstGeom>
          <a:solidFill>
            <a:srgbClr val="EC7211"/>
          </a:solidFill>
          <a:ln/>
        </p:spPr>
        <p:txBody>
          <a:bodyPr/>
          <a:p/>
        </p:txBody>
      </p:sp>
      <p:sp>
        <p:nvSpPr>
          <p:cNvPr id="14" name="Text 12"/>
          <p:cNvSpPr/>
          <p:nvPr/>
        </p:nvSpPr>
        <p:spPr>
          <a:xfrm>
            <a:off x="4718304"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Purchasing options</a:t>
            </a:r>
            <a:endParaRPr lang="en-US" sz="1600" dirty="0"/>
          </a:p>
        </p:txBody>
      </p:sp>
      <p:sp>
        <p:nvSpPr>
          <p:cNvPr id="15" name="Text 13"/>
          <p:cNvSpPr/>
          <p:nvPr/>
        </p:nvSpPr>
        <p:spPr>
          <a:xfrm>
            <a:off x="4718304"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On-Demand, Reserved, Savings Plans, and Spot — how you pay is a separate question from what you run.</a:t>
            </a:r>
            <a:endParaRPr lang="en-US" sz="1300" dirty="0"/>
          </a:p>
        </p:txBody>
      </p:sp>
      <p:sp>
        <p:nvSpPr>
          <p:cNvPr id="16" name="Shape 14"/>
          <p:cNvSpPr/>
          <p:nvPr/>
        </p:nvSpPr>
        <p:spPr>
          <a:xfrm>
            <a:off x="8065008" y="361188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7" name="Shape 15"/>
          <p:cNvSpPr/>
          <p:nvPr/>
        </p:nvSpPr>
        <p:spPr>
          <a:xfrm>
            <a:off x="8065008" y="3611880"/>
            <a:ext cx="137160" cy="1828800"/>
          </a:xfrm>
          <a:prstGeom prst="roundRect">
            <a:avLst>
              <a:gd name="adj" fmla="val 13333"/>
            </a:avLst>
          </a:prstGeom>
          <a:solidFill>
            <a:srgbClr val="1F8A38"/>
          </a:solidFill>
          <a:ln/>
        </p:spPr>
        <p:txBody>
          <a:bodyPr/>
          <a:p/>
        </p:txBody>
      </p:sp>
      <p:sp>
        <p:nvSpPr>
          <p:cNvPr id="18" name="Text 16"/>
          <p:cNvSpPr/>
          <p:nvPr/>
        </p:nvSpPr>
        <p:spPr>
          <a:xfrm>
            <a:off x="8430768" y="381304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Tonight: where all of that data lives</a:t>
            </a:r>
            <a:endParaRPr lang="en-US" sz="1600" dirty="0"/>
          </a:p>
        </p:txBody>
      </p:sp>
      <p:sp>
        <p:nvSpPr>
          <p:cNvPr id="19" name="Text 17"/>
          <p:cNvSpPr/>
          <p:nvPr/>
        </p:nvSpPr>
        <p:spPr>
          <a:xfrm>
            <a:off x="8430768" y="434340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Every compute option eventually reads or writes data somewhere — tonight is that somewhere.</a:t>
            </a:r>
            <a:endParaRPr lang="en-US" sz="1300" dirty="0"/>
          </a:p>
        </p:txBody>
      </p:sp>
      <p:sp>
        <p:nvSpPr>
          <p:cNvPr id="20" name="Text 1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1" name="Text 1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TONIGHT'S MISSION</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What You'll Be Able to Do</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By the end of this session you should be able to…</a:t>
            </a:r>
            <a:endParaRPr lang="en-US" sz="1500" dirty="0"/>
          </a:p>
        </p:txBody>
      </p:sp>
      <p:sp>
        <p:nvSpPr>
          <p:cNvPr id="5" name="Shape 3"/>
          <p:cNvSpPr/>
          <p:nvPr/>
        </p:nvSpPr>
        <p:spPr>
          <a:xfrm>
            <a:off x="640080" y="1965960"/>
            <a:ext cx="475488" cy="475488"/>
          </a:xfrm>
          <a:prstGeom prst="ellipse">
            <a:avLst/>
          </a:prstGeom>
          <a:solidFill>
            <a:srgbClr val="EC7211"/>
          </a:solidFill>
          <a:ln/>
        </p:spPr>
        <p:txBody>
          <a:bodyPr/>
          <a:p/>
        </p:txBody>
      </p:sp>
      <p:sp>
        <p:nvSpPr>
          <p:cNvPr id="6" name="Text 4"/>
          <p:cNvSpPr/>
          <p:nvPr/>
        </p:nvSpPr>
        <p:spPr>
          <a:xfrm>
            <a:off x="640080" y="1965960"/>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1965960"/>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Distinguish object, block, and file storage, and name the AWS service for each</a:t>
            </a:r>
            <a:endParaRPr lang="en-US" sz="1550" dirty="0"/>
          </a:p>
        </p:txBody>
      </p:sp>
      <p:sp>
        <p:nvSpPr>
          <p:cNvPr id="8" name="Shape 6"/>
          <p:cNvSpPr/>
          <p:nvPr/>
        </p:nvSpPr>
        <p:spPr>
          <a:xfrm>
            <a:off x="640080" y="2624328"/>
            <a:ext cx="475488" cy="475488"/>
          </a:xfrm>
          <a:prstGeom prst="ellipse">
            <a:avLst/>
          </a:prstGeom>
          <a:solidFill>
            <a:srgbClr val="EC7211"/>
          </a:solidFill>
          <a:ln/>
        </p:spPr>
        <p:txBody>
          <a:bodyPr/>
          <a:p/>
        </p:txBody>
      </p:sp>
      <p:sp>
        <p:nvSpPr>
          <p:cNvPr id="9" name="Text 7"/>
          <p:cNvSpPr/>
          <p:nvPr/>
        </p:nvSpPr>
        <p:spPr>
          <a:xfrm>
            <a:off x="640080" y="2624328"/>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25880" y="2624328"/>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Describe Amazon S3 and its core storage classes, and match a scenario to the right class</a:t>
            </a:r>
            <a:endParaRPr lang="en-US" sz="1550" dirty="0"/>
          </a:p>
        </p:txBody>
      </p:sp>
      <p:sp>
        <p:nvSpPr>
          <p:cNvPr id="11" name="Shape 9"/>
          <p:cNvSpPr/>
          <p:nvPr/>
        </p:nvSpPr>
        <p:spPr>
          <a:xfrm>
            <a:off x="640080" y="3282696"/>
            <a:ext cx="475488" cy="475488"/>
          </a:xfrm>
          <a:prstGeom prst="ellipse">
            <a:avLst/>
          </a:prstGeom>
          <a:solidFill>
            <a:srgbClr val="EC7211"/>
          </a:solidFill>
          <a:ln/>
        </p:spPr>
        <p:txBody>
          <a:bodyPr/>
          <a:p/>
        </p:txBody>
      </p:sp>
      <p:sp>
        <p:nvSpPr>
          <p:cNvPr id="12" name="Text 10"/>
          <p:cNvSpPr/>
          <p:nvPr/>
        </p:nvSpPr>
        <p:spPr>
          <a:xfrm>
            <a:off x="640080" y="3282696"/>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325880" y="3282696"/>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Describe Amazon EBS and explain when it's the right choice over S3</a:t>
            </a:r>
            <a:endParaRPr lang="en-US" sz="1550" dirty="0"/>
          </a:p>
        </p:txBody>
      </p:sp>
      <p:sp>
        <p:nvSpPr>
          <p:cNvPr id="14" name="Shape 12"/>
          <p:cNvSpPr/>
          <p:nvPr/>
        </p:nvSpPr>
        <p:spPr>
          <a:xfrm>
            <a:off x="640080" y="3941064"/>
            <a:ext cx="475488" cy="475488"/>
          </a:xfrm>
          <a:prstGeom prst="ellipse">
            <a:avLst/>
          </a:prstGeom>
          <a:solidFill>
            <a:srgbClr val="1E8FA5"/>
          </a:solidFill>
          <a:ln/>
        </p:spPr>
        <p:txBody>
          <a:bodyPr/>
          <a:p/>
        </p:txBody>
      </p:sp>
      <p:sp>
        <p:nvSpPr>
          <p:cNvPr id="15" name="Text 13"/>
          <p:cNvSpPr/>
          <p:nvPr/>
        </p:nvSpPr>
        <p:spPr>
          <a:xfrm>
            <a:off x="640080" y="3941064"/>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1325880" y="3941064"/>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Describe Amazon EFS and how it differs from EBS</a:t>
            </a:r>
            <a:endParaRPr lang="en-US" sz="1550" dirty="0"/>
          </a:p>
        </p:txBody>
      </p:sp>
      <p:sp>
        <p:nvSpPr>
          <p:cNvPr id="17" name="Shape 15"/>
          <p:cNvSpPr/>
          <p:nvPr/>
        </p:nvSpPr>
        <p:spPr>
          <a:xfrm>
            <a:off x="640080" y="4599432"/>
            <a:ext cx="475488" cy="475488"/>
          </a:xfrm>
          <a:prstGeom prst="ellipse">
            <a:avLst/>
          </a:prstGeom>
          <a:solidFill>
            <a:srgbClr val="1E8FA5"/>
          </a:solidFill>
          <a:ln/>
        </p:spPr>
        <p:txBody>
          <a:bodyPr/>
          <a:p/>
        </p:txBody>
      </p:sp>
      <p:sp>
        <p:nvSpPr>
          <p:cNvPr id="18" name="Text 16"/>
          <p:cNvSpPr/>
          <p:nvPr/>
        </p:nvSpPr>
        <p:spPr>
          <a:xfrm>
            <a:off x="640080" y="4599432"/>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p:nvPr/>
        </p:nvSpPr>
        <p:spPr>
          <a:xfrm>
            <a:off x="1325880" y="4599432"/>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Describe AWS Storage Gateway and the AWS Snow Family at a high level</a:t>
            </a:r>
            <a:endParaRPr lang="en-US" sz="1550" dirty="0"/>
          </a:p>
        </p:txBody>
      </p:sp>
      <p:sp>
        <p:nvSpPr>
          <p:cNvPr id="20" name="Shape 18"/>
          <p:cNvSpPr/>
          <p:nvPr/>
        </p:nvSpPr>
        <p:spPr>
          <a:xfrm>
            <a:off x="640080" y="5257800"/>
            <a:ext cx="475488" cy="475488"/>
          </a:xfrm>
          <a:prstGeom prst="ellipse">
            <a:avLst/>
          </a:prstGeom>
          <a:solidFill>
            <a:srgbClr val="1E8FA5"/>
          </a:solidFill>
          <a:ln/>
        </p:spPr>
        <p:txBody>
          <a:bodyPr/>
          <a:p/>
        </p:txBody>
      </p:sp>
      <p:sp>
        <p:nvSpPr>
          <p:cNvPr id="21" name="Text 19"/>
          <p:cNvSpPr/>
          <p:nvPr/>
        </p:nvSpPr>
        <p:spPr>
          <a:xfrm>
            <a:off x="640080" y="5257800"/>
            <a:ext cx="475488"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2" name="Text 20"/>
          <p:cNvSpPr/>
          <p:nvPr/>
        </p:nvSpPr>
        <p:spPr>
          <a:xfrm>
            <a:off x="1325880" y="5257800"/>
            <a:ext cx="10424160" cy="475488"/>
          </a:xfrm>
          <a:prstGeom prst="rect">
            <a:avLst/>
          </a:prstGeom>
          <a:noFill/>
          <a:ln/>
        </p:spPr>
        <p:txBody>
          <a:bodyPr wrap="square" rtlCol="0" anchor="ctr"/>
          <a:lstStyle/>
          <a:p>
            <a:pPr indent="0" marL="0">
              <a:buNone/>
            </a:pPr>
            <a:r>
              <a:rPr lang="en-US" sz="1550" dirty="0">
                <a:solidFill>
                  <a:srgbClr val="232F3E"/>
                </a:solidFill>
                <a:latin typeface="Calibri" pitchFamily="34" charset="0"/>
                <a:ea typeface="Calibri" pitchFamily="34" charset="-122"/>
                <a:cs typeface="Calibri" pitchFamily="34" charset="-120"/>
              </a:rPr>
              <a:t>Avoid the most common storage traps on the exam</a:t>
            </a:r>
            <a:endParaRPr lang="en-US" sz="1550" dirty="0"/>
          </a:p>
        </p:txBody>
      </p:sp>
      <p:sp>
        <p:nvSpPr>
          <p:cNvPr id="23" name="Text 21"/>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4" name="Text 22"/>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640080" y="822960"/>
            <a:ext cx="10515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Three Types, One Spectrum</a:t>
            </a:r>
            <a:endParaRPr lang="en-US" sz="3200" dirty="0"/>
          </a:p>
        </p:txBody>
      </p:sp>
      <p:sp>
        <p:nvSpPr>
          <p:cNvPr id="4" name="Text 2"/>
          <p:cNvSpPr/>
          <p:nvPr/>
        </p:nvSpPr>
        <p:spPr>
          <a:xfrm>
            <a:off x="640080" y="1508760"/>
            <a:ext cx="10515600" cy="365760"/>
          </a:xfrm>
          <a:prstGeom prst="rect">
            <a:avLst/>
          </a:prstGeom>
          <a:noFill/>
          <a:ln/>
        </p:spPr>
        <p:txBody>
          <a:bodyPr wrap="square" rtlCol="0" anchor="ctr"/>
          <a:lstStyle/>
          <a:p>
            <a:pPr indent="0" marL="0">
              <a:buNone/>
            </a:pPr>
            <a:r>
              <a:rPr lang="en-US" sz="1500" i="1" dirty="0">
                <a:solidFill>
                  <a:srgbClr val="AEB9C6"/>
                </a:solidFill>
                <a:latin typeface="Calibri" pitchFamily="34" charset="0"/>
                <a:ea typeface="Calibri" pitchFamily="34" charset="-122"/>
                <a:cs typeface="Calibri" pitchFamily="34" charset="-120"/>
              </a:rPr>
              <a:t>Four ideas. Everything about where your data actually lives comes down to these.</a:t>
            </a:r>
            <a:endParaRPr lang="en-US" sz="1500" dirty="0"/>
          </a:p>
        </p:txBody>
      </p:sp>
      <p:sp>
        <p:nvSpPr>
          <p:cNvPr id="5" name="Shape 3"/>
          <p:cNvSpPr/>
          <p:nvPr/>
        </p:nvSpPr>
        <p:spPr>
          <a:xfrm>
            <a:off x="640080" y="2148840"/>
            <a:ext cx="5257800" cy="1783080"/>
          </a:xfrm>
          <a:prstGeom prst="roundRect">
            <a:avLst>
              <a:gd name="adj" fmla="val 6154"/>
            </a:avLst>
          </a:prstGeom>
          <a:solidFill>
            <a:srgbClr val="2E3E52"/>
          </a:solidFill>
          <a:ln/>
        </p:spPr>
        <p:txBody>
          <a:bodyPr/>
          <a:p/>
        </p:txBody>
      </p:sp>
      <p:sp>
        <p:nvSpPr>
          <p:cNvPr id="6" name="Shape 4"/>
          <p:cNvSpPr/>
          <p:nvPr/>
        </p:nvSpPr>
        <p:spPr>
          <a:xfrm>
            <a:off x="960120" y="2423160"/>
            <a:ext cx="548640" cy="548640"/>
          </a:xfrm>
          <a:prstGeom prst="ellipse">
            <a:avLst/>
          </a:prstGeom>
          <a:solidFill>
            <a:srgbClr val="FF9900"/>
          </a:solidFill>
          <a:ln/>
        </p:spPr>
        <p:txBody>
          <a:bodyPr/>
          <a:p/>
        </p:txBody>
      </p:sp>
      <p:sp>
        <p:nvSpPr>
          <p:cNvPr id="7" name="Text 5"/>
          <p:cNvSpPr/>
          <p:nvPr/>
        </p:nvSpPr>
        <p:spPr>
          <a:xfrm>
            <a:off x="960120" y="2423160"/>
            <a:ext cx="548640" cy="548640"/>
          </a:xfrm>
          <a:prstGeom prst="rect">
            <a:avLst/>
          </a:prstGeom>
          <a:noFill/>
          <a:ln/>
        </p:spPr>
        <p:txBody>
          <a:bodyPr wrap="square"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645920" y="2468880"/>
            <a:ext cx="393192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Object Storage</a:t>
            </a:r>
            <a:endParaRPr lang="en-US" sz="1900" dirty="0"/>
          </a:p>
        </p:txBody>
      </p:sp>
      <p:sp>
        <p:nvSpPr>
          <p:cNvPr id="9" name="Text 7"/>
          <p:cNvSpPr/>
          <p:nvPr/>
        </p:nvSpPr>
        <p:spPr>
          <a:xfrm>
            <a:off x="1005840" y="3108960"/>
            <a:ext cx="4572000" cy="68580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Amazon S3 — whole files with metadata, accessed over the web.</a:t>
            </a:r>
            <a:endParaRPr lang="en-US" sz="1350" dirty="0"/>
          </a:p>
        </p:txBody>
      </p:sp>
      <p:sp>
        <p:nvSpPr>
          <p:cNvPr id="10" name="Shape 8"/>
          <p:cNvSpPr/>
          <p:nvPr/>
        </p:nvSpPr>
        <p:spPr>
          <a:xfrm>
            <a:off x="6217920" y="2148840"/>
            <a:ext cx="5257800" cy="1783080"/>
          </a:xfrm>
          <a:prstGeom prst="roundRect">
            <a:avLst>
              <a:gd name="adj" fmla="val 6154"/>
            </a:avLst>
          </a:prstGeom>
          <a:solidFill>
            <a:srgbClr val="2E3E52"/>
          </a:solidFill>
          <a:ln/>
        </p:spPr>
        <p:txBody>
          <a:bodyPr/>
          <a:p/>
        </p:txBody>
      </p:sp>
      <p:sp>
        <p:nvSpPr>
          <p:cNvPr id="11" name="Shape 9"/>
          <p:cNvSpPr/>
          <p:nvPr/>
        </p:nvSpPr>
        <p:spPr>
          <a:xfrm>
            <a:off x="6537960" y="2423160"/>
            <a:ext cx="548640" cy="548640"/>
          </a:xfrm>
          <a:prstGeom prst="ellipse">
            <a:avLst/>
          </a:prstGeom>
          <a:solidFill>
            <a:srgbClr val="FF9900"/>
          </a:solidFill>
          <a:ln/>
        </p:spPr>
        <p:txBody>
          <a:bodyPr/>
          <a:p/>
        </p:txBody>
      </p:sp>
      <p:sp>
        <p:nvSpPr>
          <p:cNvPr id="12" name="Text 10"/>
          <p:cNvSpPr/>
          <p:nvPr/>
        </p:nvSpPr>
        <p:spPr>
          <a:xfrm>
            <a:off x="6537960" y="2423160"/>
            <a:ext cx="548640" cy="548640"/>
          </a:xfrm>
          <a:prstGeom prst="rect">
            <a:avLst/>
          </a:prstGeom>
          <a:noFill/>
          <a:ln/>
        </p:spPr>
        <p:txBody>
          <a:bodyPr wrap="square"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7223760" y="2468880"/>
            <a:ext cx="393192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Block Storage</a:t>
            </a:r>
            <a:endParaRPr lang="en-US" sz="1900" dirty="0"/>
          </a:p>
        </p:txBody>
      </p:sp>
      <p:sp>
        <p:nvSpPr>
          <p:cNvPr id="14" name="Text 12"/>
          <p:cNvSpPr/>
          <p:nvPr/>
        </p:nvSpPr>
        <p:spPr>
          <a:xfrm>
            <a:off x="6583680" y="3108960"/>
            <a:ext cx="4572000" cy="68580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Amazon EBS — a virtual hard drive attached to one instance.</a:t>
            </a:r>
            <a:endParaRPr lang="en-US" sz="1350" dirty="0"/>
          </a:p>
        </p:txBody>
      </p:sp>
      <p:sp>
        <p:nvSpPr>
          <p:cNvPr id="15" name="Shape 13"/>
          <p:cNvSpPr/>
          <p:nvPr/>
        </p:nvSpPr>
        <p:spPr>
          <a:xfrm>
            <a:off x="640080" y="4114800"/>
            <a:ext cx="5257800" cy="1783080"/>
          </a:xfrm>
          <a:prstGeom prst="roundRect">
            <a:avLst>
              <a:gd name="adj" fmla="val 6154"/>
            </a:avLst>
          </a:prstGeom>
          <a:solidFill>
            <a:srgbClr val="2E3E52"/>
          </a:solidFill>
          <a:ln/>
        </p:spPr>
        <p:txBody>
          <a:bodyPr/>
          <a:p/>
        </p:txBody>
      </p:sp>
      <p:sp>
        <p:nvSpPr>
          <p:cNvPr id="16" name="Shape 14"/>
          <p:cNvSpPr/>
          <p:nvPr/>
        </p:nvSpPr>
        <p:spPr>
          <a:xfrm>
            <a:off x="960120" y="4389120"/>
            <a:ext cx="548640" cy="548640"/>
          </a:xfrm>
          <a:prstGeom prst="ellipse">
            <a:avLst/>
          </a:prstGeom>
          <a:solidFill>
            <a:srgbClr val="FF9900"/>
          </a:solidFill>
          <a:ln/>
        </p:spPr>
        <p:txBody>
          <a:bodyPr/>
          <a:p/>
        </p:txBody>
      </p:sp>
      <p:sp>
        <p:nvSpPr>
          <p:cNvPr id="17" name="Text 15"/>
          <p:cNvSpPr/>
          <p:nvPr/>
        </p:nvSpPr>
        <p:spPr>
          <a:xfrm>
            <a:off x="960120" y="4389120"/>
            <a:ext cx="548640" cy="548640"/>
          </a:xfrm>
          <a:prstGeom prst="rect">
            <a:avLst/>
          </a:prstGeom>
          <a:noFill/>
          <a:ln/>
        </p:spPr>
        <p:txBody>
          <a:bodyPr wrap="square"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645920" y="4434840"/>
            <a:ext cx="393192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File Storage</a:t>
            </a:r>
            <a:endParaRPr lang="en-US" sz="1900" dirty="0"/>
          </a:p>
        </p:txBody>
      </p:sp>
      <p:sp>
        <p:nvSpPr>
          <p:cNvPr id="19" name="Text 17"/>
          <p:cNvSpPr/>
          <p:nvPr/>
        </p:nvSpPr>
        <p:spPr>
          <a:xfrm>
            <a:off x="1005840" y="5074920"/>
            <a:ext cx="4572000" cy="68580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Amazon EFS — a shared file system, many instances at once.</a:t>
            </a:r>
            <a:endParaRPr lang="en-US" sz="1350" dirty="0"/>
          </a:p>
        </p:txBody>
      </p:sp>
      <p:sp>
        <p:nvSpPr>
          <p:cNvPr id="20" name="Shape 18"/>
          <p:cNvSpPr/>
          <p:nvPr/>
        </p:nvSpPr>
        <p:spPr>
          <a:xfrm>
            <a:off x="6217920" y="4114800"/>
            <a:ext cx="5257800" cy="1783080"/>
          </a:xfrm>
          <a:prstGeom prst="roundRect">
            <a:avLst>
              <a:gd name="adj" fmla="val 6154"/>
            </a:avLst>
          </a:prstGeom>
          <a:solidFill>
            <a:srgbClr val="2E3E52"/>
          </a:solidFill>
          <a:ln/>
        </p:spPr>
        <p:txBody>
          <a:bodyPr/>
          <a:p/>
        </p:txBody>
      </p:sp>
      <p:sp>
        <p:nvSpPr>
          <p:cNvPr id="21" name="Shape 19"/>
          <p:cNvSpPr/>
          <p:nvPr/>
        </p:nvSpPr>
        <p:spPr>
          <a:xfrm>
            <a:off x="6537960" y="4389120"/>
            <a:ext cx="548640" cy="548640"/>
          </a:xfrm>
          <a:prstGeom prst="ellipse">
            <a:avLst/>
          </a:prstGeom>
          <a:solidFill>
            <a:srgbClr val="FF9900"/>
          </a:solidFill>
          <a:ln/>
        </p:spPr>
        <p:txBody>
          <a:bodyPr/>
          <a:p/>
        </p:txBody>
      </p:sp>
      <p:sp>
        <p:nvSpPr>
          <p:cNvPr id="22" name="Text 20"/>
          <p:cNvSpPr/>
          <p:nvPr/>
        </p:nvSpPr>
        <p:spPr>
          <a:xfrm>
            <a:off x="6537960" y="4389120"/>
            <a:ext cx="548640" cy="548640"/>
          </a:xfrm>
          <a:prstGeom prst="rect">
            <a:avLst/>
          </a:prstGeom>
          <a:noFill/>
          <a:ln/>
        </p:spPr>
        <p:txBody>
          <a:bodyPr wrap="square"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7223760" y="4434840"/>
            <a:ext cx="3931920" cy="45720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Moving and Protecting Data</a:t>
            </a:r>
            <a:endParaRPr lang="en-US" sz="1900" dirty="0"/>
          </a:p>
        </p:txBody>
      </p:sp>
      <p:sp>
        <p:nvSpPr>
          <p:cNvPr id="24" name="Text 22"/>
          <p:cNvSpPr/>
          <p:nvPr/>
        </p:nvSpPr>
        <p:spPr>
          <a:xfrm>
            <a:off x="6583680" y="5074920"/>
            <a:ext cx="4572000" cy="685800"/>
          </a:xfrm>
          <a:prstGeom prst="rect">
            <a:avLst/>
          </a:prstGeom>
          <a:noFill/>
          <a:ln/>
        </p:spPr>
        <p:txBody>
          <a:bodyPr wrap="square" rtlCol="0" anchor="ctr"/>
          <a:lstStyle/>
          <a:p>
            <a:pPr indent="0" marL="0">
              <a:lnSpc>
                <a:spcPct val="103000"/>
              </a:lnSpc>
              <a:buNone/>
            </a:pPr>
            <a:r>
              <a:rPr lang="en-US" sz="1350" dirty="0">
                <a:solidFill>
                  <a:srgbClr val="C7D2DE"/>
                </a:solidFill>
                <a:latin typeface="Calibri" pitchFamily="34" charset="0"/>
                <a:ea typeface="Calibri" pitchFamily="34" charset="-122"/>
                <a:cs typeface="Calibri" pitchFamily="34" charset="-120"/>
              </a:rPr>
              <a:t>Storage Gateway, the Snow Family, and AWS Backup round out the toolkit.</a:t>
            </a:r>
            <a:endParaRPr lang="en-US" sz="1350" dirty="0"/>
          </a:p>
        </p:txBody>
      </p:sp>
      <p:sp>
        <p:nvSpPr>
          <p:cNvPr id="25" name="Text 23"/>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6" name="Text 24"/>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THE FOUNDATIONAL IDEA</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Amazon S3: Object Storage</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The default answer whenever a scenario mentions backups, static websites, data lakes, or serving media at scale.</a:t>
            </a:r>
            <a:endParaRPr lang="en-US" sz="1500" dirty="0"/>
          </a:p>
        </p:txBody>
      </p:sp>
      <p:sp>
        <p:nvSpPr>
          <p:cNvPr id="5" name="Shape 3"/>
          <p:cNvSpPr/>
          <p:nvPr/>
        </p:nvSpPr>
        <p:spPr>
          <a:xfrm>
            <a:off x="640080" y="1920240"/>
            <a:ext cx="5486400" cy="3840480"/>
          </a:xfrm>
          <a:prstGeom prst="roundRect">
            <a:avLst>
              <a:gd name="adj" fmla="val 2857"/>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txBody>
          <a:bodyPr/>
          <a:p/>
        </p:txBody>
      </p:sp>
      <p:sp>
        <p:nvSpPr>
          <p:cNvPr id="6" name="Text 4"/>
          <p:cNvSpPr/>
          <p:nvPr/>
        </p:nvSpPr>
        <p:spPr>
          <a:xfrm>
            <a:off x="1005840" y="2148840"/>
            <a:ext cx="4754880" cy="320040"/>
          </a:xfrm>
          <a:prstGeom prst="rect">
            <a:avLst/>
          </a:prstGeom>
          <a:noFill/>
          <a:ln/>
        </p:spPr>
        <p:txBody>
          <a:bodyPr wrap="square" rtlCol="0" anchor="ctr"/>
          <a:lstStyle/>
          <a:p>
            <a:pPr indent="0" marL="0">
              <a:buNone/>
            </a:pPr>
            <a:r>
              <a:rPr lang="en-US" sz="1200" b="1" spc="200" kern="0" dirty="0">
                <a:solidFill>
                  <a:srgbClr val="1E8FA5"/>
                </a:solidFill>
                <a:latin typeface="Calibri" pitchFamily="34" charset="0"/>
                <a:ea typeface="Calibri" pitchFamily="34" charset="-122"/>
                <a:cs typeface="Calibri" pitchFamily="34" charset="-120"/>
              </a:rPr>
              <a:t>WHAT IT IS</a:t>
            </a:r>
            <a:endParaRPr lang="en-US" sz="1200" dirty="0"/>
          </a:p>
        </p:txBody>
      </p:sp>
      <p:sp>
        <p:nvSpPr>
          <p:cNvPr id="7" name="Shape 5"/>
          <p:cNvSpPr/>
          <p:nvPr/>
        </p:nvSpPr>
        <p:spPr>
          <a:xfrm>
            <a:off x="1024128" y="2651760"/>
            <a:ext cx="237744" cy="237744"/>
          </a:xfrm>
          <a:prstGeom prst="ellipse">
            <a:avLst/>
          </a:prstGeom>
          <a:solidFill>
            <a:srgbClr val="1E8FA5"/>
          </a:solidFill>
          <a:ln/>
        </p:spPr>
        <p:txBody>
          <a:bodyPr/>
          <a:p/>
        </p:txBody>
      </p:sp>
      <p:sp>
        <p:nvSpPr>
          <p:cNvPr id="8" name="Text 6"/>
          <p:cNvSpPr/>
          <p:nvPr/>
        </p:nvSpPr>
        <p:spPr>
          <a:xfrm>
            <a:off x="1417320" y="2606040"/>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S3 stores data as objects inside buckets, with virtually unlimited capacity</a:t>
            </a:r>
            <a:endParaRPr lang="en-US" sz="1400" dirty="0"/>
          </a:p>
        </p:txBody>
      </p:sp>
      <p:sp>
        <p:nvSpPr>
          <p:cNvPr id="9" name="Shape 7"/>
          <p:cNvSpPr/>
          <p:nvPr/>
        </p:nvSpPr>
        <p:spPr>
          <a:xfrm>
            <a:off x="1024128" y="3255264"/>
            <a:ext cx="237744" cy="237744"/>
          </a:xfrm>
          <a:prstGeom prst="ellipse">
            <a:avLst/>
          </a:prstGeom>
          <a:solidFill>
            <a:srgbClr val="1E8FA5"/>
          </a:solidFill>
          <a:ln/>
        </p:spPr>
        <p:txBody>
          <a:bodyPr/>
          <a:p/>
        </p:txBody>
      </p:sp>
      <p:sp>
        <p:nvSpPr>
          <p:cNvPr id="10" name="Text 8"/>
          <p:cNvSpPr/>
          <p:nvPr/>
        </p:nvSpPr>
        <p:spPr>
          <a:xfrm>
            <a:off x="1417320" y="3209544"/>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99.999999999% (11 nines) durability — data loss is exceptionally rare</a:t>
            </a:r>
            <a:endParaRPr lang="en-US" sz="1400" dirty="0"/>
          </a:p>
        </p:txBody>
      </p:sp>
      <p:sp>
        <p:nvSpPr>
          <p:cNvPr id="11" name="Shape 9"/>
          <p:cNvSpPr/>
          <p:nvPr/>
        </p:nvSpPr>
        <p:spPr>
          <a:xfrm>
            <a:off x="1024128" y="3858768"/>
            <a:ext cx="237744" cy="237744"/>
          </a:xfrm>
          <a:prstGeom prst="ellipse">
            <a:avLst/>
          </a:prstGeom>
          <a:solidFill>
            <a:srgbClr val="1E8FA5"/>
          </a:solidFill>
          <a:ln/>
        </p:spPr>
        <p:txBody>
          <a:bodyPr/>
          <a:p/>
        </p:txBody>
      </p:sp>
      <p:sp>
        <p:nvSpPr>
          <p:cNvPr id="12" name="Text 10"/>
          <p:cNvSpPr/>
          <p:nvPr/>
        </p:nvSpPr>
        <p:spPr>
          <a:xfrm>
            <a:off x="1417320" y="3813048"/>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No server to manage — you interact with S3 entirely through its API or console</a:t>
            </a:r>
            <a:endParaRPr lang="en-US" sz="1400" dirty="0"/>
          </a:p>
        </p:txBody>
      </p:sp>
      <p:sp>
        <p:nvSpPr>
          <p:cNvPr id="13" name="Shape 11"/>
          <p:cNvSpPr/>
          <p:nvPr/>
        </p:nvSpPr>
        <p:spPr>
          <a:xfrm>
            <a:off x="1024128" y="4462272"/>
            <a:ext cx="237744" cy="237744"/>
          </a:xfrm>
          <a:prstGeom prst="ellipse">
            <a:avLst/>
          </a:prstGeom>
          <a:solidFill>
            <a:srgbClr val="1E8FA5"/>
          </a:solidFill>
          <a:ln/>
        </p:spPr>
        <p:txBody>
          <a:bodyPr/>
          <a:p/>
        </p:txBody>
      </p:sp>
      <p:sp>
        <p:nvSpPr>
          <p:cNvPr id="14" name="Text 12"/>
          <p:cNvSpPr/>
          <p:nvPr/>
        </p:nvSpPr>
        <p:spPr>
          <a:xfrm>
            <a:off x="1417320" y="4416552"/>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Objects are accessed over the web, not mounted like a traditional file system</a:t>
            </a:r>
            <a:endParaRPr lang="en-US" sz="1400" dirty="0"/>
          </a:p>
        </p:txBody>
      </p:sp>
      <p:sp>
        <p:nvSpPr>
          <p:cNvPr id="15" name="Shape 13"/>
          <p:cNvSpPr/>
          <p:nvPr/>
        </p:nvSpPr>
        <p:spPr>
          <a:xfrm>
            <a:off x="1024128" y="5065776"/>
            <a:ext cx="237744" cy="237744"/>
          </a:xfrm>
          <a:prstGeom prst="ellipse">
            <a:avLst/>
          </a:prstGeom>
          <a:solidFill>
            <a:srgbClr val="1E8FA5"/>
          </a:solidFill>
          <a:ln/>
        </p:spPr>
        <p:txBody>
          <a:bodyPr/>
          <a:p/>
        </p:txBody>
      </p:sp>
      <p:sp>
        <p:nvSpPr>
          <p:cNvPr id="16" name="Text 14"/>
          <p:cNvSpPr/>
          <p:nvPr/>
        </p:nvSpPr>
        <p:spPr>
          <a:xfrm>
            <a:off x="1417320" y="5020056"/>
            <a:ext cx="4480560" cy="365760"/>
          </a:xfrm>
          <a:prstGeom prst="rect">
            <a:avLst/>
          </a:prstGeom>
          <a:noFill/>
          <a:ln/>
        </p:spPr>
        <p:txBody>
          <a:bodyPr wrap="square" rtlCol="0" anchor="ctr"/>
          <a:lstStyle/>
          <a:p>
            <a:pPr indent="0" marL="0">
              <a:buNone/>
            </a:pPr>
            <a:r>
              <a:rPr lang="en-US" sz="1400" dirty="0">
                <a:solidFill>
                  <a:srgbClr val="232F3E"/>
                </a:solidFill>
                <a:latin typeface="Calibri" pitchFamily="34" charset="0"/>
                <a:ea typeface="Calibri" pitchFamily="34" charset="-122"/>
                <a:cs typeface="Calibri" pitchFamily="34" charset="-120"/>
              </a:rPr>
              <a:t>S3 is the default answer for backups, static websites, data lakes, and media at scale</a:t>
            </a:r>
            <a:endParaRPr lang="en-US" sz="1400" dirty="0"/>
          </a:p>
        </p:txBody>
      </p:sp>
      <p:sp>
        <p:nvSpPr>
          <p:cNvPr id="17" name="Shape 15"/>
          <p:cNvSpPr/>
          <p:nvPr/>
        </p:nvSpPr>
        <p:spPr>
          <a:xfrm>
            <a:off x="6492240" y="1920240"/>
            <a:ext cx="5029200" cy="3840480"/>
          </a:xfrm>
          <a:prstGeom prst="roundRect">
            <a:avLst>
              <a:gd name="adj" fmla="val 2857"/>
            </a:avLst>
          </a:prstGeom>
          <a:solidFill>
            <a:srgbClr val="232F3E"/>
          </a:solidFill>
          <a:ln/>
        </p:spPr>
        <p:txBody>
          <a:bodyPr/>
          <a:p/>
        </p:txBody>
      </p:sp>
      <p:sp>
        <p:nvSpPr>
          <p:cNvPr id="18" name="Text 16"/>
          <p:cNvSpPr/>
          <p:nvPr/>
        </p:nvSpPr>
        <p:spPr>
          <a:xfrm>
            <a:off x="6858000" y="2148840"/>
            <a:ext cx="429768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WHY IT MATTERS</a:t>
            </a:r>
            <a:endParaRPr lang="en-US" sz="1200" dirty="0"/>
          </a:p>
        </p:txBody>
      </p:sp>
      <p:sp>
        <p:nvSpPr>
          <p:cNvPr id="19" name="Text 17"/>
          <p:cNvSpPr/>
          <p:nvPr/>
        </p:nvSpPr>
        <p:spPr>
          <a:xfrm>
            <a:off x="6858000" y="2514600"/>
            <a:ext cx="4297680" cy="411480"/>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Not every object needs the same speed</a:t>
            </a:r>
            <a:endParaRPr lang="en-US" sz="2100" dirty="0"/>
          </a:p>
        </p:txBody>
      </p:sp>
      <p:sp>
        <p:nvSpPr>
          <p:cNvPr id="20" name="Text 18"/>
          <p:cNvSpPr/>
          <p:nvPr/>
        </p:nvSpPr>
        <p:spPr>
          <a:xfrm>
            <a:off x="6858000" y="3063240"/>
            <a:ext cx="4297680" cy="2377440"/>
          </a:xfrm>
          <a:prstGeom prst="rect">
            <a:avLst/>
          </a:prstGeom>
          <a:noFill/>
          <a:ln/>
        </p:spPr>
        <p:txBody>
          <a:bodyPr wrap="square" rtlCol="0" anchor="ctr"/>
          <a:lstStyle/>
          <a:p>
            <a:pPr indent="0" marL="0">
              <a:lnSpc>
                <a:spcPct val="106000"/>
              </a:lnSpc>
              <a:buNone/>
            </a:pPr>
            <a:r>
              <a:rPr lang="en-US" sz="1400" dirty="0">
                <a:solidFill>
                  <a:srgbClr val="C7D2DE"/>
                </a:solidFill>
                <a:latin typeface="Calibri" pitchFamily="34" charset="0"/>
                <a:ea typeface="Calibri" pitchFamily="34" charset="-122"/>
                <a:cs typeface="Calibri" pitchFamily="34" charset="-120"/>
              </a:rPr>
              <a:t>S3 offers multiple storage classes, each trading retrieval speed and cost differently.</a:t>
            </a:r>
            <a:endParaRPr lang="en-US" sz="1400" dirty="0"/>
          </a:p>
          <a:p>
            <a:pPr indent="0" marL="0">
              <a:lnSpc>
                <a:spcPct val="106000"/>
              </a:lnSpc>
              <a:buNone/>
            </a:pPr>
            <a:endParaRPr lang="en-US" sz="1400" dirty="0"/>
          </a:p>
          <a:p>
            <a:pPr indent="0" marL="0">
              <a:lnSpc>
                <a:spcPct val="106000"/>
              </a:lnSpc>
              <a:buNone/>
            </a:pPr>
            <a:r>
              <a:rPr lang="en-US" sz="1400" dirty="0">
                <a:solidFill>
                  <a:srgbClr val="C7D2DE"/>
                </a:solidFill>
                <a:latin typeface="Calibri" pitchFamily="34" charset="0"/>
                <a:ea typeface="Calibri" pitchFamily="34" charset="-122"/>
                <a:cs typeface="Calibri" pitchFamily="34" charset="-120"/>
              </a:rPr>
              <a:t>Matching data to the right class is where real cost optimization happens — that's the next slide.</a:t>
            </a:r>
            <a:endParaRPr lang="en-US" sz="1400" dirty="0"/>
          </a:p>
        </p:txBody>
      </p:sp>
      <p:sp>
        <p:nvSpPr>
          <p:cNvPr id="21" name="Text 19"/>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2" name="Text 20"/>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8">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640080" y="457200"/>
            <a:ext cx="3931920" cy="384048"/>
          </a:xfrm>
          <a:prstGeom prst="roundRect">
            <a:avLst>
              <a:gd name="adj" fmla="val 19048"/>
            </a:avLst>
          </a:prstGeom>
          <a:solidFill>
            <a:srgbClr val="B7791F"/>
          </a:solidFill>
          <a:ln/>
        </p:spPr>
        <p:txBody>
          <a:bodyPr/>
          <a:p/>
        </p:txBody>
      </p:sp>
      <p:sp>
        <p:nvSpPr>
          <p:cNvPr id="3" name="Text 1"/>
          <p:cNvSpPr/>
          <p:nvPr/>
        </p:nvSpPr>
        <p:spPr>
          <a:xfrm>
            <a:off x="640080" y="457200"/>
            <a:ext cx="3931920" cy="384048"/>
          </a:xfrm>
          <a:prstGeom prst="rect">
            <a:avLst/>
          </a:prstGeom>
          <a:noFill/>
          <a:ln/>
        </p:spPr>
        <p:txBody>
          <a:bodyPr wrap="square" rtlCol="0" anchor="ctr"/>
          <a:lstStyle/>
          <a:p>
            <a:pPr algn="ctr" indent="0" marL="0">
              <a:buNone/>
            </a:pPr>
            <a:r>
              <a:rPr lang="en-US" sz="1150" b="1" spc="100" kern="0" dirty="0">
                <a:solidFill>
                  <a:srgbClr val="232F3E"/>
                </a:solidFill>
                <a:latin typeface="Calibri" pitchFamily="34" charset="0"/>
                <a:ea typeface="Calibri" pitchFamily="34" charset="-122"/>
                <a:cs typeface="Calibri" pitchFamily="34" charset="-120"/>
              </a:rPr>
              <a:t>THE MOST IMPORTANT STORAGE IDEA</a:t>
            </a:r>
            <a:endParaRPr lang="en-US" sz="1150" dirty="0"/>
          </a:p>
        </p:txBody>
      </p:sp>
      <p:sp>
        <p:nvSpPr>
          <p:cNvPr id="4" name="Text 2"/>
          <p:cNvSpPr/>
          <p:nvPr/>
        </p:nvSpPr>
        <p:spPr>
          <a:xfrm>
            <a:off x="640080" y="960120"/>
            <a:ext cx="10515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Actually Decides Which S3 Storage Class Fits?</a:t>
            </a:r>
            <a:endParaRPr lang="en-US" sz="3200" dirty="0"/>
          </a:p>
        </p:txBody>
      </p:sp>
      <p:sp>
        <p:nvSpPr>
          <p:cNvPr id="5" name="Text 3"/>
          <p:cNvSpPr/>
          <p:nvPr/>
        </p:nvSpPr>
        <p:spPr>
          <a:xfrm>
            <a:off x="640080" y="1645920"/>
            <a:ext cx="10515600" cy="365760"/>
          </a:xfrm>
          <a:prstGeom prst="rect">
            <a:avLst/>
          </a:prstGeom>
          <a:noFill/>
          <a:ln/>
        </p:spPr>
        <p:txBody>
          <a:bodyPr wrap="square" rtlCol="0" anchor="ctr"/>
          <a:lstStyle/>
          <a:p>
            <a:pPr indent="0" marL="0">
              <a:buNone/>
            </a:pPr>
            <a:r>
              <a:rPr lang="en-US" sz="1500" i="1" dirty="0">
                <a:solidFill>
                  <a:srgbClr val="AEB9C6"/>
                </a:solidFill>
                <a:latin typeface="Calibri" pitchFamily="34" charset="0"/>
                <a:ea typeface="Calibri" pitchFamily="34" charset="-122"/>
                <a:cs typeface="Calibri" pitchFamily="34" charset="-120"/>
              </a:rPr>
              <a:t>One question separates a student who understands S3 cost optimization from one who doesn't — and it's simpler than it sounds.</a:t>
            </a:r>
            <a:endParaRPr lang="en-US" sz="1500" dirty="0"/>
          </a:p>
        </p:txBody>
      </p:sp>
      <p:sp>
        <p:nvSpPr>
          <p:cNvPr id="6" name="Shape 4"/>
          <p:cNvSpPr/>
          <p:nvPr/>
        </p:nvSpPr>
        <p:spPr>
          <a:xfrm>
            <a:off x="640080" y="2194560"/>
            <a:ext cx="5257800" cy="3566160"/>
          </a:xfrm>
          <a:prstGeom prst="roundRect">
            <a:avLst>
              <a:gd name="adj" fmla="val 3077"/>
            </a:avLst>
          </a:prstGeom>
          <a:solidFill>
            <a:srgbClr val="2E3E52"/>
          </a:solidFill>
          <a:ln/>
        </p:spPr>
        <p:txBody>
          <a:bodyPr/>
          <a:p/>
        </p:txBody>
      </p:sp>
      <p:sp>
        <p:nvSpPr>
          <p:cNvPr id="7" name="Text 5"/>
          <p:cNvSpPr/>
          <p:nvPr/>
        </p:nvSpPr>
        <p:spPr>
          <a:xfrm>
            <a:off x="1005840" y="2423160"/>
            <a:ext cx="4572000" cy="320040"/>
          </a:xfrm>
          <a:prstGeom prst="rect">
            <a:avLst/>
          </a:prstGeom>
          <a:noFill/>
          <a:ln/>
        </p:spPr>
        <p:txBody>
          <a:bodyPr wrap="square" rtlCol="0" anchor="ctr"/>
          <a:lstStyle/>
          <a:p>
            <a:pPr indent="0" marL="0">
              <a:buNone/>
            </a:pPr>
            <a:r>
              <a:rPr lang="en-US" sz="1200" b="1" spc="200" kern="0" dirty="0">
                <a:solidFill>
                  <a:srgbClr val="FF8A80"/>
                </a:solidFill>
                <a:latin typeface="Calibri" pitchFamily="34" charset="0"/>
                <a:ea typeface="Calibri" pitchFamily="34" charset="-122"/>
                <a:cs typeface="Calibri" pitchFamily="34" charset="-120"/>
              </a:rPr>
              <a:t>ACCESSED OFTEN, NEEDED FAST</a:t>
            </a:r>
            <a:endParaRPr lang="en-US" sz="1200" dirty="0"/>
          </a:p>
        </p:txBody>
      </p:sp>
      <p:sp>
        <p:nvSpPr>
          <p:cNvPr id="8" name="Text 6"/>
          <p:cNvSpPr/>
          <p:nvPr/>
        </p:nvSpPr>
        <p:spPr>
          <a:xfrm>
            <a:off x="1005840" y="2880360"/>
            <a:ext cx="4572000" cy="411480"/>
          </a:xfrm>
          <a:prstGeom prst="rect">
            <a:avLst/>
          </a:prstGeom>
          <a:noFill/>
          <a:ln/>
        </p:spPr>
        <p:txBody>
          <a:bodyPr wrap="square" rtlCol="0" anchor="ctr"/>
          <a:lstStyle/>
          <a:p>
            <a:pPr indent="0" marL="0">
              <a:buNone/>
            </a:pPr>
            <a:r>
              <a:rPr lang="en-US" sz="1600" dirty="0">
                <a:solidFill>
                  <a:srgbClr val="E4EAF0"/>
                </a:solidFill>
                <a:latin typeface="Calibri" pitchFamily="34" charset="0"/>
                <a:ea typeface="Calibri" pitchFamily="34" charset="-122"/>
                <a:cs typeface="Calibri" pitchFamily="34" charset="-120"/>
              </a:rPr>
              <a:t>•   S3 Standard — millisecond retrieval, highest storage cost</a:t>
            </a:r>
            <a:endParaRPr lang="en-US" sz="1600" dirty="0"/>
          </a:p>
        </p:txBody>
      </p:sp>
      <p:sp>
        <p:nvSpPr>
          <p:cNvPr id="9" name="Text 7"/>
          <p:cNvSpPr/>
          <p:nvPr/>
        </p:nvSpPr>
        <p:spPr>
          <a:xfrm>
            <a:off x="1005840" y="3429000"/>
            <a:ext cx="4572000" cy="411480"/>
          </a:xfrm>
          <a:prstGeom prst="rect">
            <a:avLst/>
          </a:prstGeom>
          <a:noFill/>
          <a:ln/>
        </p:spPr>
        <p:txBody>
          <a:bodyPr wrap="square" rtlCol="0" anchor="ctr"/>
          <a:lstStyle/>
          <a:p>
            <a:pPr indent="0" marL="0">
              <a:buNone/>
            </a:pPr>
            <a:r>
              <a:rPr lang="en-US" sz="1600" dirty="0">
                <a:solidFill>
                  <a:srgbClr val="E4EAF0"/>
                </a:solidFill>
                <a:latin typeface="Calibri" pitchFamily="34" charset="0"/>
                <a:ea typeface="Calibri" pitchFamily="34" charset="-122"/>
                <a:cs typeface="Calibri" pitchFamily="34" charset="-120"/>
              </a:rPr>
              <a:t>•   The default class for active, frequently-read data</a:t>
            </a:r>
            <a:endParaRPr lang="en-US" sz="1600" dirty="0"/>
          </a:p>
        </p:txBody>
      </p:sp>
      <p:sp>
        <p:nvSpPr>
          <p:cNvPr id="10" name="Text 8"/>
          <p:cNvSpPr/>
          <p:nvPr/>
        </p:nvSpPr>
        <p:spPr>
          <a:xfrm>
            <a:off x="1005840" y="3977640"/>
            <a:ext cx="4572000" cy="411480"/>
          </a:xfrm>
          <a:prstGeom prst="rect">
            <a:avLst/>
          </a:prstGeom>
          <a:noFill/>
          <a:ln/>
        </p:spPr>
        <p:txBody>
          <a:bodyPr wrap="square" rtlCol="0" anchor="ctr"/>
          <a:lstStyle/>
          <a:p>
            <a:pPr indent="0" marL="0">
              <a:buNone/>
            </a:pPr>
            <a:r>
              <a:rPr lang="en-US" sz="1600" dirty="0">
                <a:solidFill>
                  <a:srgbClr val="E4EAF0"/>
                </a:solidFill>
                <a:latin typeface="Calibri" pitchFamily="34" charset="0"/>
                <a:ea typeface="Calibri" pitchFamily="34" charset="-122"/>
                <a:cs typeface="Calibri" pitchFamily="34" charset="-120"/>
              </a:rPr>
              <a:t>•   No retrieval fee — you're not penalized for pulling it constantly</a:t>
            </a:r>
            <a:endParaRPr lang="en-US" sz="1600" dirty="0"/>
          </a:p>
        </p:txBody>
      </p:sp>
      <p:sp>
        <p:nvSpPr>
          <p:cNvPr id="11" name="Text 9"/>
          <p:cNvSpPr/>
          <p:nvPr/>
        </p:nvSpPr>
        <p:spPr>
          <a:xfrm>
            <a:off x="1005840" y="4617720"/>
            <a:ext cx="4572000" cy="914400"/>
          </a:xfrm>
          <a:prstGeom prst="rect">
            <a:avLst/>
          </a:prstGeom>
          <a:noFill/>
          <a:ln/>
        </p:spPr>
        <p:txBody>
          <a:bodyPr wrap="square" rtlCol="0" anchor="ctr"/>
          <a:lstStyle/>
          <a:p>
            <a:pPr indent="0" marL="0">
              <a:lnSpc>
                <a:spcPct val="105000"/>
              </a:lnSpc>
              <a:buNone/>
            </a:pPr>
            <a:r>
              <a:rPr lang="en-US" sz="1300" i="1" dirty="0">
                <a:solidFill>
                  <a:srgbClr val="AEB9C6"/>
                </a:solidFill>
                <a:latin typeface="Calibri" pitchFamily="34" charset="0"/>
                <a:ea typeface="Calibri" pitchFamily="34" charset="-122"/>
                <a:cs typeface="Calibri" pitchFamily="34" charset="-120"/>
              </a:rPr>
              <a:t>This is exactly what S3 Standard looks like when it's the correct answer.</a:t>
            </a:r>
            <a:endParaRPr lang="en-US" sz="1300" dirty="0"/>
          </a:p>
        </p:txBody>
      </p:sp>
      <p:sp>
        <p:nvSpPr>
          <p:cNvPr id="12" name="Shape 10"/>
          <p:cNvSpPr/>
          <p:nvPr/>
        </p:nvSpPr>
        <p:spPr>
          <a:xfrm>
            <a:off x="6263640" y="2194560"/>
            <a:ext cx="5257800" cy="3566160"/>
          </a:xfrm>
          <a:prstGeom prst="roundRect">
            <a:avLst>
              <a:gd name="adj" fmla="val 3077"/>
            </a:avLst>
          </a:prstGeom>
          <a:solidFill>
            <a:srgbClr val="2E3E52"/>
          </a:solidFill>
          <a:ln/>
        </p:spPr>
        <p:txBody>
          <a:bodyPr/>
          <a:p/>
        </p:txBody>
      </p:sp>
      <p:sp>
        <p:nvSpPr>
          <p:cNvPr id="13" name="Text 11"/>
          <p:cNvSpPr/>
          <p:nvPr/>
        </p:nvSpPr>
        <p:spPr>
          <a:xfrm>
            <a:off x="6629400" y="2423160"/>
            <a:ext cx="4572000" cy="320040"/>
          </a:xfrm>
          <a:prstGeom prst="rect">
            <a:avLst/>
          </a:prstGeom>
          <a:noFill/>
          <a:ln/>
        </p:spPr>
        <p:txBody>
          <a:bodyPr wrap="square" rtlCol="0" anchor="ctr"/>
          <a:lstStyle/>
          <a:p>
            <a:pPr indent="0" marL="0">
              <a:buNone/>
            </a:pPr>
            <a:r>
              <a:rPr lang="en-US" sz="1200" b="1" spc="200" kern="0" dirty="0">
                <a:solidFill>
                  <a:srgbClr val="5FD08A"/>
                </a:solidFill>
                <a:latin typeface="Calibri" pitchFamily="34" charset="0"/>
                <a:ea typeface="Calibri" pitchFamily="34" charset="-122"/>
                <a:cs typeface="Calibri" pitchFamily="34" charset="-120"/>
              </a:rPr>
              <a:t>ACCESSED RARELY, COST MATTERS MORE</a:t>
            </a:r>
            <a:endParaRPr lang="en-US" sz="1200" dirty="0"/>
          </a:p>
        </p:txBody>
      </p:sp>
      <p:sp>
        <p:nvSpPr>
          <p:cNvPr id="14" name="Text 12"/>
          <p:cNvSpPr/>
          <p:nvPr/>
        </p:nvSpPr>
        <p:spPr>
          <a:xfrm>
            <a:off x="6629400" y="2880360"/>
            <a:ext cx="4572000" cy="347472"/>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Standard-IA and One Zone-IA step down</a:t>
            </a:r>
            <a:endParaRPr lang="en-US" sz="1650" dirty="0"/>
          </a:p>
        </p:txBody>
      </p:sp>
      <p:sp>
        <p:nvSpPr>
          <p:cNvPr id="15" name="Text 13"/>
          <p:cNvSpPr/>
          <p:nvPr/>
        </p:nvSpPr>
        <p:spPr>
          <a:xfrm>
            <a:off x="6629400" y="3209544"/>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Lower storage cost, a retrieval fee applies, still millisecond access</a:t>
            </a:r>
            <a:endParaRPr lang="en-US" sz="1300" dirty="0"/>
          </a:p>
        </p:txBody>
      </p:sp>
      <p:sp>
        <p:nvSpPr>
          <p:cNvPr id="16" name="Text 14"/>
          <p:cNvSpPr/>
          <p:nvPr/>
        </p:nvSpPr>
        <p:spPr>
          <a:xfrm>
            <a:off x="6629400" y="3749040"/>
            <a:ext cx="4572000" cy="347472"/>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Glacier classes step down further</a:t>
            </a:r>
            <a:endParaRPr lang="en-US" sz="1650" dirty="0"/>
          </a:p>
        </p:txBody>
      </p:sp>
      <p:sp>
        <p:nvSpPr>
          <p:cNvPr id="17" name="Text 15"/>
          <p:cNvSpPr/>
          <p:nvPr/>
        </p:nvSpPr>
        <p:spPr>
          <a:xfrm>
            <a:off x="6629400" y="4078224"/>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Instant Retrieval keeps millisecond access; Flexible Retrieval takes minutes to hours; Deep Archive takes hours but costs the least</a:t>
            </a:r>
            <a:endParaRPr lang="en-US" sz="1300" dirty="0"/>
          </a:p>
        </p:txBody>
      </p:sp>
      <p:sp>
        <p:nvSpPr>
          <p:cNvPr id="18" name="Text 16"/>
          <p:cNvSpPr/>
          <p:nvPr/>
        </p:nvSpPr>
        <p:spPr>
          <a:xfrm>
            <a:off x="6629400" y="4617720"/>
            <a:ext cx="4572000" cy="347472"/>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Lifecycle policies automate the move</a:t>
            </a:r>
            <a:endParaRPr lang="en-US" sz="1650" dirty="0"/>
          </a:p>
        </p:txBody>
      </p:sp>
      <p:sp>
        <p:nvSpPr>
          <p:cNvPr id="19" name="Text 17"/>
          <p:cNvSpPr/>
          <p:nvPr/>
        </p:nvSpPr>
        <p:spPr>
          <a:xfrm>
            <a:off x="6629400" y="4946904"/>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Objects transition between classes automatically as their access pattern ages, with no manual work</a:t>
            </a:r>
            <a:endParaRPr lang="en-US" sz="1300" dirty="0"/>
          </a:p>
        </p:txBody>
      </p:sp>
      <p:sp>
        <p:nvSpPr>
          <p:cNvPr id="20" name="Text 18"/>
          <p:cNvSpPr/>
          <p:nvPr/>
        </p:nvSpPr>
        <p:spPr>
          <a:xfrm>
            <a:off x="640080" y="5989320"/>
            <a:ext cx="10908792" cy="365760"/>
          </a:xfrm>
          <a:prstGeom prst="rect">
            <a:avLst/>
          </a:prstGeom>
          <a:noFill/>
          <a:ln/>
        </p:spPr>
        <p:txBody>
          <a:bodyPr wrap="square" rtlCol="0" anchor="ctr"/>
          <a:lstStyle/>
          <a:p>
            <a:pPr algn="ctr" indent="0" marL="0">
              <a:buNone/>
            </a:pPr>
            <a:r>
              <a:rPr lang="en-US" sz="1400" b="1" i="1" dirty="0">
                <a:solidFill>
                  <a:srgbClr val="FF9900"/>
                </a:solidFill>
                <a:latin typeface="Calibri" pitchFamily="34" charset="0"/>
                <a:ea typeface="Calibri" pitchFamily="34" charset="-122"/>
                <a:cs typeface="Calibri" pitchFamily="34" charset="-120"/>
              </a:rPr>
              <a:t>The storage class depends entirely on how often the data is accessed and how urgently it's needed back — not on how important the data is.</a:t>
            </a:r>
            <a:endParaRPr lang="en-US" sz="1400" dirty="0"/>
          </a:p>
        </p:txBody>
      </p:sp>
      <p:sp>
        <p:nvSpPr>
          <p:cNvPr id="21" name="Text 19"/>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2" name="Text 20"/>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TWO LAYERS OF STORAGE</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Amazon EBS vs. Amazon EFS</a:t>
            </a:r>
            <a:endParaRPr lang="en-US" sz="3200" dirty="0"/>
          </a:p>
        </p:txBody>
      </p:sp>
      <p:sp>
        <p:nvSpPr>
          <p:cNvPr id="4" name="Shape 2"/>
          <p:cNvSpPr/>
          <p:nvPr/>
        </p:nvSpPr>
        <p:spPr>
          <a:xfrm>
            <a:off x="640080" y="1645920"/>
            <a:ext cx="5257800" cy="4114800"/>
          </a:xfrm>
          <a:prstGeom prst="roundRect">
            <a:avLst>
              <a:gd name="adj" fmla="val 2667"/>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txBody>
          <a:bodyPr/>
          <a:p/>
        </p:txBody>
      </p:sp>
      <p:sp>
        <p:nvSpPr>
          <p:cNvPr id="5" name="Text 3"/>
          <p:cNvSpPr/>
          <p:nvPr/>
        </p:nvSpPr>
        <p:spPr>
          <a:xfrm>
            <a:off x="1005840" y="1874520"/>
            <a:ext cx="4572000" cy="320040"/>
          </a:xfrm>
          <a:prstGeom prst="rect">
            <a:avLst/>
          </a:prstGeom>
          <a:noFill/>
          <a:ln/>
        </p:spPr>
        <p:txBody>
          <a:bodyPr wrap="square" rtlCol="0" anchor="ctr"/>
          <a:lstStyle/>
          <a:p>
            <a:pPr indent="0" marL="0">
              <a:buNone/>
            </a:pPr>
            <a:r>
              <a:rPr lang="en-US" sz="1200" b="1" spc="200" kern="0" dirty="0">
                <a:solidFill>
                  <a:srgbClr val="1E8FA5"/>
                </a:solidFill>
                <a:latin typeface="Calibri" pitchFamily="34" charset="0"/>
                <a:ea typeface="Calibri" pitchFamily="34" charset="-122"/>
                <a:cs typeface="Calibri" pitchFamily="34" charset="-120"/>
              </a:rPr>
              <a:t>EBS — BLOCK STORAGE</a:t>
            </a:r>
            <a:endParaRPr lang="en-US" sz="1200" dirty="0"/>
          </a:p>
        </p:txBody>
      </p:sp>
      <p:sp>
        <p:nvSpPr>
          <p:cNvPr id="6" name="Text 4"/>
          <p:cNvSpPr/>
          <p:nvPr/>
        </p:nvSpPr>
        <p:spPr>
          <a:xfrm>
            <a:off x="1005840" y="2331720"/>
            <a:ext cx="4572000" cy="32004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Attaches to one instance</a:t>
            </a:r>
            <a:endParaRPr lang="en-US" sz="1500" dirty="0"/>
          </a:p>
        </p:txBody>
      </p:sp>
      <p:sp>
        <p:nvSpPr>
          <p:cNvPr id="7" name="Text 5"/>
          <p:cNvSpPr/>
          <p:nvPr/>
        </p:nvSpPr>
        <p:spPr>
          <a:xfrm>
            <a:off x="1005840" y="2624328"/>
            <a:ext cx="4572000" cy="45720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A persistent, low-latency virtual hard drive for a single EC2 instance</a:t>
            </a:r>
            <a:endParaRPr lang="en-US" sz="1300" dirty="0"/>
          </a:p>
        </p:txBody>
      </p:sp>
      <p:sp>
        <p:nvSpPr>
          <p:cNvPr id="8" name="Text 6"/>
          <p:cNvSpPr/>
          <p:nvPr/>
        </p:nvSpPr>
        <p:spPr>
          <a:xfrm>
            <a:off x="1005840" y="3172968"/>
            <a:ext cx="4572000" cy="32004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Behaves like a hard drive</a:t>
            </a:r>
            <a:endParaRPr lang="en-US" sz="1500" dirty="0"/>
          </a:p>
        </p:txBody>
      </p:sp>
      <p:sp>
        <p:nvSpPr>
          <p:cNvPr id="9" name="Text 7"/>
          <p:cNvSpPr/>
          <p:nvPr/>
        </p:nvSpPr>
        <p:spPr>
          <a:xfrm>
            <a:off x="1005840" y="3465576"/>
            <a:ext cx="4572000" cy="45720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Raw, block-level storage — the OS formats and manages a file system on top</a:t>
            </a:r>
            <a:endParaRPr lang="en-US" sz="1300" dirty="0"/>
          </a:p>
        </p:txBody>
      </p:sp>
      <p:sp>
        <p:nvSpPr>
          <p:cNvPr id="10" name="Text 8"/>
          <p:cNvSpPr/>
          <p:nvPr/>
        </p:nvSpPr>
        <p:spPr>
          <a:xfrm>
            <a:off x="1005840" y="4014216"/>
            <a:ext cx="4572000" cy="32004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Persists independently</a:t>
            </a:r>
            <a:endParaRPr lang="en-US" sz="1500" dirty="0"/>
          </a:p>
        </p:txBody>
      </p:sp>
      <p:sp>
        <p:nvSpPr>
          <p:cNvPr id="11" name="Text 9"/>
          <p:cNvSpPr/>
          <p:nvPr/>
        </p:nvSpPr>
        <p:spPr>
          <a:xfrm>
            <a:off x="1005840" y="4306824"/>
            <a:ext cx="4572000" cy="45720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Stop the instance, the volume and its data stay intact, ready to reattach</a:t>
            </a:r>
            <a:endParaRPr lang="en-US" sz="1300" dirty="0"/>
          </a:p>
        </p:txBody>
      </p:sp>
      <p:sp>
        <p:nvSpPr>
          <p:cNvPr id="12" name="Text 10"/>
          <p:cNvSpPr/>
          <p:nvPr/>
        </p:nvSpPr>
        <p:spPr>
          <a:xfrm>
            <a:off x="1005840" y="4855464"/>
            <a:ext cx="4572000" cy="320040"/>
          </a:xfrm>
          <a:prstGeom prst="rect">
            <a:avLst/>
          </a:prstGeom>
          <a:noFill/>
          <a:ln/>
        </p:spPr>
        <p:txBody>
          <a:bodyPr wrap="square" rtlCol="0" anchor="ctr"/>
          <a:lstStyle/>
          <a:p>
            <a:pPr indent="0" marL="0">
              <a:buNone/>
            </a:pPr>
            <a:r>
              <a:rPr lang="en-US" sz="1500" b="1" dirty="0">
                <a:solidFill>
                  <a:srgbClr val="232F3E"/>
                </a:solidFill>
                <a:latin typeface="Calibri" pitchFamily="34" charset="0"/>
                <a:ea typeface="Calibri" pitchFamily="34" charset="-122"/>
                <a:cs typeface="Calibri" pitchFamily="34" charset="-120"/>
              </a:rPr>
              <a:t>Built for single-instance workloads</a:t>
            </a:r>
            <a:endParaRPr lang="en-US" sz="1500" dirty="0"/>
          </a:p>
        </p:txBody>
      </p:sp>
      <p:sp>
        <p:nvSpPr>
          <p:cNvPr id="13" name="Text 11"/>
          <p:cNvSpPr/>
          <p:nvPr/>
        </p:nvSpPr>
        <p:spPr>
          <a:xfrm>
            <a:off x="1005840" y="5148072"/>
            <a:ext cx="4572000" cy="45720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Database data files, boot volumes, anything needing consistent low-latency access</a:t>
            </a:r>
            <a:endParaRPr lang="en-US" sz="1300" dirty="0"/>
          </a:p>
        </p:txBody>
      </p:sp>
      <p:sp>
        <p:nvSpPr>
          <p:cNvPr id="14" name="Shape 12"/>
          <p:cNvSpPr/>
          <p:nvPr/>
        </p:nvSpPr>
        <p:spPr>
          <a:xfrm>
            <a:off x="6263640" y="1645920"/>
            <a:ext cx="5257800" cy="4114800"/>
          </a:xfrm>
          <a:prstGeom prst="roundRect">
            <a:avLst>
              <a:gd name="adj" fmla="val 2667"/>
            </a:avLst>
          </a:prstGeom>
          <a:solidFill>
            <a:srgbClr val="232F3E"/>
          </a:solidFill>
          <a:ln/>
        </p:spPr>
        <p:txBody>
          <a:bodyPr/>
          <a:p/>
        </p:txBody>
      </p:sp>
      <p:sp>
        <p:nvSpPr>
          <p:cNvPr id="15" name="Text 13"/>
          <p:cNvSpPr/>
          <p:nvPr/>
        </p:nvSpPr>
        <p:spPr>
          <a:xfrm>
            <a:off x="6629400" y="1874520"/>
            <a:ext cx="457200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EFS — FILE STORAGE</a:t>
            </a:r>
            <a:endParaRPr lang="en-US" sz="1200" dirty="0"/>
          </a:p>
        </p:txBody>
      </p:sp>
      <p:sp>
        <p:nvSpPr>
          <p:cNvPr id="16" name="Text 14"/>
          <p:cNvSpPr/>
          <p:nvPr/>
        </p:nvSpPr>
        <p:spPr>
          <a:xfrm>
            <a:off x="6629400" y="2331720"/>
            <a:ext cx="4572000" cy="320040"/>
          </a:xfrm>
          <a:prstGeom prst="rect">
            <a:avLst/>
          </a:prstGeom>
          <a:noFill/>
          <a:ln/>
        </p:spPr>
        <p:txBody>
          <a:bodyPr wrap="square" rtlCol="0" anchor="ctr"/>
          <a:lstStyle/>
          <a:p>
            <a:pPr indent="0" marL="0">
              <a:buNone/>
            </a:pPr>
            <a:r>
              <a:rPr lang="en-US" sz="1500" b="1" dirty="0">
                <a:solidFill>
                  <a:srgbClr val="5FD08A"/>
                </a:solidFill>
                <a:latin typeface="Calibri" pitchFamily="34" charset="0"/>
                <a:ea typeface="Calibri" pitchFamily="34" charset="-122"/>
                <a:cs typeface="Calibri" pitchFamily="34" charset="-120"/>
              </a:rPr>
              <a:t>Shared across instances</a:t>
            </a:r>
            <a:endParaRPr lang="en-US" sz="1500" dirty="0"/>
          </a:p>
        </p:txBody>
      </p:sp>
      <p:sp>
        <p:nvSpPr>
          <p:cNvPr id="17" name="Text 15"/>
          <p:cNvSpPr/>
          <p:nvPr/>
        </p:nvSpPr>
        <p:spPr>
          <a:xfrm>
            <a:off x="6629400" y="2624328"/>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Multiple EC2 instances mount and access the same file system at once</a:t>
            </a:r>
            <a:endParaRPr lang="en-US" sz="1300" dirty="0"/>
          </a:p>
        </p:txBody>
      </p:sp>
      <p:sp>
        <p:nvSpPr>
          <p:cNvPr id="18" name="Text 16"/>
          <p:cNvSpPr/>
          <p:nvPr/>
        </p:nvSpPr>
        <p:spPr>
          <a:xfrm>
            <a:off x="6629400" y="3172968"/>
            <a:ext cx="4572000" cy="320040"/>
          </a:xfrm>
          <a:prstGeom prst="rect">
            <a:avLst/>
          </a:prstGeom>
          <a:noFill/>
          <a:ln/>
        </p:spPr>
        <p:txBody>
          <a:bodyPr wrap="square" rtlCol="0" anchor="ctr"/>
          <a:lstStyle/>
          <a:p>
            <a:pPr indent="0" marL="0">
              <a:buNone/>
            </a:pPr>
            <a:r>
              <a:rPr lang="en-US" sz="1500" b="1" dirty="0">
                <a:solidFill>
                  <a:srgbClr val="FF8A80"/>
                </a:solidFill>
                <a:latin typeface="Calibri" pitchFamily="34" charset="0"/>
                <a:ea typeface="Calibri" pitchFamily="34" charset="-122"/>
                <a:cs typeface="Calibri" pitchFamily="34" charset="-120"/>
              </a:rPr>
              <a:t>Behaves like a shared drive</a:t>
            </a:r>
            <a:endParaRPr lang="en-US" sz="1500" dirty="0"/>
          </a:p>
        </p:txBody>
      </p:sp>
      <p:sp>
        <p:nvSpPr>
          <p:cNvPr id="19" name="Text 17"/>
          <p:cNvSpPr/>
          <p:nvPr/>
        </p:nvSpPr>
        <p:spPr>
          <a:xfrm>
            <a:off x="6629400" y="3465576"/>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A managed file system, organized in folders, accessed over a network</a:t>
            </a:r>
            <a:endParaRPr lang="en-US" sz="1300" dirty="0"/>
          </a:p>
        </p:txBody>
      </p:sp>
      <p:sp>
        <p:nvSpPr>
          <p:cNvPr id="20" name="Text 18"/>
          <p:cNvSpPr/>
          <p:nvPr/>
        </p:nvSpPr>
        <p:spPr>
          <a:xfrm>
            <a:off x="6629400" y="4014216"/>
            <a:ext cx="4572000" cy="320040"/>
          </a:xfrm>
          <a:prstGeom prst="rect">
            <a:avLst/>
          </a:prstGeom>
          <a:noFill/>
          <a:ln/>
        </p:spPr>
        <p:txBody>
          <a:bodyPr wrap="square" rtlCol="0" anchor="ctr"/>
          <a:lstStyle/>
          <a:p>
            <a:pPr indent="0" marL="0">
              <a:buNone/>
            </a:pPr>
            <a:r>
              <a:rPr lang="en-US" sz="1500" b="1" dirty="0">
                <a:solidFill>
                  <a:srgbClr val="FFC46B"/>
                </a:solidFill>
                <a:latin typeface="Calibri" pitchFamily="34" charset="0"/>
                <a:ea typeface="Calibri" pitchFamily="34" charset="-122"/>
                <a:cs typeface="Calibri" pitchFamily="34" charset="-120"/>
              </a:rPr>
              <a:t>Grows and shrinks automatically</a:t>
            </a:r>
            <a:endParaRPr lang="en-US" sz="1500" dirty="0"/>
          </a:p>
        </p:txBody>
      </p:sp>
      <p:sp>
        <p:nvSpPr>
          <p:cNvPr id="21" name="Text 19"/>
          <p:cNvSpPr/>
          <p:nvPr/>
        </p:nvSpPr>
        <p:spPr>
          <a:xfrm>
            <a:off x="6629400" y="4306824"/>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No capacity to provision in advance — it scales with what's actually stored</a:t>
            </a:r>
            <a:endParaRPr lang="en-US" sz="1300" dirty="0"/>
          </a:p>
        </p:txBody>
      </p:sp>
      <p:sp>
        <p:nvSpPr>
          <p:cNvPr id="22" name="Text 20"/>
          <p:cNvSpPr/>
          <p:nvPr/>
        </p:nvSpPr>
        <p:spPr>
          <a:xfrm>
            <a:off x="6629400" y="4855464"/>
            <a:ext cx="4572000" cy="320040"/>
          </a:xfrm>
          <a:prstGeom prst="rect">
            <a:avLst/>
          </a:prstGeom>
          <a:noFill/>
          <a:ln/>
        </p:spPr>
        <p:txBody>
          <a:bodyPr wrap="square" rtlCol="0" anchor="ctr"/>
          <a:lstStyle/>
          <a:p>
            <a:pPr indent="0" marL="0">
              <a:buNone/>
            </a:pPr>
            <a:r>
              <a:rPr lang="en-US" sz="1500" b="1" dirty="0">
                <a:solidFill>
                  <a:srgbClr val="FFC46B"/>
                </a:solidFill>
                <a:latin typeface="Calibri" pitchFamily="34" charset="0"/>
                <a:ea typeface="Calibri" pitchFamily="34" charset="-122"/>
                <a:cs typeface="Calibri" pitchFamily="34" charset="-120"/>
              </a:rPr>
              <a:t>Built for shared workloads</a:t>
            </a:r>
            <a:endParaRPr lang="en-US" sz="1500" dirty="0"/>
          </a:p>
        </p:txBody>
      </p:sp>
      <p:sp>
        <p:nvSpPr>
          <p:cNvPr id="23" name="Text 21"/>
          <p:cNvSpPr/>
          <p:nvPr/>
        </p:nvSpPr>
        <p:spPr>
          <a:xfrm>
            <a:off x="6629400" y="5148072"/>
            <a:ext cx="4572000" cy="457200"/>
          </a:xfrm>
          <a:prstGeom prst="rect">
            <a:avLst/>
          </a:prstGeom>
          <a:noFill/>
          <a:ln/>
        </p:spPr>
        <p:txBody>
          <a:bodyPr wrap="square" rtlCol="0" anchor="ctr"/>
          <a:lstStyle/>
          <a:p>
            <a:pPr indent="0" marL="0">
              <a:buNone/>
            </a:pPr>
            <a:r>
              <a:rPr lang="en-US" sz="1300" dirty="0">
                <a:solidFill>
                  <a:srgbClr val="C7D2DE"/>
                </a:solidFill>
                <a:latin typeface="Calibri" pitchFamily="34" charset="0"/>
                <a:ea typeface="Calibri" pitchFamily="34" charset="-122"/>
                <a:cs typeface="Calibri" pitchFamily="34" charset="-120"/>
              </a:rPr>
              <a:t>A fleet of web servers all reading and writing the same set of files</a:t>
            </a:r>
            <a:endParaRPr lang="en-US" sz="1300" dirty="0"/>
          </a:p>
        </p:txBody>
      </p:sp>
      <p:sp>
        <p:nvSpPr>
          <p:cNvPr id="24" name="Text 22"/>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5" name="Text 23"/>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THE PIECES</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The Storage Toolkit — 4 Pieces</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Everything in this module is built from four pieces — and it's a real exam question.</a:t>
            </a:r>
            <a:endParaRPr lang="en-US" sz="1500" dirty="0"/>
          </a:p>
        </p:txBody>
      </p:sp>
      <p:sp>
        <p:nvSpPr>
          <p:cNvPr id="5" name="Shape 3"/>
          <p:cNvSpPr/>
          <p:nvPr/>
        </p:nvSpPr>
        <p:spPr>
          <a:xfrm>
            <a:off x="640080" y="1965960"/>
            <a:ext cx="5340096" cy="1965960"/>
          </a:xfrm>
          <a:prstGeom prst="roundRect">
            <a:avLst>
              <a:gd name="adj" fmla="val 4651"/>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6" name="Shape 4"/>
          <p:cNvSpPr/>
          <p:nvPr/>
        </p:nvSpPr>
        <p:spPr>
          <a:xfrm>
            <a:off x="640080" y="1965960"/>
            <a:ext cx="137160" cy="1965960"/>
          </a:xfrm>
          <a:prstGeom prst="roundRect">
            <a:avLst>
              <a:gd name="adj" fmla="val 13333"/>
            </a:avLst>
          </a:prstGeom>
          <a:solidFill>
            <a:srgbClr val="EC7211"/>
          </a:solidFill>
          <a:ln/>
        </p:spPr>
        <p:txBody>
          <a:bodyPr/>
          <a:p/>
        </p:txBody>
      </p:sp>
      <p:sp>
        <p:nvSpPr>
          <p:cNvPr id="7" name="Text 5"/>
          <p:cNvSpPr/>
          <p:nvPr/>
        </p:nvSpPr>
        <p:spPr>
          <a:xfrm>
            <a:off x="1005840" y="2167128"/>
            <a:ext cx="4745736"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Amazon S3</a:t>
            </a:r>
            <a:endParaRPr lang="en-US" sz="1600" dirty="0"/>
          </a:p>
        </p:txBody>
      </p:sp>
      <p:sp>
        <p:nvSpPr>
          <p:cNvPr id="8" name="Text 6"/>
          <p:cNvSpPr/>
          <p:nvPr/>
        </p:nvSpPr>
        <p:spPr>
          <a:xfrm>
            <a:off x="1005840" y="2697480"/>
            <a:ext cx="4700016" cy="10515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Object storage — whole files, accessed over the web, virtually unlimited.</a:t>
            </a:r>
            <a:endParaRPr lang="en-US" sz="1300" dirty="0"/>
          </a:p>
        </p:txBody>
      </p:sp>
      <p:sp>
        <p:nvSpPr>
          <p:cNvPr id="9" name="Shape 7"/>
          <p:cNvSpPr/>
          <p:nvPr/>
        </p:nvSpPr>
        <p:spPr>
          <a:xfrm>
            <a:off x="6208776" y="1965960"/>
            <a:ext cx="5340096" cy="1965960"/>
          </a:xfrm>
          <a:prstGeom prst="roundRect">
            <a:avLst>
              <a:gd name="adj" fmla="val 4651"/>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0" name="Shape 8"/>
          <p:cNvSpPr/>
          <p:nvPr/>
        </p:nvSpPr>
        <p:spPr>
          <a:xfrm>
            <a:off x="6208776" y="1965960"/>
            <a:ext cx="137160" cy="1965960"/>
          </a:xfrm>
          <a:prstGeom prst="roundRect">
            <a:avLst>
              <a:gd name="adj" fmla="val 13333"/>
            </a:avLst>
          </a:prstGeom>
          <a:solidFill>
            <a:srgbClr val="1F8A38"/>
          </a:solidFill>
          <a:ln/>
        </p:spPr>
        <p:txBody>
          <a:bodyPr/>
          <a:p/>
        </p:txBody>
      </p:sp>
      <p:sp>
        <p:nvSpPr>
          <p:cNvPr id="11" name="Text 9"/>
          <p:cNvSpPr/>
          <p:nvPr/>
        </p:nvSpPr>
        <p:spPr>
          <a:xfrm>
            <a:off x="6574536" y="2167128"/>
            <a:ext cx="4745736"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Amazon EBS</a:t>
            </a:r>
            <a:endParaRPr lang="en-US" sz="1600" dirty="0"/>
          </a:p>
        </p:txBody>
      </p:sp>
      <p:sp>
        <p:nvSpPr>
          <p:cNvPr id="12" name="Text 10"/>
          <p:cNvSpPr/>
          <p:nvPr/>
        </p:nvSpPr>
        <p:spPr>
          <a:xfrm>
            <a:off x="6574536" y="2697480"/>
            <a:ext cx="4700016" cy="10515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Block storage — a virtual hard drive attached to one instance.</a:t>
            </a:r>
            <a:endParaRPr lang="en-US" sz="1300" dirty="0"/>
          </a:p>
        </p:txBody>
      </p:sp>
      <p:sp>
        <p:nvSpPr>
          <p:cNvPr id="13" name="Shape 11"/>
          <p:cNvSpPr/>
          <p:nvPr/>
        </p:nvSpPr>
        <p:spPr>
          <a:xfrm>
            <a:off x="640080" y="4160520"/>
            <a:ext cx="5340096" cy="1965960"/>
          </a:xfrm>
          <a:prstGeom prst="roundRect">
            <a:avLst>
              <a:gd name="adj" fmla="val 4651"/>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4" name="Shape 12"/>
          <p:cNvSpPr/>
          <p:nvPr/>
        </p:nvSpPr>
        <p:spPr>
          <a:xfrm>
            <a:off x="640080" y="4160520"/>
            <a:ext cx="137160" cy="1965960"/>
          </a:xfrm>
          <a:prstGeom prst="roundRect">
            <a:avLst>
              <a:gd name="adj" fmla="val 13333"/>
            </a:avLst>
          </a:prstGeom>
          <a:solidFill>
            <a:srgbClr val="1E8FA5"/>
          </a:solidFill>
          <a:ln/>
        </p:spPr>
        <p:txBody>
          <a:bodyPr/>
          <a:p/>
        </p:txBody>
      </p:sp>
      <p:sp>
        <p:nvSpPr>
          <p:cNvPr id="15" name="Text 13"/>
          <p:cNvSpPr/>
          <p:nvPr/>
        </p:nvSpPr>
        <p:spPr>
          <a:xfrm>
            <a:off x="1005840" y="4361688"/>
            <a:ext cx="4745736"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Amazon EFS</a:t>
            </a:r>
            <a:endParaRPr lang="en-US" sz="1600" dirty="0"/>
          </a:p>
        </p:txBody>
      </p:sp>
      <p:sp>
        <p:nvSpPr>
          <p:cNvPr id="16" name="Text 14"/>
          <p:cNvSpPr/>
          <p:nvPr/>
        </p:nvSpPr>
        <p:spPr>
          <a:xfrm>
            <a:off x="1005840" y="4892040"/>
            <a:ext cx="4700016" cy="10515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File storage — a shared file system, many instances at once.</a:t>
            </a:r>
            <a:endParaRPr lang="en-US" sz="1300" dirty="0"/>
          </a:p>
        </p:txBody>
      </p:sp>
      <p:sp>
        <p:nvSpPr>
          <p:cNvPr id="17" name="Shape 15"/>
          <p:cNvSpPr/>
          <p:nvPr/>
        </p:nvSpPr>
        <p:spPr>
          <a:xfrm>
            <a:off x="6208776" y="4160520"/>
            <a:ext cx="5340096" cy="1965960"/>
          </a:xfrm>
          <a:prstGeom prst="roundRect">
            <a:avLst>
              <a:gd name="adj" fmla="val 4651"/>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8" name="Shape 16"/>
          <p:cNvSpPr/>
          <p:nvPr/>
        </p:nvSpPr>
        <p:spPr>
          <a:xfrm>
            <a:off x="6208776" y="4160520"/>
            <a:ext cx="137160" cy="1965960"/>
          </a:xfrm>
          <a:prstGeom prst="roundRect">
            <a:avLst>
              <a:gd name="adj" fmla="val 13333"/>
            </a:avLst>
          </a:prstGeom>
          <a:solidFill>
            <a:srgbClr val="7A5C9E"/>
          </a:solidFill>
          <a:ln/>
        </p:spPr>
        <p:txBody>
          <a:bodyPr/>
          <a:p/>
        </p:txBody>
      </p:sp>
      <p:sp>
        <p:nvSpPr>
          <p:cNvPr id="19" name="Text 17"/>
          <p:cNvSpPr/>
          <p:nvPr/>
        </p:nvSpPr>
        <p:spPr>
          <a:xfrm>
            <a:off x="6574536" y="4361688"/>
            <a:ext cx="4745736"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Lifecycle Policies</a:t>
            </a:r>
            <a:endParaRPr lang="en-US" sz="1600" dirty="0"/>
          </a:p>
        </p:txBody>
      </p:sp>
      <p:sp>
        <p:nvSpPr>
          <p:cNvPr id="20" name="Text 18"/>
          <p:cNvSpPr/>
          <p:nvPr/>
        </p:nvSpPr>
        <p:spPr>
          <a:xfrm>
            <a:off x="6574536" y="4892040"/>
            <a:ext cx="4700016" cy="10515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Automatically move or delete S3 objects as their access pattern ages.</a:t>
            </a:r>
            <a:endParaRPr lang="en-US" sz="1300" dirty="0"/>
          </a:p>
        </p:txBody>
      </p:sp>
      <p:sp>
        <p:nvSpPr>
          <p:cNvPr id="21" name="Shape 19"/>
          <p:cNvSpPr/>
          <p:nvPr/>
        </p:nvSpPr>
        <p:spPr>
          <a:xfrm>
            <a:off x="640080" y="6080760"/>
            <a:ext cx="10908792" cy="914"/>
          </a:xfrm>
          <a:prstGeom prst="roundRect">
            <a:avLst/>
          </a:prstGeom>
          <a:solidFill>
            <a:srgbClr val="F4F6F8"/>
          </a:solidFill>
          <a:ln/>
        </p:spPr>
        <p:txBody>
          <a:bodyPr/>
          <a:p/>
        </p:txBody>
      </p:sp>
      <p:sp>
        <p:nvSpPr>
          <p:cNvPr id="22" name="Text 20"/>
          <p:cNvSpPr/>
          <p:nvPr/>
        </p:nvSpPr>
        <p:spPr>
          <a:xfrm>
            <a:off x="640080" y="5989320"/>
            <a:ext cx="10908792" cy="365760"/>
          </a:xfrm>
          <a:prstGeom prst="rect">
            <a:avLst/>
          </a:prstGeom>
          <a:noFill/>
          <a:ln/>
        </p:spPr>
        <p:txBody>
          <a:bodyPr wrap="square" rtlCol="0" anchor="ctr"/>
          <a:lstStyle/>
          <a:p>
            <a:pPr algn="ctr" indent="0" marL="0">
              <a:buNone/>
            </a:pPr>
            <a:r>
              <a:rPr lang="en-US" sz="1300" i="1" dirty="0">
                <a:solidFill>
                  <a:srgbClr val="5B6570"/>
                </a:solidFill>
                <a:latin typeface="Calibri" pitchFamily="34" charset="0"/>
                <a:ea typeface="Calibri" pitchFamily="34" charset="-122"/>
                <a:cs typeface="Calibri" pitchFamily="34" charset="-120"/>
              </a:rPr>
              <a:t>Exam cue:  sort the scenario by access pattern first — one instance vs. many, whole objects vs. a file system — before picking a service.</a:t>
            </a:r>
            <a:endParaRPr lang="en-US" sz="1300" dirty="0"/>
          </a:p>
        </p:txBody>
      </p:sp>
      <p:sp>
        <p:nvSpPr>
          <p:cNvPr id="23" name="Text 21"/>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4" name="Text 22"/>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640080" y="457200"/>
            <a:ext cx="3291840" cy="384048"/>
          </a:xfrm>
          <a:prstGeom prst="roundRect">
            <a:avLst>
              <a:gd name="adj" fmla="val 19048"/>
            </a:avLst>
          </a:prstGeom>
          <a:solidFill>
            <a:srgbClr val="C0392B"/>
          </a:solidFill>
          <a:ln/>
        </p:spPr>
        <p:txBody>
          <a:bodyPr/>
          <a:p/>
        </p:txBody>
      </p:sp>
      <p:sp>
        <p:nvSpPr>
          <p:cNvPr id="3" name="Text 1"/>
          <p:cNvSpPr/>
          <p:nvPr/>
        </p:nvSpPr>
        <p:spPr>
          <a:xfrm>
            <a:off x="640080" y="457200"/>
            <a:ext cx="3291840" cy="384048"/>
          </a:xfrm>
          <a:prstGeom prst="rect">
            <a:avLst/>
          </a:prstGeom>
          <a:noFill/>
          <a:ln/>
        </p:spPr>
        <p:txBody>
          <a:bodyPr wrap="square"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TWO WAYS TO MOVE DATA IN</a:t>
            </a:r>
            <a:endParaRPr lang="en-US" sz="1150" dirty="0"/>
          </a:p>
        </p:txBody>
      </p:sp>
      <p:sp>
        <p:nvSpPr>
          <p:cNvPr id="4" name="Text 2"/>
          <p:cNvSpPr/>
          <p:nvPr/>
        </p:nvSpPr>
        <p:spPr>
          <a:xfrm>
            <a:off x="640080" y="960120"/>
            <a:ext cx="10515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Storage Gateway vs. the Snow Family</a:t>
            </a:r>
            <a:endParaRPr lang="en-US" sz="3200" dirty="0"/>
          </a:p>
        </p:txBody>
      </p:sp>
      <p:sp>
        <p:nvSpPr>
          <p:cNvPr id="5" name="Text 3"/>
          <p:cNvSpPr/>
          <p:nvPr/>
        </p:nvSpPr>
        <p:spPr>
          <a:xfrm>
            <a:off x="640080" y="1645920"/>
            <a:ext cx="10515600" cy="365760"/>
          </a:xfrm>
          <a:prstGeom prst="rect">
            <a:avLst/>
          </a:prstGeom>
          <a:noFill/>
          <a:ln/>
        </p:spPr>
        <p:txBody>
          <a:bodyPr wrap="square" rtlCol="0" anchor="ctr"/>
          <a:lstStyle/>
          <a:p>
            <a:pPr indent="0" marL="0">
              <a:buNone/>
            </a:pPr>
            <a:r>
              <a:rPr lang="en-US" sz="1500" i="1" dirty="0">
                <a:solidFill>
                  <a:srgbClr val="AEB9C6"/>
                </a:solidFill>
                <a:latin typeface="Calibri" pitchFamily="34" charset="0"/>
                <a:ea typeface="Calibri" pitchFamily="34" charset="-122"/>
                <a:cs typeface="Calibri" pitchFamily="34" charset="-120"/>
              </a:rPr>
              <a:t>Two services that sound similar solve the same basic problem — getting data into AWS — at very different scales.</a:t>
            </a:r>
            <a:endParaRPr lang="en-US" sz="1500" dirty="0"/>
          </a:p>
        </p:txBody>
      </p:sp>
      <p:sp>
        <p:nvSpPr>
          <p:cNvPr id="6" name="Shape 4"/>
          <p:cNvSpPr/>
          <p:nvPr/>
        </p:nvSpPr>
        <p:spPr>
          <a:xfrm>
            <a:off x="640080" y="2194560"/>
            <a:ext cx="5257800" cy="1234440"/>
          </a:xfrm>
          <a:prstGeom prst="roundRect">
            <a:avLst>
              <a:gd name="adj" fmla="val 7407"/>
            </a:avLst>
          </a:prstGeom>
          <a:solidFill>
            <a:srgbClr val="2E3E52"/>
          </a:solidFill>
          <a:ln/>
        </p:spPr>
        <p:txBody>
          <a:bodyPr/>
          <a:p/>
        </p:txBody>
      </p:sp>
      <p:sp>
        <p:nvSpPr>
          <p:cNvPr id="7" name="Text 5"/>
          <p:cNvSpPr/>
          <p:nvPr/>
        </p:nvSpPr>
        <p:spPr>
          <a:xfrm>
            <a:off x="1005840" y="2377440"/>
            <a:ext cx="4572000" cy="365760"/>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AWS Storage Gateway</a:t>
            </a:r>
            <a:endParaRPr lang="en-US" sz="1650" dirty="0"/>
          </a:p>
        </p:txBody>
      </p:sp>
      <p:sp>
        <p:nvSpPr>
          <p:cNvPr id="8" name="Text 6"/>
          <p:cNvSpPr/>
          <p:nvPr/>
        </p:nvSpPr>
        <p:spPr>
          <a:xfrm>
            <a:off x="1005840" y="2761488"/>
            <a:ext cx="4572000" cy="548640"/>
          </a:xfrm>
          <a:prstGeom prst="rect">
            <a:avLst/>
          </a:prstGeom>
          <a:noFill/>
          <a:ln/>
        </p:spPr>
        <p:txBody>
          <a:bodyPr wrap="square" rtlCol="0" anchor="ctr"/>
          <a:lstStyle/>
          <a:p>
            <a:pPr indent="0" marL="0">
              <a:buNone/>
            </a:pPr>
            <a:r>
              <a:rPr lang="en-US" sz="1350" dirty="0">
                <a:solidFill>
                  <a:srgbClr val="C7D2DE"/>
                </a:solidFill>
                <a:latin typeface="Calibri" pitchFamily="34" charset="0"/>
                <a:ea typeface="Calibri" pitchFamily="34" charset="-122"/>
                <a:cs typeface="Calibri" pitchFamily="34" charset="-120"/>
              </a:rPr>
              <a:t>A hybrid service connecting an on-premises environment to AWS storage, over the network, ongoing.</a:t>
            </a:r>
            <a:endParaRPr lang="en-US" sz="1350" dirty="0"/>
          </a:p>
        </p:txBody>
      </p:sp>
      <p:sp>
        <p:nvSpPr>
          <p:cNvPr id="9" name="Shape 7"/>
          <p:cNvSpPr/>
          <p:nvPr/>
        </p:nvSpPr>
        <p:spPr>
          <a:xfrm>
            <a:off x="6217920" y="2194560"/>
            <a:ext cx="5257800" cy="1234440"/>
          </a:xfrm>
          <a:prstGeom prst="roundRect">
            <a:avLst>
              <a:gd name="adj" fmla="val 7407"/>
            </a:avLst>
          </a:prstGeom>
          <a:solidFill>
            <a:srgbClr val="2E3E52"/>
          </a:solidFill>
          <a:ln/>
        </p:spPr>
        <p:txBody>
          <a:bodyPr/>
          <a:p/>
        </p:txBody>
      </p:sp>
      <p:sp>
        <p:nvSpPr>
          <p:cNvPr id="10" name="Text 8"/>
          <p:cNvSpPr/>
          <p:nvPr/>
        </p:nvSpPr>
        <p:spPr>
          <a:xfrm>
            <a:off x="6583680" y="2377440"/>
            <a:ext cx="4572000" cy="365760"/>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The AWS Snow Family</a:t>
            </a:r>
            <a:endParaRPr lang="en-US" sz="1650" dirty="0"/>
          </a:p>
        </p:txBody>
      </p:sp>
      <p:sp>
        <p:nvSpPr>
          <p:cNvPr id="11" name="Text 9"/>
          <p:cNvSpPr/>
          <p:nvPr/>
        </p:nvSpPr>
        <p:spPr>
          <a:xfrm>
            <a:off x="6583680" y="2761488"/>
            <a:ext cx="4572000" cy="548640"/>
          </a:xfrm>
          <a:prstGeom prst="rect">
            <a:avLst/>
          </a:prstGeom>
          <a:noFill/>
          <a:ln/>
        </p:spPr>
        <p:txBody>
          <a:bodyPr wrap="square" rtlCol="0" anchor="ctr"/>
          <a:lstStyle/>
          <a:p>
            <a:pPr indent="0" marL="0">
              <a:buNone/>
            </a:pPr>
            <a:r>
              <a:rPr lang="en-US" sz="1350" dirty="0">
                <a:solidFill>
                  <a:srgbClr val="C7D2DE"/>
                </a:solidFill>
                <a:latin typeface="Calibri" pitchFamily="34" charset="0"/>
                <a:ea typeface="Calibri" pitchFamily="34" charset="-122"/>
                <a:cs typeface="Calibri" pitchFamily="34" charset="-120"/>
              </a:rPr>
              <a:t>Physical devices AWS ships to you, filled on-premises, then shipped back and uploaded directly into AWS.</a:t>
            </a:r>
            <a:endParaRPr lang="en-US" sz="1350" dirty="0"/>
          </a:p>
        </p:txBody>
      </p:sp>
      <p:sp>
        <p:nvSpPr>
          <p:cNvPr id="12" name="Shape 10"/>
          <p:cNvSpPr/>
          <p:nvPr/>
        </p:nvSpPr>
        <p:spPr>
          <a:xfrm>
            <a:off x="640080" y="3611880"/>
            <a:ext cx="5257800" cy="1234440"/>
          </a:xfrm>
          <a:prstGeom prst="roundRect">
            <a:avLst>
              <a:gd name="adj" fmla="val 7407"/>
            </a:avLst>
          </a:prstGeom>
          <a:solidFill>
            <a:srgbClr val="2E3E52"/>
          </a:solidFill>
          <a:ln/>
        </p:spPr>
        <p:txBody>
          <a:bodyPr/>
          <a:p/>
        </p:txBody>
      </p:sp>
      <p:sp>
        <p:nvSpPr>
          <p:cNvPr id="13" name="Text 11"/>
          <p:cNvSpPr/>
          <p:nvPr/>
        </p:nvSpPr>
        <p:spPr>
          <a:xfrm>
            <a:off x="1005840" y="3794760"/>
            <a:ext cx="4572000" cy="365760"/>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Different bandwidth assumptions</a:t>
            </a:r>
            <a:endParaRPr lang="en-US" sz="1650" dirty="0"/>
          </a:p>
        </p:txBody>
      </p:sp>
      <p:sp>
        <p:nvSpPr>
          <p:cNvPr id="14" name="Text 12"/>
          <p:cNvSpPr/>
          <p:nvPr/>
        </p:nvSpPr>
        <p:spPr>
          <a:xfrm>
            <a:off x="1005840" y="4178808"/>
            <a:ext cx="4572000" cy="548640"/>
          </a:xfrm>
          <a:prstGeom prst="rect">
            <a:avLst/>
          </a:prstGeom>
          <a:noFill/>
          <a:ln/>
        </p:spPr>
        <p:txBody>
          <a:bodyPr wrap="square" rtlCol="0" anchor="ctr"/>
          <a:lstStyle/>
          <a:p>
            <a:pPr indent="0" marL="0">
              <a:buNone/>
            </a:pPr>
            <a:r>
              <a:rPr lang="en-US" sz="1350" dirty="0">
                <a:solidFill>
                  <a:srgbClr val="C7D2DE"/>
                </a:solidFill>
                <a:latin typeface="Calibri" pitchFamily="34" charset="0"/>
                <a:ea typeface="Calibri" pitchFamily="34" charset="-122"/>
                <a:cs typeface="Calibri" pitchFamily="34" charset="-120"/>
              </a:rPr>
              <a:t>Storage Gateway assumes a working network connection; Snow Family assumes bandwidth is the actual bottleneck.</a:t>
            </a:r>
            <a:endParaRPr lang="en-US" sz="1350" dirty="0"/>
          </a:p>
        </p:txBody>
      </p:sp>
      <p:sp>
        <p:nvSpPr>
          <p:cNvPr id="15" name="Shape 13"/>
          <p:cNvSpPr/>
          <p:nvPr/>
        </p:nvSpPr>
        <p:spPr>
          <a:xfrm>
            <a:off x="6217920" y="3611880"/>
            <a:ext cx="5257800" cy="1234440"/>
          </a:xfrm>
          <a:prstGeom prst="roundRect">
            <a:avLst>
              <a:gd name="adj" fmla="val 7407"/>
            </a:avLst>
          </a:prstGeom>
          <a:solidFill>
            <a:srgbClr val="2E3E52"/>
          </a:solidFill>
          <a:ln/>
        </p:spPr>
        <p:txBody>
          <a:bodyPr/>
          <a:p/>
        </p:txBody>
      </p:sp>
      <p:sp>
        <p:nvSpPr>
          <p:cNvPr id="16" name="Text 14"/>
          <p:cNvSpPr/>
          <p:nvPr/>
        </p:nvSpPr>
        <p:spPr>
          <a:xfrm>
            <a:off x="6583680" y="3794760"/>
            <a:ext cx="4572000" cy="365760"/>
          </a:xfrm>
          <a:prstGeom prst="rect">
            <a:avLst/>
          </a:prstGeom>
          <a:noFill/>
          <a:ln/>
        </p:spPr>
        <p:txBody>
          <a:bodyPr wrap="square" rtlCol="0" anchor="ctr"/>
          <a:lstStyle/>
          <a:p>
            <a:pPr indent="0" marL="0">
              <a:buNone/>
            </a:pPr>
            <a:r>
              <a:rPr lang="en-US" sz="1650" b="1" dirty="0">
                <a:solidFill>
                  <a:srgbClr val="FF9900"/>
                </a:solidFill>
                <a:latin typeface="Calibri" pitchFamily="34" charset="0"/>
                <a:ea typeface="Calibri" pitchFamily="34" charset="-122"/>
                <a:cs typeface="Calibri" pitchFamily="34" charset="-120"/>
              </a:rPr>
              <a:t>Different time horizons</a:t>
            </a:r>
            <a:endParaRPr lang="en-US" sz="1650" dirty="0"/>
          </a:p>
        </p:txBody>
      </p:sp>
      <p:sp>
        <p:nvSpPr>
          <p:cNvPr id="17" name="Text 15"/>
          <p:cNvSpPr/>
          <p:nvPr/>
        </p:nvSpPr>
        <p:spPr>
          <a:xfrm>
            <a:off x="6583680" y="4178808"/>
            <a:ext cx="4572000" cy="548640"/>
          </a:xfrm>
          <a:prstGeom prst="rect">
            <a:avLst/>
          </a:prstGeom>
          <a:noFill/>
          <a:ln/>
        </p:spPr>
        <p:txBody>
          <a:bodyPr wrap="square" rtlCol="0" anchor="ctr"/>
          <a:lstStyle/>
          <a:p>
            <a:pPr indent="0" marL="0">
              <a:buNone/>
            </a:pPr>
            <a:r>
              <a:rPr lang="en-US" sz="1350" dirty="0">
                <a:solidFill>
                  <a:srgbClr val="C7D2DE"/>
                </a:solidFill>
                <a:latin typeface="Calibri" pitchFamily="34" charset="0"/>
                <a:ea typeface="Calibri" pitchFamily="34" charset="-122"/>
                <a:cs typeface="Calibri" pitchFamily="34" charset="-120"/>
              </a:rPr>
              <a:t>Storage Gateway is an ongoing hybrid presence; Snow Family is typically a one-time or occasional bulk transfer.</a:t>
            </a:r>
            <a:endParaRPr lang="en-US" sz="1350" dirty="0"/>
          </a:p>
        </p:txBody>
      </p:sp>
      <p:sp>
        <p:nvSpPr>
          <p:cNvPr id="18" name="Shape 16"/>
          <p:cNvSpPr/>
          <p:nvPr/>
        </p:nvSpPr>
        <p:spPr>
          <a:xfrm>
            <a:off x="640080" y="5120640"/>
            <a:ext cx="10908792" cy="914400"/>
          </a:xfrm>
          <a:prstGeom prst="roundRect">
            <a:avLst>
              <a:gd name="adj" fmla="val 10000"/>
            </a:avLst>
          </a:prstGeom>
          <a:solidFill>
            <a:srgbClr val="C0392B"/>
          </a:solidFill>
          <a:ln/>
        </p:spPr>
        <p:txBody>
          <a:bodyPr/>
          <a:p/>
        </p:txBody>
      </p:sp>
      <p:sp>
        <p:nvSpPr>
          <p:cNvPr id="19" name="Text 17"/>
          <p:cNvSpPr/>
          <p:nvPr/>
        </p:nvSpPr>
        <p:spPr>
          <a:xfrm>
            <a:off x="1051560" y="5303520"/>
            <a:ext cx="10085832" cy="640080"/>
          </a:xfrm>
          <a:prstGeom prst="rect">
            <a:avLst/>
          </a:prstGeom>
          <a:noFill/>
          <a:ln/>
        </p:spPr>
        <p:txBody>
          <a:bodyPr wrap="square" rtlCol="0" anchor="ctr"/>
          <a:lstStyle/>
          <a:p>
            <a:pPr indent="0" marL="0">
              <a:lnSpc>
                <a:spcPct val="103000"/>
              </a:lnSpc>
              <a:buNone/>
            </a:pPr>
            <a:r>
              <a:rPr lang="en-US" sz="1450" b="1" dirty="0">
                <a:solidFill>
                  <a:srgbClr val="FFFFFF"/>
                </a:solidFill>
                <a:latin typeface="Calibri" pitchFamily="34" charset="0"/>
                <a:ea typeface="Calibri" pitchFamily="34" charset="-122"/>
                <a:cs typeface="Calibri" pitchFamily="34" charset="-120"/>
              </a:rPr>
              <a:t>Trap to know:  the Snow Family's cue is always very large data volume PLUS limited or unreliable bandwidth — if bandwidth is fine, a standard online transfer is simpler.</a:t>
            </a:r>
            <a:pPr indent="0" marL="0">
              <a:lnSpc>
                <a:spcPct val="103000"/>
              </a:lnSpc>
              <a:buNone/>
            </a:pPr>
            <a:r>
              <a:rPr lang="en-US" sz="1450" dirty="0">
                <a:solidFill>
                  <a:srgbClr val="FFE3E0"/>
                </a:solidFill>
                <a:latin typeface="Calibri" pitchFamily="34" charset="0"/>
                <a:ea typeface="Calibri" pitchFamily="34" charset="-122"/>
                <a:cs typeface="Calibri" pitchFamily="34" charset="-120"/>
              </a:rPr>
              <a:t/>
            </a:r>
            <a:endParaRPr lang="en-US" sz="1450" dirty="0"/>
          </a:p>
        </p:txBody>
      </p:sp>
      <p:sp>
        <p:nvSpPr>
          <p:cNvPr id="20" name="Text 1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1" name="Text 1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AUTOMATING COST OPTIMIZATION</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S3 Lifecycle Policies</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The automation layer that makes the storage-class spectrum actually work at scale, without anyone doing it by hand.</a:t>
            </a:r>
            <a:endParaRPr lang="en-US" sz="1500" dirty="0"/>
          </a:p>
        </p:txBody>
      </p:sp>
      <p:sp>
        <p:nvSpPr>
          <p:cNvPr id="5" name="Shape 3"/>
          <p:cNvSpPr/>
          <p:nvPr/>
        </p:nvSpPr>
        <p:spPr>
          <a:xfrm>
            <a:off x="640080" y="1965960"/>
            <a:ext cx="3383280" cy="2834640"/>
          </a:xfrm>
          <a:prstGeom prst="roundRect">
            <a:avLst>
              <a:gd name="adj" fmla="val 3871"/>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txBody>
          <a:bodyPr/>
          <a:p/>
        </p:txBody>
      </p:sp>
      <p:sp>
        <p:nvSpPr>
          <p:cNvPr id="6" name="Shape 4"/>
          <p:cNvSpPr/>
          <p:nvPr/>
        </p:nvSpPr>
        <p:spPr>
          <a:xfrm>
            <a:off x="640080" y="1965960"/>
            <a:ext cx="3383280" cy="146304"/>
          </a:xfrm>
          <a:prstGeom prst="roundRect">
            <a:avLst>
              <a:gd name="adj" fmla="val 12500"/>
            </a:avLst>
          </a:prstGeom>
          <a:solidFill>
            <a:srgbClr val="EC7211"/>
          </a:solidFill>
          <a:ln/>
        </p:spPr>
        <p:txBody>
          <a:bodyPr/>
          <a:p/>
        </p:txBody>
      </p:sp>
      <p:sp>
        <p:nvSpPr>
          <p:cNvPr id="7" name="Text 5"/>
          <p:cNvSpPr/>
          <p:nvPr/>
        </p:nvSpPr>
        <p:spPr>
          <a:xfrm>
            <a:off x="960120" y="2331720"/>
            <a:ext cx="2743200" cy="457200"/>
          </a:xfrm>
          <a:prstGeom prst="rect">
            <a:avLst/>
          </a:prstGeom>
          <a:noFill/>
          <a:ln/>
        </p:spPr>
        <p:txBody>
          <a:bodyPr wrap="square" rtlCol="0" anchor="ctr"/>
          <a:lstStyle/>
          <a:p>
            <a:pPr indent="0" marL="0">
              <a:buNone/>
            </a:pPr>
            <a:r>
              <a:rPr lang="en-US" sz="1800" b="1" dirty="0">
                <a:solidFill>
                  <a:srgbClr val="EC7211"/>
                </a:solidFill>
                <a:latin typeface="Calibri" pitchFamily="34" charset="0"/>
                <a:ea typeface="Calibri" pitchFamily="34" charset="-122"/>
                <a:cs typeface="Calibri" pitchFamily="34" charset="-120"/>
              </a:rPr>
              <a:t>1 · What It Is</a:t>
            </a:r>
            <a:endParaRPr lang="en-US" sz="1800" dirty="0"/>
          </a:p>
        </p:txBody>
      </p:sp>
      <p:sp>
        <p:nvSpPr>
          <p:cNvPr id="8" name="Text 6"/>
          <p:cNvSpPr/>
          <p:nvPr/>
        </p:nvSpPr>
        <p:spPr>
          <a:xfrm>
            <a:off x="960120" y="2834640"/>
            <a:ext cx="2743200" cy="1783080"/>
          </a:xfrm>
          <a:prstGeom prst="rect">
            <a:avLst/>
          </a:prstGeom>
          <a:noFill/>
          <a:ln/>
        </p:spPr>
        <p:txBody>
          <a:bodyPr wrap="square" rtlCol="0" anchor="ctr"/>
          <a:lstStyle/>
          <a:p>
            <a:pPr indent="0" marL="0">
              <a:lnSpc>
                <a:spcPct val="105000"/>
              </a:lnSpc>
              <a:buNone/>
            </a:pPr>
            <a:r>
              <a:rPr lang="en-US" sz="1350" dirty="0">
                <a:solidFill>
                  <a:srgbClr val="5B6570"/>
                </a:solidFill>
                <a:latin typeface="Calibri" pitchFamily="34" charset="0"/>
                <a:ea typeface="Calibri" pitchFamily="34" charset="-122"/>
                <a:cs typeface="Calibri" pitchFamily="34" charset="-120"/>
              </a:rPr>
              <a:t>A rule set that automatically transitions S3 objects between storage classes — or deletes them — based on age or access pattern.</a:t>
            </a:r>
            <a:endParaRPr lang="en-US" sz="1350" dirty="0"/>
          </a:p>
        </p:txBody>
      </p:sp>
      <p:sp>
        <p:nvSpPr>
          <p:cNvPr id="9" name="Shape 7"/>
          <p:cNvSpPr/>
          <p:nvPr/>
        </p:nvSpPr>
        <p:spPr>
          <a:xfrm>
            <a:off x="4343400" y="1965960"/>
            <a:ext cx="3383280" cy="2834640"/>
          </a:xfrm>
          <a:prstGeom prst="roundRect">
            <a:avLst>
              <a:gd name="adj" fmla="val 3871"/>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txBody>
          <a:bodyPr/>
          <a:p/>
        </p:txBody>
      </p:sp>
      <p:sp>
        <p:nvSpPr>
          <p:cNvPr id="10" name="Shape 8"/>
          <p:cNvSpPr/>
          <p:nvPr/>
        </p:nvSpPr>
        <p:spPr>
          <a:xfrm>
            <a:off x="4343400" y="1965960"/>
            <a:ext cx="3383280" cy="146304"/>
          </a:xfrm>
          <a:prstGeom prst="roundRect">
            <a:avLst>
              <a:gd name="adj" fmla="val 12500"/>
            </a:avLst>
          </a:prstGeom>
          <a:solidFill>
            <a:srgbClr val="1E8FA5"/>
          </a:solidFill>
          <a:ln/>
        </p:spPr>
        <p:txBody>
          <a:bodyPr/>
          <a:p/>
        </p:txBody>
      </p:sp>
      <p:sp>
        <p:nvSpPr>
          <p:cNvPr id="11" name="Text 9"/>
          <p:cNvSpPr/>
          <p:nvPr/>
        </p:nvSpPr>
        <p:spPr>
          <a:xfrm>
            <a:off x="4663440" y="2331720"/>
            <a:ext cx="2743200" cy="457200"/>
          </a:xfrm>
          <a:prstGeom prst="rect">
            <a:avLst/>
          </a:prstGeom>
          <a:noFill/>
          <a:ln/>
        </p:spPr>
        <p:txBody>
          <a:bodyPr wrap="square" rtlCol="0" anchor="ctr"/>
          <a:lstStyle/>
          <a:p>
            <a:pPr indent="0" marL="0">
              <a:buNone/>
            </a:pPr>
            <a:r>
              <a:rPr lang="en-US" sz="1800" b="1" dirty="0">
                <a:solidFill>
                  <a:srgbClr val="1E8FA5"/>
                </a:solidFill>
                <a:latin typeface="Calibri" pitchFamily="34" charset="0"/>
                <a:ea typeface="Calibri" pitchFamily="34" charset="-122"/>
                <a:cs typeface="Calibri" pitchFamily="34" charset="-120"/>
              </a:rPr>
              <a:t>2 · How It Works</a:t>
            </a:r>
            <a:endParaRPr lang="en-US" sz="1800" dirty="0"/>
          </a:p>
        </p:txBody>
      </p:sp>
      <p:sp>
        <p:nvSpPr>
          <p:cNvPr id="12" name="Text 10"/>
          <p:cNvSpPr/>
          <p:nvPr/>
        </p:nvSpPr>
        <p:spPr>
          <a:xfrm>
            <a:off x="4663440" y="2834640"/>
            <a:ext cx="2743200" cy="1783080"/>
          </a:xfrm>
          <a:prstGeom prst="rect">
            <a:avLst/>
          </a:prstGeom>
          <a:noFill/>
          <a:ln/>
        </p:spPr>
        <p:txBody>
          <a:bodyPr wrap="square" rtlCol="0" anchor="ctr"/>
          <a:lstStyle/>
          <a:p>
            <a:pPr indent="0" marL="0">
              <a:lnSpc>
                <a:spcPct val="105000"/>
              </a:lnSpc>
              <a:buNone/>
            </a:pPr>
            <a:r>
              <a:rPr lang="en-US" sz="1350" dirty="0">
                <a:solidFill>
                  <a:srgbClr val="5B6570"/>
                </a:solidFill>
                <a:latin typeface="Calibri" pitchFamily="34" charset="0"/>
                <a:ea typeface="Calibri" pitchFamily="34" charset="-122"/>
                <a:cs typeface="Calibri" pitchFamily="34" charset="-120"/>
              </a:rPr>
              <a:t>You define the rules once; AWS moves objects between classes on schedule, with no manual intervention.</a:t>
            </a:r>
            <a:endParaRPr lang="en-US" sz="1350" dirty="0"/>
          </a:p>
        </p:txBody>
      </p:sp>
      <p:sp>
        <p:nvSpPr>
          <p:cNvPr id="13" name="Shape 11"/>
          <p:cNvSpPr/>
          <p:nvPr/>
        </p:nvSpPr>
        <p:spPr>
          <a:xfrm>
            <a:off x="8046720" y="1965960"/>
            <a:ext cx="3383280" cy="2834640"/>
          </a:xfrm>
          <a:prstGeom prst="roundRect">
            <a:avLst>
              <a:gd name="adj" fmla="val 3871"/>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txBody>
          <a:bodyPr/>
          <a:p/>
        </p:txBody>
      </p:sp>
      <p:sp>
        <p:nvSpPr>
          <p:cNvPr id="14" name="Shape 12"/>
          <p:cNvSpPr/>
          <p:nvPr/>
        </p:nvSpPr>
        <p:spPr>
          <a:xfrm>
            <a:off x="8046720" y="1965960"/>
            <a:ext cx="3383280" cy="146304"/>
          </a:xfrm>
          <a:prstGeom prst="roundRect">
            <a:avLst>
              <a:gd name="adj" fmla="val 12500"/>
            </a:avLst>
          </a:prstGeom>
          <a:solidFill>
            <a:srgbClr val="C0392B"/>
          </a:solidFill>
          <a:ln/>
        </p:spPr>
        <p:txBody>
          <a:bodyPr/>
          <a:p/>
        </p:txBody>
      </p:sp>
      <p:sp>
        <p:nvSpPr>
          <p:cNvPr id="15" name="Text 13"/>
          <p:cNvSpPr/>
          <p:nvPr/>
        </p:nvSpPr>
        <p:spPr>
          <a:xfrm>
            <a:off x="8366760" y="2331720"/>
            <a:ext cx="2743200" cy="457200"/>
          </a:xfrm>
          <a:prstGeom prst="rect">
            <a:avLst/>
          </a:prstGeom>
          <a:noFill/>
          <a:ln/>
        </p:spPr>
        <p:txBody>
          <a:bodyPr wrap="square" rtlCol="0" anchor="ctr"/>
          <a:lstStyle/>
          <a:p>
            <a:pPr indent="0" marL="0">
              <a:buNone/>
            </a:pPr>
            <a:r>
              <a:rPr lang="en-US" sz="1800" b="1" dirty="0">
                <a:solidFill>
                  <a:srgbClr val="C0392B"/>
                </a:solidFill>
                <a:latin typeface="Calibri" pitchFamily="34" charset="0"/>
                <a:ea typeface="Calibri" pitchFamily="34" charset="-122"/>
                <a:cs typeface="Calibri" pitchFamily="34" charset="-120"/>
              </a:rPr>
              <a:t>3 · When You'd Use It</a:t>
            </a:r>
            <a:endParaRPr lang="en-US" sz="1800" dirty="0"/>
          </a:p>
        </p:txBody>
      </p:sp>
      <p:sp>
        <p:nvSpPr>
          <p:cNvPr id="16" name="Text 14"/>
          <p:cNvSpPr/>
          <p:nvPr/>
        </p:nvSpPr>
        <p:spPr>
          <a:xfrm>
            <a:off x="8366760" y="2834640"/>
            <a:ext cx="2743200" cy="1783080"/>
          </a:xfrm>
          <a:prstGeom prst="rect">
            <a:avLst/>
          </a:prstGeom>
          <a:noFill/>
          <a:ln/>
        </p:spPr>
        <p:txBody>
          <a:bodyPr wrap="square" rtlCol="0" anchor="ctr"/>
          <a:lstStyle/>
          <a:p>
            <a:pPr indent="0" marL="0">
              <a:lnSpc>
                <a:spcPct val="105000"/>
              </a:lnSpc>
              <a:buNone/>
            </a:pPr>
            <a:r>
              <a:rPr lang="en-US" sz="1350" dirty="0">
                <a:solidFill>
                  <a:srgbClr val="5B6570"/>
                </a:solidFill>
                <a:latin typeface="Calibri" pitchFamily="34" charset="0"/>
                <a:ea typeface="Calibri" pitchFamily="34" charset="-122"/>
                <a:cs typeface="Calibri" pitchFamily="34" charset="-120"/>
              </a:rPr>
              <a:t>Logs kept in Standard for 30 days, moved to Standard-IA for 90 days, then Glacier Deep Archive after a year, deleted after seven — a common compliance pattern.</a:t>
            </a:r>
            <a:endParaRPr lang="en-US" sz="1350" dirty="0"/>
          </a:p>
        </p:txBody>
      </p:sp>
      <p:sp>
        <p:nvSpPr>
          <p:cNvPr id="17" name="Shape 15"/>
          <p:cNvSpPr/>
          <p:nvPr/>
        </p:nvSpPr>
        <p:spPr>
          <a:xfrm>
            <a:off x="640080" y="5029200"/>
            <a:ext cx="10908792" cy="914400"/>
          </a:xfrm>
          <a:prstGeom prst="roundRect">
            <a:avLst>
              <a:gd name="adj" fmla="val 10000"/>
            </a:avLst>
          </a:prstGeom>
          <a:solidFill>
            <a:srgbClr val="232F3E"/>
          </a:solidFill>
          <a:ln/>
        </p:spPr>
        <p:txBody>
          <a:bodyPr/>
          <a:p/>
        </p:txBody>
      </p:sp>
      <p:sp>
        <p:nvSpPr>
          <p:cNvPr id="18" name="Text 16"/>
          <p:cNvSpPr/>
          <p:nvPr/>
        </p:nvSpPr>
        <p:spPr>
          <a:xfrm>
            <a:off x="1051560" y="5212080"/>
            <a:ext cx="10085832" cy="640080"/>
          </a:xfrm>
          <a:prstGeom prst="rect">
            <a:avLst/>
          </a:prstGeom>
          <a:noFill/>
          <a:ln/>
        </p:spPr>
        <p:txBody>
          <a:bodyPr wrap="square" rtlCol="0" anchor="ctr"/>
          <a:lstStyle/>
          <a:p>
            <a:pPr indent="0" marL="0">
              <a:lnSpc>
                <a:spcPct val="103000"/>
              </a:lnSpc>
              <a:buNone/>
            </a:pPr>
            <a:r>
              <a:rPr lang="en-US" sz="1500" b="1" dirty="0">
                <a:solidFill>
                  <a:srgbClr val="FF9900"/>
                </a:solidFill>
                <a:latin typeface="Calibri" pitchFamily="34" charset="0"/>
                <a:ea typeface="Calibri" pitchFamily="34" charset="-122"/>
                <a:cs typeface="Calibri" pitchFamily="34" charset="-120"/>
              </a:rPr>
              <a:t>The exam angle:  lifecycle policies are how “match the data to the right class” actually happens at scale, without anyone remembering to do it by hand.</a:t>
            </a:r>
            <a:pPr indent="0" marL="0">
              <a:lnSpc>
                <a:spcPct val="103000"/>
              </a:lnSpc>
              <a:buNone/>
            </a:pPr>
            <a:r>
              <a:rPr lang="en-US" sz="1500" dirty="0">
                <a:solidFill>
                  <a:srgbClr val="D6DEE7"/>
                </a:solidFill>
                <a:latin typeface="Calibri" pitchFamily="34" charset="0"/>
                <a:ea typeface="Calibri" pitchFamily="34" charset="-122"/>
                <a:cs typeface="Calibri" pitchFamily="34" charset="-120"/>
              </a:rPr>
              <a:t/>
            </a:r>
            <a:endParaRPr lang="en-US" sz="1500" dirty="0"/>
          </a:p>
        </p:txBody>
      </p:sp>
      <p:sp>
        <p:nvSpPr>
          <p:cNvPr id="19" name="Text 17"/>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0" name="Text 18"/>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THE TOOLKIT, AT A GLANCE</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The Storage Toolkit, at a Glance</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Five jobs we've covered tonight, and the tools behind each one. The names matter less than the job each one does.</a:t>
            </a:r>
            <a:endParaRPr lang="en-US" sz="1500" dirty="0"/>
          </a:p>
        </p:txBody>
      </p:sp>
      <p:sp>
        <p:nvSpPr>
          <p:cNvPr id="5" name="Shape 3"/>
          <p:cNvSpPr/>
          <p:nvPr/>
        </p:nvSpPr>
        <p:spPr>
          <a:xfrm>
            <a:off x="640080"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6" name="Shape 4"/>
          <p:cNvSpPr/>
          <p:nvPr/>
        </p:nvSpPr>
        <p:spPr>
          <a:xfrm>
            <a:off x="640080" y="2011680"/>
            <a:ext cx="2035454" cy="146304"/>
          </a:xfrm>
          <a:prstGeom prst="roundRect">
            <a:avLst>
              <a:gd name="adj" fmla="val 12500"/>
            </a:avLst>
          </a:prstGeom>
          <a:solidFill>
            <a:srgbClr val="1F8A38"/>
          </a:solidFill>
          <a:ln/>
        </p:spPr>
        <p:txBody>
          <a:bodyPr/>
          <a:p/>
        </p:txBody>
      </p:sp>
      <p:sp>
        <p:nvSpPr>
          <p:cNvPr id="7" name="Text 5"/>
          <p:cNvSpPr/>
          <p:nvPr/>
        </p:nvSpPr>
        <p:spPr>
          <a:xfrm>
            <a:off x="868680" y="2377440"/>
            <a:ext cx="1578254" cy="685800"/>
          </a:xfrm>
          <a:prstGeom prst="rect">
            <a:avLst/>
          </a:prstGeom>
          <a:noFill/>
          <a:ln/>
        </p:spPr>
        <p:txBody>
          <a:bodyPr wrap="square" rtlCol="0" anchor="ctr"/>
          <a:lstStyle/>
          <a:p>
            <a:pPr indent="0" marL="0">
              <a:lnSpc>
                <a:spcPct val="95000"/>
              </a:lnSpc>
              <a:buNone/>
            </a:pPr>
            <a:r>
              <a:rPr lang="en-US" sz="1550" b="1" dirty="0">
                <a:solidFill>
                  <a:srgbClr val="1F8A38"/>
                </a:solidFill>
                <a:latin typeface="Calibri" pitchFamily="34" charset="0"/>
                <a:ea typeface="Calibri" pitchFamily="34" charset="-122"/>
                <a:cs typeface="Calibri" pitchFamily="34" charset="-120"/>
              </a:rPr>
              <a:t>Where whole objects live</a:t>
            </a:r>
            <a:endParaRPr lang="en-US" sz="1550" dirty="0"/>
          </a:p>
        </p:txBody>
      </p:sp>
      <p:sp>
        <p:nvSpPr>
          <p:cNvPr id="8" name="Text 6"/>
          <p:cNvSpPr/>
          <p:nvPr/>
        </p:nvSpPr>
        <p:spPr>
          <a:xfrm>
            <a:off x="868680"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Amazon S3 — virtually unlimited, accessed over the web.</a:t>
            </a:r>
            <a:endParaRPr lang="en-US" sz="1250" dirty="0"/>
          </a:p>
        </p:txBody>
      </p:sp>
      <p:sp>
        <p:nvSpPr>
          <p:cNvPr id="9" name="Shape 7"/>
          <p:cNvSpPr/>
          <p:nvPr/>
        </p:nvSpPr>
        <p:spPr>
          <a:xfrm>
            <a:off x="2858414"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0" name="Shape 8"/>
          <p:cNvSpPr/>
          <p:nvPr/>
        </p:nvSpPr>
        <p:spPr>
          <a:xfrm>
            <a:off x="2858414" y="2011680"/>
            <a:ext cx="2035454" cy="146304"/>
          </a:xfrm>
          <a:prstGeom prst="roundRect">
            <a:avLst>
              <a:gd name="adj" fmla="val 12500"/>
            </a:avLst>
          </a:prstGeom>
          <a:solidFill>
            <a:srgbClr val="1E8FA5"/>
          </a:solidFill>
          <a:ln/>
        </p:spPr>
        <p:txBody>
          <a:bodyPr/>
          <a:p/>
        </p:txBody>
      </p:sp>
      <p:sp>
        <p:nvSpPr>
          <p:cNvPr id="11" name="Text 9"/>
          <p:cNvSpPr/>
          <p:nvPr/>
        </p:nvSpPr>
        <p:spPr>
          <a:xfrm>
            <a:off x="3087014" y="2377440"/>
            <a:ext cx="1578254" cy="685800"/>
          </a:xfrm>
          <a:prstGeom prst="rect">
            <a:avLst/>
          </a:prstGeom>
          <a:noFill/>
          <a:ln/>
        </p:spPr>
        <p:txBody>
          <a:bodyPr wrap="square" rtlCol="0" anchor="ctr"/>
          <a:lstStyle/>
          <a:p>
            <a:pPr indent="0" marL="0">
              <a:lnSpc>
                <a:spcPct val="95000"/>
              </a:lnSpc>
              <a:buNone/>
            </a:pPr>
            <a:r>
              <a:rPr lang="en-US" sz="1550" b="1" dirty="0">
                <a:solidFill>
                  <a:srgbClr val="1E8FA5"/>
                </a:solidFill>
                <a:latin typeface="Calibri" pitchFamily="34" charset="0"/>
                <a:ea typeface="Calibri" pitchFamily="34" charset="-122"/>
                <a:cs typeface="Calibri" pitchFamily="34" charset="-120"/>
              </a:rPr>
              <a:t>Where a single instance's disk lives</a:t>
            </a:r>
            <a:endParaRPr lang="en-US" sz="1550" dirty="0"/>
          </a:p>
        </p:txBody>
      </p:sp>
      <p:sp>
        <p:nvSpPr>
          <p:cNvPr id="12" name="Text 10"/>
          <p:cNvSpPr/>
          <p:nvPr/>
        </p:nvSpPr>
        <p:spPr>
          <a:xfrm>
            <a:off x="3087014"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Amazon EBS — block storage, attached to one instance.</a:t>
            </a:r>
            <a:endParaRPr lang="en-US" sz="1250" dirty="0"/>
          </a:p>
        </p:txBody>
      </p:sp>
      <p:sp>
        <p:nvSpPr>
          <p:cNvPr id="13" name="Shape 11"/>
          <p:cNvSpPr/>
          <p:nvPr/>
        </p:nvSpPr>
        <p:spPr>
          <a:xfrm>
            <a:off x="5076749"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4" name="Shape 12"/>
          <p:cNvSpPr/>
          <p:nvPr/>
        </p:nvSpPr>
        <p:spPr>
          <a:xfrm>
            <a:off x="5076749" y="2011680"/>
            <a:ext cx="2035454" cy="146304"/>
          </a:xfrm>
          <a:prstGeom prst="roundRect">
            <a:avLst>
              <a:gd name="adj" fmla="val 12500"/>
            </a:avLst>
          </a:prstGeom>
          <a:solidFill>
            <a:srgbClr val="C0392B"/>
          </a:solidFill>
          <a:ln/>
        </p:spPr>
        <p:txBody>
          <a:bodyPr/>
          <a:p/>
        </p:txBody>
      </p:sp>
      <p:sp>
        <p:nvSpPr>
          <p:cNvPr id="15" name="Text 13"/>
          <p:cNvSpPr/>
          <p:nvPr/>
        </p:nvSpPr>
        <p:spPr>
          <a:xfrm>
            <a:off x="5305349" y="2377440"/>
            <a:ext cx="1578254" cy="685800"/>
          </a:xfrm>
          <a:prstGeom prst="rect">
            <a:avLst/>
          </a:prstGeom>
          <a:noFill/>
          <a:ln/>
        </p:spPr>
        <p:txBody>
          <a:bodyPr wrap="square" rtlCol="0" anchor="ctr"/>
          <a:lstStyle/>
          <a:p>
            <a:pPr indent="0" marL="0">
              <a:lnSpc>
                <a:spcPct val="95000"/>
              </a:lnSpc>
              <a:buNone/>
            </a:pPr>
            <a:r>
              <a:rPr lang="en-US" sz="1550" b="1" dirty="0">
                <a:solidFill>
                  <a:srgbClr val="C0392B"/>
                </a:solidFill>
                <a:latin typeface="Calibri" pitchFamily="34" charset="0"/>
                <a:ea typeface="Calibri" pitchFamily="34" charset="-122"/>
                <a:cs typeface="Calibri" pitchFamily="34" charset="-120"/>
              </a:rPr>
              <a:t>Where a shared file system lives</a:t>
            </a:r>
            <a:endParaRPr lang="en-US" sz="1550" dirty="0"/>
          </a:p>
        </p:txBody>
      </p:sp>
      <p:sp>
        <p:nvSpPr>
          <p:cNvPr id="16" name="Text 14"/>
          <p:cNvSpPr/>
          <p:nvPr/>
        </p:nvSpPr>
        <p:spPr>
          <a:xfrm>
            <a:off x="5305349"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Amazon EFS — accessed by many instances at once.</a:t>
            </a:r>
            <a:endParaRPr lang="en-US" sz="1250" dirty="0"/>
          </a:p>
        </p:txBody>
      </p:sp>
      <p:sp>
        <p:nvSpPr>
          <p:cNvPr id="17" name="Shape 15"/>
          <p:cNvSpPr/>
          <p:nvPr/>
        </p:nvSpPr>
        <p:spPr>
          <a:xfrm>
            <a:off x="7295083"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8" name="Shape 16"/>
          <p:cNvSpPr/>
          <p:nvPr/>
        </p:nvSpPr>
        <p:spPr>
          <a:xfrm>
            <a:off x="7295083" y="2011680"/>
            <a:ext cx="2035454" cy="146304"/>
          </a:xfrm>
          <a:prstGeom prst="roundRect">
            <a:avLst>
              <a:gd name="adj" fmla="val 12500"/>
            </a:avLst>
          </a:prstGeom>
          <a:solidFill>
            <a:srgbClr val="EC7211"/>
          </a:solidFill>
          <a:ln/>
        </p:spPr>
        <p:txBody>
          <a:bodyPr/>
          <a:p/>
        </p:txBody>
      </p:sp>
      <p:sp>
        <p:nvSpPr>
          <p:cNvPr id="19" name="Text 17"/>
          <p:cNvSpPr/>
          <p:nvPr/>
        </p:nvSpPr>
        <p:spPr>
          <a:xfrm>
            <a:off x="7523683" y="2377440"/>
            <a:ext cx="1578254" cy="685800"/>
          </a:xfrm>
          <a:prstGeom prst="rect">
            <a:avLst/>
          </a:prstGeom>
          <a:noFill/>
          <a:ln/>
        </p:spPr>
        <p:txBody>
          <a:bodyPr wrap="square" rtlCol="0" anchor="ctr"/>
          <a:lstStyle/>
          <a:p>
            <a:pPr indent="0" marL="0">
              <a:lnSpc>
                <a:spcPct val="95000"/>
              </a:lnSpc>
              <a:buNone/>
            </a:pPr>
            <a:r>
              <a:rPr lang="en-US" sz="1550" b="1" dirty="0">
                <a:solidFill>
                  <a:srgbClr val="EC7211"/>
                </a:solidFill>
                <a:latin typeface="Calibri" pitchFamily="34" charset="0"/>
                <a:ea typeface="Calibri" pitchFamily="34" charset="-122"/>
                <a:cs typeface="Calibri" pitchFamily="34" charset="-120"/>
              </a:rPr>
              <a:t>Where hybrid storage lives</a:t>
            </a:r>
            <a:endParaRPr lang="en-US" sz="1550" dirty="0"/>
          </a:p>
        </p:txBody>
      </p:sp>
      <p:sp>
        <p:nvSpPr>
          <p:cNvPr id="20" name="Text 18"/>
          <p:cNvSpPr/>
          <p:nvPr/>
        </p:nvSpPr>
        <p:spPr>
          <a:xfrm>
            <a:off x="7523683"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AWS Storage Gateway — connects on-premises apps to AWS storage.</a:t>
            </a:r>
            <a:endParaRPr lang="en-US" sz="1250" dirty="0"/>
          </a:p>
        </p:txBody>
      </p:sp>
      <p:sp>
        <p:nvSpPr>
          <p:cNvPr id="21" name="Shape 19"/>
          <p:cNvSpPr/>
          <p:nvPr/>
        </p:nvSpPr>
        <p:spPr>
          <a:xfrm>
            <a:off x="9513418" y="2011680"/>
            <a:ext cx="2035454" cy="2834640"/>
          </a:xfrm>
          <a:prstGeom prst="roundRect">
            <a:avLst>
              <a:gd name="adj" fmla="val 4492"/>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22" name="Shape 20"/>
          <p:cNvSpPr/>
          <p:nvPr/>
        </p:nvSpPr>
        <p:spPr>
          <a:xfrm>
            <a:off x="9513418" y="2011680"/>
            <a:ext cx="2035454" cy="146304"/>
          </a:xfrm>
          <a:prstGeom prst="roundRect">
            <a:avLst>
              <a:gd name="adj" fmla="val 12500"/>
            </a:avLst>
          </a:prstGeom>
          <a:solidFill>
            <a:srgbClr val="7A5C9E"/>
          </a:solidFill>
          <a:ln/>
        </p:spPr>
        <p:txBody>
          <a:bodyPr/>
          <a:p/>
        </p:txBody>
      </p:sp>
      <p:sp>
        <p:nvSpPr>
          <p:cNvPr id="23" name="Text 21"/>
          <p:cNvSpPr/>
          <p:nvPr/>
        </p:nvSpPr>
        <p:spPr>
          <a:xfrm>
            <a:off x="9742018" y="2377440"/>
            <a:ext cx="1578254" cy="685800"/>
          </a:xfrm>
          <a:prstGeom prst="rect">
            <a:avLst/>
          </a:prstGeom>
          <a:noFill/>
          <a:ln/>
        </p:spPr>
        <p:txBody>
          <a:bodyPr wrap="square" rtlCol="0" anchor="ctr"/>
          <a:lstStyle/>
          <a:p>
            <a:pPr indent="0" marL="0">
              <a:lnSpc>
                <a:spcPct val="95000"/>
              </a:lnSpc>
              <a:buNone/>
            </a:pPr>
            <a:r>
              <a:rPr lang="en-US" sz="1550" b="1" dirty="0">
                <a:solidFill>
                  <a:srgbClr val="7A5C9E"/>
                </a:solidFill>
                <a:latin typeface="Calibri" pitchFamily="34" charset="0"/>
                <a:ea typeface="Calibri" pitchFamily="34" charset="-122"/>
                <a:cs typeface="Calibri" pitchFamily="34" charset="-120"/>
              </a:rPr>
              <a:t>Where massive offline transfers live</a:t>
            </a:r>
            <a:endParaRPr lang="en-US" sz="1550" dirty="0"/>
          </a:p>
        </p:txBody>
      </p:sp>
      <p:sp>
        <p:nvSpPr>
          <p:cNvPr id="24" name="Text 22"/>
          <p:cNvSpPr/>
          <p:nvPr/>
        </p:nvSpPr>
        <p:spPr>
          <a:xfrm>
            <a:off x="9742018" y="3154680"/>
            <a:ext cx="1578254" cy="1371600"/>
          </a:xfrm>
          <a:prstGeom prst="rect">
            <a:avLst/>
          </a:prstGeom>
          <a:noFill/>
          <a:ln/>
        </p:spPr>
        <p:txBody>
          <a:bodyPr wrap="square" rtlCol="0" anchor="ctr"/>
          <a:lstStyle/>
          <a:p>
            <a:pPr indent="0" marL="0">
              <a:lnSpc>
                <a:spcPct val="105000"/>
              </a:lnSpc>
              <a:buNone/>
            </a:pPr>
            <a:r>
              <a:rPr lang="en-US" sz="1250" dirty="0">
                <a:solidFill>
                  <a:srgbClr val="5B6570"/>
                </a:solidFill>
                <a:latin typeface="Calibri" pitchFamily="34" charset="0"/>
                <a:ea typeface="Calibri" pitchFamily="34" charset="-122"/>
                <a:cs typeface="Calibri" pitchFamily="34" charset="-120"/>
              </a:rPr>
              <a:t>The AWS Snow Family — physical devices for when bandwidth is the bottleneck.</a:t>
            </a:r>
            <a:endParaRPr lang="en-US" sz="1250" dirty="0"/>
          </a:p>
        </p:txBody>
      </p:sp>
      <p:sp>
        <p:nvSpPr>
          <p:cNvPr id="25" name="Shape 23"/>
          <p:cNvSpPr/>
          <p:nvPr/>
        </p:nvSpPr>
        <p:spPr>
          <a:xfrm>
            <a:off x="640080" y="5074920"/>
            <a:ext cx="10908792" cy="868680"/>
          </a:xfrm>
          <a:prstGeom prst="roundRect">
            <a:avLst>
              <a:gd name="adj" fmla="val 10526"/>
            </a:avLst>
          </a:prstGeom>
          <a:solidFill>
            <a:srgbClr val="232F3E"/>
          </a:solidFill>
          <a:ln/>
        </p:spPr>
        <p:txBody>
          <a:bodyPr/>
          <a:p/>
        </p:txBody>
      </p:sp>
      <p:sp>
        <p:nvSpPr>
          <p:cNvPr id="26" name="Text 24"/>
          <p:cNvSpPr/>
          <p:nvPr/>
        </p:nvSpPr>
        <p:spPr>
          <a:xfrm>
            <a:off x="1051560" y="5257800"/>
            <a:ext cx="10085832" cy="548640"/>
          </a:xfrm>
          <a:prstGeom prst="rect">
            <a:avLst/>
          </a:prstGeom>
          <a:noFill/>
          <a:ln/>
        </p:spPr>
        <p:txBody>
          <a:bodyPr wrap="square" rtlCol="0" anchor="ctr"/>
          <a:lstStyle/>
          <a:p>
            <a:pPr indent="0" marL="0">
              <a:buNone/>
            </a:pPr>
            <a:r>
              <a:rPr lang="en-US" sz="1500" dirty="0">
                <a:solidFill>
                  <a:srgbClr val="D6DEE7"/>
                </a:solidFill>
                <a:latin typeface="Calibri" pitchFamily="34" charset="0"/>
                <a:ea typeface="Calibri" pitchFamily="34" charset="-122"/>
                <a:cs typeface="Calibri" pitchFamily="34" charset="-120"/>
              </a:rPr>
              <a:t>The pattern:  object, block, file, hybrid, and offline — five questions that resolve almost every storage scenario.</a:t>
            </a:r>
            <a:pPr indent="0" marL="0">
              <a:buNone/>
            </a:pPr>
            <a:r>
              <a:rPr lang="en-US" sz="1500" b="1" dirty="0">
                <a:solidFill>
                  <a:srgbClr val="FF9900"/>
                </a:solidFill>
                <a:latin typeface="Calibri" pitchFamily="34" charset="0"/>
                <a:ea typeface="Calibri" pitchFamily="34" charset="-122"/>
                <a:cs typeface="Calibri" pitchFamily="34" charset="-120"/>
              </a:rPr>
              <a:t/>
            </a:r>
            <a:endParaRPr lang="en-US" sz="1500" dirty="0"/>
          </a:p>
        </p:txBody>
      </p:sp>
      <p:sp>
        <p:nvSpPr>
          <p:cNvPr id="27" name="Text 25"/>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8" name="Text 26"/>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A BIGGER DECISION</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One Backup Policy vs. Many</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Configuring backups service by service works — until someone forgets one. That's the risk this slide is about.</a:t>
            </a:r>
            <a:endParaRPr lang="en-US" sz="1500" dirty="0"/>
          </a:p>
        </p:txBody>
      </p:sp>
      <p:sp>
        <p:nvSpPr>
          <p:cNvPr id="5" name="Shape 3"/>
          <p:cNvSpPr/>
          <p:nvPr/>
        </p:nvSpPr>
        <p:spPr>
          <a:xfrm>
            <a:off x="640080" y="1965960"/>
            <a:ext cx="5257800" cy="3291840"/>
          </a:xfrm>
          <a:prstGeom prst="roundRect">
            <a:avLst>
              <a:gd name="adj" fmla="val 3333"/>
            </a:avLst>
          </a:prstGeom>
          <a:solidFill>
            <a:srgbClr val="FFFFFF"/>
          </a:solidFill>
          <a:ln w="12700">
            <a:solidFill>
              <a:srgbClr val="DCE1E6"/>
            </a:solidFill>
            <a:prstDash val="solid"/>
          </a:ln>
        </p:spPr>
        <p:txBody>
          <a:bodyPr/>
          <a:p/>
        </p:txBody>
      </p:sp>
      <p:sp>
        <p:nvSpPr>
          <p:cNvPr id="6" name="Text 4"/>
          <p:cNvSpPr/>
          <p:nvPr/>
        </p:nvSpPr>
        <p:spPr>
          <a:xfrm>
            <a:off x="1005840" y="2194560"/>
            <a:ext cx="4572000" cy="320040"/>
          </a:xfrm>
          <a:prstGeom prst="rect">
            <a:avLst/>
          </a:prstGeom>
          <a:noFill/>
          <a:ln/>
        </p:spPr>
        <p:txBody>
          <a:bodyPr wrap="square"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BACKUPS CONFIGURED PER SERVICE</a:t>
            </a:r>
            <a:endParaRPr lang="en-US" sz="1200" dirty="0"/>
          </a:p>
        </p:txBody>
      </p:sp>
      <p:sp>
        <p:nvSpPr>
          <p:cNvPr id="7" name="Text 5"/>
          <p:cNvSpPr/>
          <p:nvPr/>
        </p:nvSpPr>
        <p:spPr>
          <a:xfrm>
            <a:off x="1005840" y="2697480"/>
            <a:ext cx="4572000" cy="1463040"/>
          </a:xfrm>
          <a:prstGeom prst="rect">
            <a:avLst/>
          </a:prstGeom>
          <a:noFill/>
          <a:ln/>
        </p:spPr>
        <p:txBody>
          <a:bodyPr wrap="square" rtlCol="0" anchor="ctr"/>
          <a:lstStyle/>
          <a:p>
            <a:pPr indent="0" marL="0">
              <a:lnSpc>
                <a:spcPct val="135000"/>
              </a:lnSpc>
              <a:buNone/>
            </a:pPr>
            <a:r>
              <a:rPr lang="en-US" sz="1700" dirty="0">
                <a:solidFill>
                  <a:srgbClr val="5B6570"/>
                </a:solidFill>
                <a:latin typeface="Calibri" pitchFamily="34" charset="0"/>
                <a:ea typeface="Calibri" pitchFamily="34" charset="-122"/>
                <a:cs typeface="Calibri" pitchFamily="34" charset="-120"/>
              </a:rPr>
              <a:t>Separate backup settings for EBS, RDS, DynamoDB, EFS</a:t>
            </a:r>
            <a:endParaRPr lang="en-US" sz="1700" dirty="0"/>
          </a:p>
          <a:p>
            <a:pPr indent="0" marL="0">
              <a:lnSpc>
                <a:spcPct val="135000"/>
              </a:lnSpc>
              <a:buNone/>
            </a:pPr>
            <a:r>
              <a:rPr lang="en-US" sz="1700" dirty="0">
                <a:solidFill>
                  <a:srgbClr val="5B6570"/>
                </a:solidFill>
                <a:latin typeface="Calibri" pitchFamily="34" charset="0"/>
                <a:ea typeface="Calibri" pitchFamily="34" charset="-122"/>
                <a:cs typeface="Calibri" pitchFamily="34" charset="-120"/>
              </a:rPr>
              <a:t>One point of failure — a missed setting</a:t>
            </a:r>
            <a:endParaRPr lang="en-US" sz="1700" dirty="0"/>
          </a:p>
          <a:p>
            <a:pPr indent="0" marL="0">
              <a:lnSpc>
                <a:spcPct val="135000"/>
              </a:lnSpc>
              <a:buNone/>
            </a:pPr>
            <a:r>
              <a:rPr lang="en-US" sz="1700" dirty="0">
                <a:solidFill>
                  <a:srgbClr val="5B6570"/>
                </a:solidFill>
                <a:latin typeface="Calibri" pitchFamily="34" charset="0"/>
                <a:ea typeface="Calibri" pitchFamily="34" charset="-122"/>
                <a:cs typeface="Calibri" pitchFamily="34" charset="-120"/>
              </a:rPr>
              <a:t>Familiar, no new tool to learn</a:t>
            </a:r>
            <a:endParaRPr lang="en-US" sz="1700" dirty="0"/>
          </a:p>
        </p:txBody>
      </p:sp>
      <p:sp>
        <p:nvSpPr>
          <p:cNvPr id="8" name="Text 6"/>
          <p:cNvSpPr/>
          <p:nvPr/>
        </p:nvSpPr>
        <p:spPr>
          <a:xfrm>
            <a:off x="1005840" y="4389120"/>
            <a:ext cx="4572000" cy="548640"/>
          </a:xfrm>
          <a:prstGeom prst="rect">
            <a:avLst/>
          </a:prstGeom>
          <a:noFill/>
          <a:ln/>
        </p:spPr>
        <p:txBody>
          <a:bodyPr wrap="square" rtlCol="0" anchor="ctr"/>
          <a:lstStyle/>
          <a:p>
            <a:pPr indent="0" marL="0">
              <a:buNone/>
            </a:pPr>
            <a:r>
              <a:rPr lang="en-US" sz="1400" i="1" dirty="0">
                <a:solidFill>
                  <a:srgbClr val="C0392B"/>
                </a:solidFill>
                <a:latin typeface="Calibri" pitchFamily="34" charset="0"/>
                <a:ea typeface="Calibri" pitchFamily="34" charset="-122"/>
                <a:cs typeface="Calibri" pitchFamily="34" charset="-120"/>
              </a:rPr>
              <a:t>“What happens when one service's backup policy gets forgotten?”</a:t>
            </a:r>
            <a:endParaRPr lang="en-US" sz="1400" dirty="0"/>
          </a:p>
        </p:txBody>
      </p:sp>
      <p:sp>
        <p:nvSpPr>
          <p:cNvPr id="9" name="Shape 7"/>
          <p:cNvSpPr/>
          <p:nvPr/>
        </p:nvSpPr>
        <p:spPr>
          <a:xfrm>
            <a:off x="6263640" y="1965960"/>
            <a:ext cx="5257800" cy="3291840"/>
          </a:xfrm>
          <a:prstGeom prst="roundRect">
            <a:avLst>
              <a:gd name="adj" fmla="val 3333"/>
            </a:avLst>
          </a:prstGeom>
          <a:solidFill>
            <a:srgbClr val="232F3E"/>
          </a:solidFill>
          <a:ln/>
        </p:spPr>
        <p:txBody>
          <a:bodyPr/>
          <a:p/>
        </p:txBody>
      </p:sp>
      <p:sp>
        <p:nvSpPr>
          <p:cNvPr id="10" name="Text 8"/>
          <p:cNvSpPr/>
          <p:nvPr/>
        </p:nvSpPr>
        <p:spPr>
          <a:xfrm>
            <a:off x="6629400" y="2194560"/>
            <a:ext cx="4572000" cy="320040"/>
          </a:xfrm>
          <a:prstGeom prst="rect">
            <a:avLst/>
          </a:prstGeom>
          <a:noFill/>
          <a:ln/>
        </p:spPr>
        <p:txBody>
          <a:bodyPr wrap="square" rtlCol="0" anchor="ctr"/>
          <a:lstStyle/>
          <a:p>
            <a:pPr indent="0" marL="0">
              <a:buNone/>
            </a:pPr>
            <a:r>
              <a:rPr lang="en-US" sz="1200" b="1" spc="200" kern="0" dirty="0">
                <a:solidFill>
                  <a:srgbClr val="5FD08A"/>
                </a:solidFill>
                <a:latin typeface="Calibri" pitchFamily="34" charset="0"/>
                <a:ea typeface="Calibri" pitchFamily="34" charset="-122"/>
                <a:cs typeface="Calibri" pitchFamily="34" charset="-120"/>
              </a:rPr>
              <a:t>AWS BACKUP, CENTRALIZED</a:t>
            </a:r>
            <a:endParaRPr lang="en-US" sz="1200" dirty="0"/>
          </a:p>
        </p:txBody>
      </p:sp>
      <p:sp>
        <p:nvSpPr>
          <p:cNvPr id="11" name="Text 9"/>
          <p:cNvSpPr/>
          <p:nvPr/>
        </p:nvSpPr>
        <p:spPr>
          <a:xfrm>
            <a:off x="6629400" y="2697480"/>
            <a:ext cx="4572000" cy="1463040"/>
          </a:xfrm>
          <a:prstGeom prst="rect">
            <a:avLst/>
          </a:prstGeom>
          <a:noFill/>
          <a:ln/>
        </p:spPr>
        <p:txBody>
          <a:bodyPr wrap="square" rtlCol="0" anchor="ctr"/>
          <a:lstStyle/>
          <a:p>
            <a:pPr indent="0" marL="0">
              <a:lnSpc>
                <a:spcPct val="135000"/>
              </a:lnSpc>
              <a:buNone/>
            </a:pPr>
            <a:r>
              <a:rPr lang="en-US" sz="1600" dirty="0">
                <a:solidFill>
                  <a:srgbClr val="D6DEE7"/>
                </a:solidFill>
                <a:latin typeface="Calibri" pitchFamily="34" charset="0"/>
                <a:ea typeface="Calibri" pitchFamily="34" charset="-122"/>
                <a:cs typeface="Calibri" pitchFamily="34" charset="-120"/>
              </a:rPr>
              <a:t>One consistent policy applied across many AWS services at once</a:t>
            </a:r>
            <a:endParaRPr lang="en-US" sz="1600" dirty="0"/>
          </a:p>
          <a:p>
            <a:pPr indent="0" marL="0">
              <a:lnSpc>
                <a:spcPct val="135000"/>
              </a:lnSpc>
              <a:buNone/>
            </a:pPr>
            <a:r>
              <a:rPr lang="en-US" sz="1600" dirty="0">
                <a:solidFill>
                  <a:srgbClr val="D6DEE7"/>
                </a:solidFill>
                <a:latin typeface="Calibri" pitchFamily="34" charset="0"/>
                <a:ea typeface="Calibri" pitchFamily="34" charset="-122"/>
                <a:cs typeface="Calibri" pitchFamily="34" charset="-120"/>
              </a:rPr>
              <a:t>No single forgotten setting can leave one service unprotected</a:t>
            </a:r>
            <a:endParaRPr lang="en-US" sz="1600" dirty="0"/>
          </a:p>
          <a:p>
            <a:pPr indent="0" marL="0">
              <a:lnSpc>
                <a:spcPct val="135000"/>
              </a:lnSpc>
              <a:buNone/>
            </a:pPr>
            <a:r>
              <a:rPr lang="en-US" sz="1600" dirty="0">
                <a:solidFill>
                  <a:srgbClr val="D6DEE7"/>
                </a:solidFill>
                <a:latin typeface="Calibri" pitchFamily="34" charset="0"/>
                <a:ea typeface="Calibri" pitchFamily="34" charset="-122"/>
                <a:cs typeface="Calibri" pitchFamily="34" charset="-120"/>
              </a:rPr>
              <a:t>Centralized monitoring of backup jobs across the account</a:t>
            </a:r>
            <a:endParaRPr lang="en-US" sz="1600" dirty="0"/>
          </a:p>
        </p:txBody>
      </p:sp>
      <p:sp>
        <p:nvSpPr>
          <p:cNvPr id="12" name="Text 10"/>
          <p:cNvSpPr/>
          <p:nvPr/>
        </p:nvSpPr>
        <p:spPr>
          <a:xfrm>
            <a:off x="6629400" y="4389120"/>
            <a:ext cx="4572000" cy="548640"/>
          </a:xfrm>
          <a:prstGeom prst="rect">
            <a:avLst/>
          </a:prstGeom>
          <a:noFill/>
          <a:ln/>
        </p:spPr>
        <p:txBody>
          <a:bodyPr wrap="square" rtlCol="0" anchor="ctr"/>
          <a:lstStyle/>
          <a:p>
            <a:pPr indent="0" marL="0">
              <a:buNone/>
            </a:pPr>
            <a:r>
              <a:rPr lang="en-US" sz="1400" i="1" dirty="0">
                <a:solidFill>
                  <a:srgbClr val="5FD08A"/>
                </a:solidFill>
                <a:latin typeface="Calibri" pitchFamily="34" charset="0"/>
                <a:ea typeface="Calibri" pitchFamily="34" charset="-122"/>
                <a:cs typeface="Calibri" pitchFamily="34" charset="-120"/>
              </a:rPr>
              <a:t>“A single, consistent backup policy is a deliberate design choice, not extra overhead.”</a:t>
            </a:r>
            <a:endParaRPr lang="en-US" sz="1400" dirty="0"/>
          </a:p>
        </p:txBody>
      </p:sp>
      <p:sp>
        <p:nvSpPr>
          <p:cNvPr id="13" name="Text 11"/>
          <p:cNvSpPr/>
          <p:nvPr/>
        </p:nvSpPr>
        <p:spPr>
          <a:xfrm>
            <a:off x="640080" y="5532120"/>
            <a:ext cx="10908792" cy="365760"/>
          </a:xfrm>
          <a:prstGeom prst="rect">
            <a:avLst/>
          </a:prstGeom>
          <a:noFill/>
          <a:ln/>
        </p:spPr>
        <p:txBody>
          <a:bodyPr wrap="square" rtlCol="0" anchor="ctr"/>
          <a:lstStyle/>
          <a:p>
            <a:pPr algn="ctr" indent="0" marL="0">
              <a:buNone/>
            </a:pPr>
            <a:r>
              <a:rPr lang="en-US" sz="1400" i="1" dirty="0">
                <a:solidFill>
                  <a:srgbClr val="5B6570"/>
                </a:solidFill>
                <a:latin typeface="Calibri" pitchFamily="34" charset="0"/>
                <a:ea typeface="Calibri" pitchFamily="34" charset="-122"/>
                <a:cs typeface="Calibri" pitchFamily="34" charset="-120"/>
              </a:rPr>
              <a:t>AWS Backup is the answer whenever a scenario emphasizes consistency across resource types, not just protecting one service in isolation.</a:t>
            </a:r>
            <a:endParaRPr lang="en-US" sz="1400" dirty="0"/>
          </a:p>
        </p:txBody>
      </p:sp>
      <p:sp>
        <p:nvSpPr>
          <p:cNvPr id="14" name="Text 12"/>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15" name="Text 13"/>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PUTTING IT TOGETHER</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Scenario: Migrate a Media Company to AWS</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A media company is moving to AWS with several very different data needs at once. Let's apply tonight's toolkit.</a:t>
            </a:r>
            <a:endParaRPr lang="en-US" sz="1500" dirty="0"/>
          </a:p>
        </p:txBody>
      </p:sp>
      <p:sp>
        <p:nvSpPr>
          <p:cNvPr id="5" name="Shape 3"/>
          <p:cNvSpPr/>
          <p:nvPr/>
        </p:nvSpPr>
        <p:spPr>
          <a:xfrm>
            <a:off x="640080" y="1920240"/>
            <a:ext cx="5394960" cy="3794760"/>
          </a:xfrm>
          <a:prstGeom prst="roundRect">
            <a:avLst>
              <a:gd name="adj" fmla="val 2892"/>
            </a:avLst>
          </a:prstGeom>
          <a:solidFill>
            <a:srgbClr val="FFFFFF"/>
          </a:solidFill>
          <a:ln w="12700">
            <a:solidFill>
              <a:srgbClr val="DCE1E6"/>
            </a:solidFill>
            <a:prstDash val="solid"/>
          </a:ln>
          <a:effectLst>
            <a:outerShdw sx="100000" sy="100000" kx="0" ky="0" algn="bl" rotWithShape="0" blurRad="101600" dist="38100" dir="5400000">
              <a:srgbClr val="C6CDD4">
                <a:alpha val="50000"/>
              </a:srgbClr>
            </a:outerShdw>
          </a:effectLst>
        </p:spPr>
        <p:txBody>
          <a:bodyPr/>
          <a:p/>
        </p:txBody>
      </p:sp>
      <p:sp>
        <p:nvSpPr>
          <p:cNvPr id="6" name="Text 4"/>
          <p:cNvSpPr/>
          <p:nvPr/>
        </p:nvSpPr>
        <p:spPr>
          <a:xfrm>
            <a:off x="1005840" y="2148840"/>
            <a:ext cx="4663440" cy="320040"/>
          </a:xfrm>
          <a:prstGeom prst="rect">
            <a:avLst/>
          </a:prstGeom>
          <a:noFill/>
          <a:ln/>
        </p:spPr>
        <p:txBody>
          <a:bodyPr wrap="square" rtlCol="0" anchor="ctr"/>
          <a:lstStyle/>
          <a:p>
            <a:pPr indent="0" marL="0">
              <a:buNone/>
            </a:pPr>
            <a:r>
              <a:rPr lang="en-US" sz="1200" b="1" spc="200" kern="0" dirty="0">
                <a:solidFill>
                  <a:srgbClr val="1E8FA5"/>
                </a:solidFill>
                <a:latin typeface="Calibri" pitchFamily="34" charset="0"/>
                <a:ea typeface="Calibri" pitchFamily="34" charset="-122"/>
                <a:cs typeface="Calibri" pitchFamily="34" charset="-120"/>
              </a:rPr>
              <a:t>THE SCENARIO</a:t>
            </a:r>
            <a:endParaRPr lang="en-US" sz="1200" dirty="0"/>
          </a:p>
        </p:txBody>
      </p:sp>
      <p:sp>
        <p:nvSpPr>
          <p:cNvPr id="7" name="Text 5"/>
          <p:cNvSpPr/>
          <p:nvPr/>
        </p:nvSpPr>
        <p:spPr>
          <a:xfrm>
            <a:off x="1005840" y="2606040"/>
            <a:ext cx="4663440" cy="320040"/>
          </a:xfrm>
          <a:prstGeom prst="rect">
            <a:avLst/>
          </a:prstGeom>
          <a:noFill/>
          <a:ln/>
        </p:spPr>
        <p:txBody>
          <a:bodyPr wrap="square" rtlCol="0" anchor="ctr"/>
          <a:lstStyle/>
          <a:p>
            <a:pPr indent="0" marL="0">
              <a:buNone/>
            </a:pPr>
            <a:r>
              <a:rPr lang="en-US" sz="1550" b="1" dirty="0">
                <a:solidFill>
                  <a:srgbClr val="232F3E"/>
                </a:solidFill>
                <a:latin typeface="Calibri" pitchFamily="34" charset="0"/>
                <a:ea typeface="Calibri" pitchFamily="34" charset="-122"/>
                <a:cs typeface="Calibri" pitchFamily="34" charset="-120"/>
              </a:rPr>
              <a:t>Massive existing archive</a:t>
            </a:r>
            <a:endParaRPr lang="en-US" sz="1550" dirty="0"/>
          </a:p>
        </p:txBody>
      </p:sp>
      <p:sp>
        <p:nvSpPr>
          <p:cNvPr id="8" name="Text 6"/>
          <p:cNvSpPr/>
          <p:nvPr/>
        </p:nvSpPr>
        <p:spPr>
          <a:xfrm>
            <a:off x="1005840" y="2907792"/>
            <a:ext cx="4663440" cy="36576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50 petabytes of video sitting on-premises, with a slow internet connection</a:t>
            </a:r>
            <a:endParaRPr lang="en-US" sz="1300" dirty="0"/>
          </a:p>
        </p:txBody>
      </p:sp>
      <p:sp>
        <p:nvSpPr>
          <p:cNvPr id="9" name="Text 7"/>
          <p:cNvSpPr/>
          <p:nvPr/>
        </p:nvSpPr>
        <p:spPr>
          <a:xfrm>
            <a:off x="1005840" y="3383280"/>
            <a:ext cx="4663440" cy="320040"/>
          </a:xfrm>
          <a:prstGeom prst="rect">
            <a:avLst/>
          </a:prstGeom>
          <a:noFill/>
          <a:ln/>
        </p:spPr>
        <p:txBody>
          <a:bodyPr wrap="square" rtlCol="0" anchor="ctr"/>
          <a:lstStyle/>
          <a:p>
            <a:pPr indent="0" marL="0">
              <a:buNone/>
            </a:pPr>
            <a:r>
              <a:rPr lang="en-US" sz="1550" b="1" dirty="0">
                <a:solidFill>
                  <a:srgbClr val="232F3E"/>
                </a:solidFill>
                <a:latin typeface="Calibri" pitchFamily="34" charset="0"/>
                <a:ea typeface="Calibri" pitchFamily="34" charset="-122"/>
                <a:cs typeface="Calibri" pitchFamily="34" charset="-120"/>
              </a:rPr>
              <a:t>Active production files</a:t>
            </a:r>
            <a:endParaRPr lang="en-US" sz="1550" dirty="0"/>
          </a:p>
        </p:txBody>
      </p:sp>
      <p:sp>
        <p:nvSpPr>
          <p:cNvPr id="10" name="Text 8"/>
          <p:cNvSpPr/>
          <p:nvPr/>
        </p:nvSpPr>
        <p:spPr>
          <a:xfrm>
            <a:off x="1005840" y="3685032"/>
            <a:ext cx="4663440" cy="36576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Editors need a shared file system multiple workstations can access at once</a:t>
            </a:r>
            <a:endParaRPr lang="en-US" sz="1300" dirty="0"/>
          </a:p>
        </p:txBody>
      </p:sp>
      <p:sp>
        <p:nvSpPr>
          <p:cNvPr id="11" name="Text 9"/>
          <p:cNvSpPr/>
          <p:nvPr/>
        </p:nvSpPr>
        <p:spPr>
          <a:xfrm>
            <a:off x="1005840" y="4160520"/>
            <a:ext cx="4663440" cy="320040"/>
          </a:xfrm>
          <a:prstGeom prst="rect">
            <a:avLst/>
          </a:prstGeom>
          <a:noFill/>
          <a:ln/>
        </p:spPr>
        <p:txBody>
          <a:bodyPr wrap="square" rtlCol="0" anchor="ctr"/>
          <a:lstStyle/>
          <a:p>
            <a:pPr indent="0" marL="0">
              <a:buNone/>
            </a:pPr>
            <a:r>
              <a:rPr lang="en-US" sz="1550" b="1" dirty="0">
                <a:solidFill>
                  <a:srgbClr val="232F3E"/>
                </a:solidFill>
                <a:latin typeface="Calibri" pitchFamily="34" charset="0"/>
                <a:ea typeface="Calibri" pitchFamily="34" charset="-122"/>
                <a:cs typeface="Calibri" pitchFamily="34" charset="-120"/>
              </a:rPr>
              <a:t>Database storage</a:t>
            </a:r>
            <a:endParaRPr lang="en-US" sz="1550" dirty="0"/>
          </a:p>
        </p:txBody>
      </p:sp>
      <p:sp>
        <p:nvSpPr>
          <p:cNvPr id="12" name="Text 10"/>
          <p:cNvSpPr/>
          <p:nvPr/>
        </p:nvSpPr>
        <p:spPr>
          <a:xfrm>
            <a:off x="1005840" y="4462272"/>
            <a:ext cx="4663440" cy="36576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A production database needs low-latency, single-instance block storage</a:t>
            </a:r>
            <a:endParaRPr lang="en-US" sz="1300" dirty="0"/>
          </a:p>
        </p:txBody>
      </p:sp>
      <p:sp>
        <p:nvSpPr>
          <p:cNvPr id="13" name="Text 11"/>
          <p:cNvSpPr/>
          <p:nvPr/>
        </p:nvSpPr>
        <p:spPr>
          <a:xfrm>
            <a:off x="1005840" y="4937760"/>
            <a:ext cx="4663440" cy="320040"/>
          </a:xfrm>
          <a:prstGeom prst="rect">
            <a:avLst/>
          </a:prstGeom>
          <a:noFill/>
          <a:ln/>
        </p:spPr>
        <p:txBody>
          <a:bodyPr wrap="square" rtlCol="0" anchor="ctr"/>
          <a:lstStyle/>
          <a:p>
            <a:pPr indent="0" marL="0">
              <a:buNone/>
            </a:pPr>
            <a:r>
              <a:rPr lang="en-US" sz="1550" b="1" dirty="0">
                <a:solidFill>
                  <a:srgbClr val="232F3E"/>
                </a:solidFill>
                <a:latin typeface="Calibri" pitchFamily="34" charset="0"/>
                <a:ea typeface="Calibri" pitchFamily="34" charset="-122"/>
                <a:cs typeface="Calibri" pitchFamily="34" charset="-120"/>
              </a:rPr>
              <a:t>Consistent backups</a:t>
            </a:r>
            <a:endParaRPr lang="en-US" sz="1550" dirty="0"/>
          </a:p>
        </p:txBody>
      </p:sp>
      <p:sp>
        <p:nvSpPr>
          <p:cNvPr id="14" name="Text 12"/>
          <p:cNvSpPr/>
          <p:nvPr/>
        </p:nvSpPr>
        <p:spPr>
          <a:xfrm>
            <a:off x="1005840" y="5239512"/>
            <a:ext cx="4663440" cy="365760"/>
          </a:xfrm>
          <a:prstGeom prst="rect">
            <a:avLst/>
          </a:prstGeom>
          <a:noFill/>
          <a:ln/>
        </p:spPr>
        <p:txBody>
          <a:bodyPr wrap="square" rtlCol="0" anchor="ctr"/>
          <a:lstStyle/>
          <a:p>
            <a:pPr indent="0" marL="0">
              <a:buNone/>
            </a:pPr>
            <a:r>
              <a:rPr lang="en-US" sz="1300" dirty="0">
                <a:solidFill>
                  <a:srgbClr val="5B6570"/>
                </a:solidFill>
                <a:latin typeface="Calibri" pitchFamily="34" charset="0"/>
                <a:ea typeface="Calibri" pitchFamily="34" charset="-122"/>
                <a:cs typeface="Calibri" pitchFamily="34" charset="-120"/>
              </a:rPr>
              <a:t>Leadership wants one backup policy covering every AWS resource, not five separate ones</a:t>
            </a:r>
            <a:endParaRPr lang="en-US" sz="1300" dirty="0"/>
          </a:p>
        </p:txBody>
      </p:sp>
      <p:sp>
        <p:nvSpPr>
          <p:cNvPr id="15" name="Shape 13"/>
          <p:cNvSpPr/>
          <p:nvPr/>
        </p:nvSpPr>
        <p:spPr>
          <a:xfrm>
            <a:off x="6355080" y="1920240"/>
            <a:ext cx="5166360" cy="3794760"/>
          </a:xfrm>
          <a:prstGeom prst="roundRect">
            <a:avLst>
              <a:gd name="adj" fmla="val 2892"/>
            </a:avLst>
          </a:prstGeom>
          <a:solidFill>
            <a:srgbClr val="232F3E"/>
          </a:solidFill>
          <a:ln/>
        </p:spPr>
        <p:txBody>
          <a:bodyPr/>
          <a:p/>
        </p:txBody>
      </p:sp>
      <p:sp>
        <p:nvSpPr>
          <p:cNvPr id="16" name="Text 14"/>
          <p:cNvSpPr/>
          <p:nvPr/>
        </p:nvSpPr>
        <p:spPr>
          <a:xfrm>
            <a:off x="6720840" y="2148840"/>
            <a:ext cx="4480560" cy="320040"/>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APPLY THE TOOLKIT</a:t>
            </a:r>
            <a:endParaRPr lang="en-US" sz="1200" dirty="0"/>
          </a:p>
        </p:txBody>
      </p:sp>
      <p:sp>
        <p:nvSpPr>
          <p:cNvPr id="17" name="Text 15"/>
          <p:cNvSpPr/>
          <p:nvPr/>
        </p:nvSpPr>
        <p:spPr>
          <a:xfrm>
            <a:off x="6720840" y="2560320"/>
            <a:ext cx="4480560" cy="777240"/>
          </a:xfrm>
          <a:prstGeom prst="rect">
            <a:avLst/>
          </a:prstGeom>
          <a:noFill/>
          <a:ln/>
        </p:spPr>
        <p:txBody>
          <a:bodyPr wrap="square" rtlCol="0" anchor="ctr"/>
          <a:lstStyle/>
          <a:p>
            <a:pPr indent="0" marL="0">
              <a:lnSpc>
                <a:spcPct val="98000"/>
              </a:lnSpc>
              <a:buNone/>
            </a:pPr>
            <a:r>
              <a:rPr lang="en-US" sz="2100" b="1" dirty="0">
                <a:solidFill>
                  <a:srgbClr val="FFFFFF"/>
                </a:solidFill>
                <a:latin typeface="Calibri" pitchFamily="34" charset="0"/>
                <a:ea typeface="Calibri" pitchFamily="34" charset="-122"/>
                <a:cs typeface="Calibri" pitchFamily="34" charset="-120"/>
              </a:rPr>
              <a:t>Snow Family + EFS + EBS + AWS Backup</a:t>
            </a:r>
            <a:endParaRPr lang="en-US" sz="2100" dirty="0"/>
          </a:p>
        </p:txBody>
      </p:sp>
      <p:sp>
        <p:nvSpPr>
          <p:cNvPr id="18" name="Text 16"/>
          <p:cNvSpPr/>
          <p:nvPr/>
        </p:nvSpPr>
        <p:spPr>
          <a:xfrm>
            <a:off x="6720840" y="3474720"/>
            <a:ext cx="4480560" cy="2011680"/>
          </a:xfrm>
          <a:prstGeom prst="rect">
            <a:avLst/>
          </a:prstGeom>
          <a:noFill/>
          <a:ln/>
        </p:spPr>
        <p:txBody>
          <a:bodyPr wrap="square" rtlCol="0" anchor="ctr"/>
          <a:lstStyle/>
          <a:p>
            <a:pPr indent="0" marL="0">
              <a:lnSpc>
                <a:spcPct val="106000"/>
              </a:lnSpc>
              <a:buNone/>
            </a:pPr>
            <a:r>
              <a:rPr lang="en-US" sz="1400" dirty="0">
                <a:solidFill>
                  <a:srgbClr val="C7D2DE"/>
                </a:solidFill>
                <a:latin typeface="Calibri" pitchFamily="34" charset="0"/>
                <a:ea typeface="Calibri" pitchFamily="34" charset="-122"/>
                <a:cs typeface="Calibri" pitchFamily="34" charset="-120"/>
              </a:rPr>
              <a:t>Four different needs, four different tools — the archive moves via the Snow Family given the bandwidth problem, the shared editing files live on EFS, the database sits on EBS, and AWS Backup centralizes protection across all of it.</a:t>
            </a:r>
            <a:endParaRPr lang="en-US" sz="1400" dirty="0"/>
          </a:p>
          <a:p>
            <a:pPr indent="0" marL="0">
              <a:lnSpc>
                <a:spcPct val="106000"/>
              </a:lnSpc>
              <a:buNone/>
            </a:pPr>
            <a:endParaRPr lang="en-US" sz="1400" dirty="0"/>
          </a:p>
          <a:p>
            <a:pPr indent="0" marL="0">
              <a:lnSpc>
                <a:spcPct val="106000"/>
              </a:lnSpc>
              <a:buNone/>
            </a:pPr>
            <a:r>
              <a:rPr lang="en-US" sz="1400" dirty="0">
                <a:solidFill>
                  <a:srgbClr val="C7D2DE"/>
                </a:solidFill>
                <a:latin typeface="Calibri" pitchFamily="34" charset="0"/>
                <a:ea typeface="Calibri" pitchFamily="34" charset="-122"/>
                <a:cs typeface="Calibri" pitchFamily="34" charset="-120"/>
              </a:rPr>
              <a:t>Notice there's no single “storage service” — real migrations mix object, block, file, and offline transfer based on what each piece of data actually needs.</a:t>
            </a:r>
            <a:endParaRPr lang="en-US" sz="1400" dirty="0"/>
          </a:p>
        </p:txBody>
      </p:sp>
      <p:sp>
        <p:nvSpPr>
          <p:cNvPr id="19" name="Text 17"/>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0" name="Text 18"/>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BEFORE WE OPEN THE CONSOLE</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Console Preview: Finding Your Storage Tools</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You don't have to guess where storage concepts live in the AWS Console. Here's where to look tonight.</a:t>
            </a:r>
            <a:endParaRPr lang="en-US" sz="1500" dirty="0"/>
          </a:p>
        </p:txBody>
      </p:sp>
      <p:sp>
        <p:nvSpPr>
          <p:cNvPr id="5" name="Shape 3"/>
          <p:cNvSpPr/>
          <p:nvPr/>
        </p:nvSpPr>
        <p:spPr>
          <a:xfrm>
            <a:off x="640080"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6" name="Shape 4"/>
          <p:cNvSpPr/>
          <p:nvPr/>
        </p:nvSpPr>
        <p:spPr>
          <a:xfrm>
            <a:off x="640080" y="1965960"/>
            <a:ext cx="137160" cy="1828800"/>
          </a:xfrm>
          <a:prstGeom prst="roundRect">
            <a:avLst>
              <a:gd name="adj" fmla="val 13333"/>
            </a:avLst>
          </a:prstGeom>
          <a:solidFill>
            <a:srgbClr val="EC7211"/>
          </a:solidFill>
          <a:ln/>
        </p:spPr>
        <p:txBody>
          <a:bodyPr/>
          <a:p/>
        </p:txBody>
      </p:sp>
      <p:sp>
        <p:nvSpPr>
          <p:cNvPr id="7" name="Text 5"/>
          <p:cNvSpPr/>
          <p:nvPr/>
        </p:nvSpPr>
        <p:spPr>
          <a:xfrm>
            <a:off x="1005840"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S3 console</a:t>
            </a:r>
            <a:endParaRPr lang="en-US" sz="1600" dirty="0"/>
          </a:p>
        </p:txBody>
      </p:sp>
      <p:sp>
        <p:nvSpPr>
          <p:cNvPr id="8" name="Text 6"/>
          <p:cNvSpPr/>
          <p:nvPr/>
        </p:nvSpPr>
        <p:spPr>
          <a:xfrm>
            <a:off x="1005840"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Its own dedicated console — where you create buckets and set storage classes.</a:t>
            </a:r>
            <a:endParaRPr lang="en-US" sz="1300" dirty="0"/>
          </a:p>
        </p:txBody>
      </p:sp>
      <p:sp>
        <p:nvSpPr>
          <p:cNvPr id="9" name="Shape 7"/>
          <p:cNvSpPr/>
          <p:nvPr/>
        </p:nvSpPr>
        <p:spPr>
          <a:xfrm>
            <a:off x="4352544"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0" name="Shape 8"/>
          <p:cNvSpPr/>
          <p:nvPr/>
        </p:nvSpPr>
        <p:spPr>
          <a:xfrm>
            <a:off x="4352544" y="1965960"/>
            <a:ext cx="137160" cy="1828800"/>
          </a:xfrm>
          <a:prstGeom prst="roundRect">
            <a:avLst>
              <a:gd name="adj" fmla="val 13333"/>
            </a:avLst>
          </a:prstGeom>
          <a:solidFill>
            <a:srgbClr val="1F8A38"/>
          </a:solidFill>
          <a:ln/>
        </p:spPr>
        <p:txBody>
          <a:bodyPr/>
          <a:p/>
        </p:txBody>
      </p:sp>
      <p:sp>
        <p:nvSpPr>
          <p:cNvPr id="11" name="Text 9"/>
          <p:cNvSpPr/>
          <p:nvPr/>
        </p:nvSpPr>
        <p:spPr>
          <a:xfrm>
            <a:off x="4718304"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Lifecycle rules</a:t>
            </a:r>
            <a:endParaRPr lang="en-US" sz="1600" dirty="0"/>
          </a:p>
        </p:txBody>
      </p:sp>
      <p:sp>
        <p:nvSpPr>
          <p:cNvPr id="12" name="Text 10"/>
          <p:cNvSpPr/>
          <p:nvPr/>
        </p:nvSpPr>
        <p:spPr>
          <a:xfrm>
            <a:off x="4718304"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Configured per-bucket, inside the S3 console, under Management.</a:t>
            </a:r>
            <a:endParaRPr lang="en-US" sz="1300" dirty="0"/>
          </a:p>
        </p:txBody>
      </p:sp>
      <p:sp>
        <p:nvSpPr>
          <p:cNvPr id="13" name="Shape 11"/>
          <p:cNvSpPr/>
          <p:nvPr/>
        </p:nvSpPr>
        <p:spPr>
          <a:xfrm>
            <a:off x="8065008"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4" name="Shape 12"/>
          <p:cNvSpPr/>
          <p:nvPr/>
        </p:nvSpPr>
        <p:spPr>
          <a:xfrm>
            <a:off x="8065008" y="1965960"/>
            <a:ext cx="137160" cy="1828800"/>
          </a:xfrm>
          <a:prstGeom prst="roundRect">
            <a:avLst>
              <a:gd name="adj" fmla="val 13333"/>
            </a:avLst>
          </a:prstGeom>
          <a:solidFill>
            <a:srgbClr val="1E8FA5"/>
          </a:solidFill>
          <a:ln/>
        </p:spPr>
        <p:txBody>
          <a:bodyPr/>
          <a:p/>
        </p:txBody>
      </p:sp>
      <p:sp>
        <p:nvSpPr>
          <p:cNvPr id="15" name="Text 13"/>
          <p:cNvSpPr/>
          <p:nvPr/>
        </p:nvSpPr>
        <p:spPr>
          <a:xfrm>
            <a:off x="8430768"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EBS</a:t>
            </a:r>
            <a:endParaRPr lang="en-US" sz="1600" dirty="0"/>
          </a:p>
        </p:txBody>
      </p:sp>
      <p:sp>
        <p:nvSpPr>
          <p:cNvPr id="16" name="Text 14"/>
          <p:cNvSpPr/>
          <p:nvPr/>
        </p:nvSpPr>
        <p:spPr>
          <a:xfrm>
            <a:off x="8430768"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Lives inside the EC2 console, under Elastic Block Store.</a:t>
            </a:r>
            <a:endParaRPr lang="en-US" sz="1300" dirty="0"/>
          </a:p>
        </p:txBody>
      </p:sp>
      <p:sp>
        <p:nvSpPr>
          <p:cNvPr id="17" name="Shape 15"/>
          <p:cNvSpPr/>
          <p:nvPr/>
        </p:nvSpPr>
        <p:spPr>
          <a:xfrm>
            <a:off x="640080"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8" name="Shape 16"/>
          <p:cNvSpPr/>
          <p:nvPr/>
        </p:nvSpPr>
        <p:spPr>
          <a:xfrm>
            <a:off x="640080" y="4023360"/>
            <a:ext cx="137160" cy="1828800"/>
          </a:xfrm>
          <a:prstGeom prst="roundRect">
            <a:avLst>
              <a:gd name="adj" fmla="val 13333"/>
            </a:avLst>
          </a:prstGeom>
          <a:solidFill>
            <a:srgbClr val="7A5C9E"/>
          </a:solidFill>
          <a:ln/>
        </p:spPr>
        <p:txBody>
          <a:bodyPr/>
          <a:p/>
        </p:txBody>
      </p:sp>
      <p:sp>
        <p:nvSpPr>
          <p:cNvPr id="19" name="Text 17"/>
          <p:cNvSpPr/>
          <p:nvPr/>
        </p:nvSpPr>
        <p:spPr>
          <a:xfrm>
            <a:off x="1005840"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EFS</a:t>
            </a:r>
            <a:endParaRPr lang="en-US" sz="1600" dirty="0"/>
          </a:p>
        </p:txBody>
      </p:sp>
      <p:sp>
        <p:nvSpPr>
          <p:cNvPr id="20" name="Text 18"/>
          <p:cNvSpPr/>
          <p:nvPr/>
        </p:nvSpPr>
        <p:spPr>
          <a:xfrm>
            <a:off x="1005840"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Its own dedicated console — where you create and mount file systems.</a:t>
            </a:r>
            <a:endParaRPr lang="en-US" sz="1300" dirty="0"/>
          </a:p>
        </p:txBody>
      </p:sp>
      <p:sp>
        <p:nvSpPr>
          <p:cNvPr id="21" name="Shape 19"/>
          <p:cNvSpPr/>
          <p:nvPr/>
        </p:nvSpPr>
        <p:spPr>
          <a:xfrm>
            <a:off x="4352544"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22" name="Shape 20"/>
          <p:cNvSpPr/>
          <p:nvPr/>
        </p:nvSpPr>
        <p:spPr>
          <a:xfrm>
            <a:off x="4352544" y="4023360"/>
            <a:ext cx="137160" cy="1828800"/>
          </a:xfrm>
          <a:prstGeom prst="roundRect">
            <a:avLst>
              <a:gd name="adj" fmla="val 13333"/>
            </a:avLst>
          </a:prstGeom>
          <a:solidFill>
            <a:srgbClr val="4B6584"/>
          </a:solidFill>
          <a:ln/>
        </p:spPr>
        <p:txBody>
          <a:bodyPr/>
          <a:p/>
        </p:txBody>
      </p:sp>
      <p:sp>
        <p:nvSpPr>
          <p:cNvPr id="23" name="Text 21"/>
          <p:cNvSpPr/>
          <p:nvPr/>
        </p:nvSpPr>
        <p:spPr>
          <a:xfrm>
            <a:off x="4718304"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Storage Gateway</a:t>
            </a:r>
            <a:endParaRPr lang="en-US" sz="1600" dirty="0"/>
          </a:p>
        </p:txBody>
      </p:sp>
      <p:sp>
        <p:nvSpPr>
          <p:cNvPr id="24" name="Text 22"/>
          <p:cNvSpPr/>
          <p:nvPr/>
        </p:nvSpPr>
        <p:spPr>
          <a:xfrm>
            <a:off x="4718304"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Its own console — where you configure the hybrid connection.</a:t>
            </a:r>
            <a:endParaRPr lang="en-US" sz="1300" dirty="0"/>
          </a:p>
        </p:txBody>
      </p:sp>
      <p:sp>
        <p:nvSpPr>
          <p:cNvPr id="25" name="Shape 23"/>
          <p:cNvSpPr/>
          <p:nvPr/>
        </p:nvSpPr>
        <p:spPr>
          <a:xfrm>
            <a:off x="8065008"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26" name="Shape 24"/>
          <p:cNvSpPr/>
          <p:nvPr/>
        </p:nvSpPr>
        <p:spPr>
          <a:xfrm>
            <a:off x="8065008" y="4023360"/>
            <a:ext cx="137160" cy="1828800"/>
          </a:xfrm>
          <a:prstGeom prst="roundRect">
            <a:avLst>
              <a:gd name="adj" fmla="val 13333"/>
            </a:avLst>
          </a:prstGeom>
          <a:solidFill>
            <a:srgbClr val="B7791F"/>
          </a:solidFill>
          <a:ln/>
        </p:spPr>
        <p:txBody>
          <a:bodyPr/>
          <a:p/>
        </p:txBody>
      </p:sp>
      <p:sp>
        <p:nvSpPr>
          <p:cNvPr id="27" name="Text 25"/>
          <p:cNvSpPr/>
          <p:nvPr/>
        </p:nvSpPr>
        <p:spPr>
          <a:xfrm>
            <a:off x="8430768"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Snow Family &amp; Backup</a:t>
            </a:r>
            <a:endParaRPr lang="en-US" sz="1600" dirty="0"/>
          </a:p>
        </p:txBody>
      </p:sp>
      <p:sp>
        <p:nvSpPr>
          <p:cNvPr id="28" name="Text 26"/>
          <p:cNvSpPr/>
          <p:nvPr/>
        </p:nvSpPr>
        <p:spPr>
          <a:xfrm>
            <a:off x="8430768"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Separate consoles — AWS Snow Family for device orders, AWS Backup for centralized policies.</a:t>
            </a:r>
            <a:endParaRPr lang="en-US" sz="1300" dirty="0"/>
          </a:p>
        </p:txBody>
      </p:sp>
      <p:sp>
        <p:nvSpPr>
          <p:cNvPr id="29" name="Text 27"/>
          <p:cNvSpPr/>
          <p:nvPr/>
        </p:nvSpPr>
        <p:spPr>
          <a:xfrm>
            <a:off x="640080" y="5943600"/>
            <a:ext cx="10908792" cy="365760"/>
          </a:xfrm>
          <a:prstGeom prst="rect">
            <a:avLst/>
          </a:prstGeom>
          <a:noFill/>
          <a:ln/>
        </p:spPr>
        <p:txBody>
          <a:bodyPr wrap="square" rtlCol="0" anchor="ctr"/>
          <a:lstStyle/>
          <a:p>
            <a:pPr algn="ctr" indent="0" marL="0">
              <a:buNone/>
            </a:pPr>
            <a:r>
              <a:rPr lang="en-US" sz="1350" i="1" dirty="0">
                <a:solidFill>
                  <a:srgbClr val="5B6570"/>
                </a:solidFill>
                <a:latin typeface="Calibri" pitchFamily="34" charset="0"/>
                <a:ea typeface="Calibri" pitchFamily="34" charset="-122"/>
                <a:cs typeface="Calibri" pitchFamily="34" charset="-120"/>
              </a:rPr>
              <a:t>Exam cue:  the exam won't quiz you on console navigation directly, but knowing where a concept lives helps you recognize what a scenario is actually describing.</a:t>
            </a:r>
            <a:endParaRPr lang="en-US" sz="1350" dirty="0"/>
          </a:p>
        </p:txBody>
      </p:sp>
      <p:sp>
        <p:nvSpPr>
          <p:cNvPr id="30" name="Text 2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31" name="Text 2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THE SHORTCUT</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Ask These Questions, in Order</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Six questions resolve almost every AWS storage scenario on the exam — this is worth writing down.</a:t>
            </a:r>
            <a:endParaRPr lang="en-US" sz="1500" dirty="0"/>
          </a:p>
        </p:txBody>
      </p:sp>
      <p:sp>
        <p:nvSpPr>
          <p:cNvPr id="5" name="Shape 3"/>
          <p:cNvSpPr/>
          <p:nvPr/>
        </p:nvSpPr>
        <p:spPr>
          <a:xfrm>
            <a:off x="640080"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6" name="Shape 4"/>
          <p:cNvSpPr/>
          <p:nvPr/>
        </p:nvSpPr>
        <p:spPr>
          <a:xfrm>
            <a:off x="640080" y="1965960"/>
            <a:ext cx="137160" cy="1828800"/>
          </a:xfrm>
          <a:prstGeom prst="roundRect">
            <a:avLst>
              <a:gd name="adj" fmla="val 13333"/>
            </a:avLst>
          </a:prstGeom>
          <a:solidFill>
            <a:srgbClr val="1E8FA5"/>
          </a:solidFill>
          <a:ln/>
        </p:spPr>
        <p:txBody>
          <a:bodyPr/>
          <a:p/>
        </p:txBody>
      </p:sp>
      <p:sp>
        <p:nvSpPr>
          <p:cNvPr id="7" name="Text 5"/>
          <p:cNvSpPr/>
          <p:nvPr/>
        </p:nvSpPr>
        <p:spPr>
          <a:xfrm>
            <a:off x="1005840"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Store whole objects, accessed over the web?</a:t>
            </a:r>
            <a:endParaRPr lang="en-US" sz="1600" dirty="0"/>
          </a:p>
        </p:txBody>
      </p:sp>
      <p:sp>
        <p:nvSpPr>
          <p:cNvPr id="8" name="Text 6"/>
          <p:cNvSpPr/>
          <p:nvPr/>
        </p:nvSpPr>
        <p:spPr>
          <a:xfrm>
            <a:off x="1005840"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Amazon S3.</a:t>
            </a:r>
            <a:endParaRPr lang="en-US" sz="1300" dirty="0"/>
          </a:p>
        </p:txBody>
      </p:sp>
      <p:sp>
        <p:nvSpPr>
          <p:cNvPr id="9" name="Shape 7"/>
          <p:cNvSpPr/>
          <p:nvPr/>
        </p:nvSpPr>
        <p:spPr>
          <a:xfrm>
            <a:off x="4352544"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0" name="Shape 8"/>
          <p:cNvSpPr/>
          <p:nvPr/>
        </p:nvSpPr>
        <p:spPr>
          <a:xfrm>
            <a:off x="4352544" y="1965960"/>
            <a:ext cx="137160" cy="1828800"/>
          </a:xfrm>
          <a:prstGeom prst="roundRect">
            <a:avLst>
              <a:gd name="adj" fmla="val 13333"/>
            </a:avLst>
          </a:prstGeom>
          <a:solidFill>
            <a:srgbClr val="1F8A38"/>
          </a:solidFill>
          <a:ln/>
        </p:spPr>
        <p:txBody>
          <a:bodyPr/>
          <a:p/>
        </p:txBody>
      </p:sp>
      <p:sp>
        <p:nvSpPr>
          <p:cNvPr id="11" name="Text 9"/>
          <p:cNvSpPr/>
          <p:nvPr/>
        </p:nvSpPr>
        <p:spPr>
          <a:xfrm>
            <a:off x="4718304"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Attach a virtual hard drive to one instance?</a:t>
            </a:r>
            <a:endParaRPr lang="en-US" sz="1600" dirty="0"/>
          </a:p>
        </p:txBody>
      </p:sp>
      <p:sp>
        <p:nvSpPr>
          <p:cNvPr id="12" name="Text 10"/>
          <p:cNvSpPr/>
          <p:nvPr/>
        </p:nvSpPr>
        <p:spPr>
          <a:xfrm>
            <a:off x="4718304"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Amazon EBS.</a:t>
            </a:r>
            <a:endParaRPr lang="en-US" sz="1300" dirty="0"/>
          </a:p>
        </p:txBody>
      </p:sp>
      <p:sp>
        <p:nvSpPr>
          <p:cNvPr id="13" name="Shape 11"/>
          <p:cNvSpPr/>
          <p:nvPr/>
        </p:nvSpPr>
        <p:spPr>
          <a:xfrm>
            <a:off x="8065008" y="19659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4" name="Shape 12"/>
          <p:cNvSpPr/>
          <p:nvPr/>
        </p:nvSpPr>
        <p:spPr>
          <a:xfrm>
            <a:off x="8065008" y="1965960"/>
            <a:ext cx="137160" cy="1828800"/>
          </a:xfrm>
          <a:prstGeom prst="roundRect">
            <a:avLst>
              <a:gd name="adj" fmla="val 13333"/>
            </a:avLst>
          </a:prstGeom>
          <a:solidFill>
            <a:srgbClr val="EC7211"/>
          </a:solidFill>
          <a:ln/>
        </p:spPr>
        <p:txBody>
          <a:bodyPr/>
          <a:p/>
        </p:txBody>
      </p:sp>
      <p:sp>
        <p:nvSpPr>
          <p:cNvPr id="15" name="Text 13"/>
          <p:cNvSpPr/>
          <p:nvPr/>
        </p:nvSpPr>
        <p:spPr>
          <a:xfrm>
            <a:off x="8430768" y="21671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Share a file system across many instances?</a:t>
            </a:r>
            <a:endParaRPr lang="en-US" sz="1600" dirty="0"/>
          </a:p>
        </p:txBody>
      </p:sp>
      <p:sp>
        <p:nvSpPr>
          <p:cNvPr id="16" name="Text 14"/>
          <p:cNvSpPr/>
          <p:nvPr/>
        </p:nvSpPr>
        <p:spPr>
          <a:xfrm>
            <a:off x="8430768" y="26974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Amazon EFS.</a:t>
            </a:r>
            <a:endParaRPr lang="en-US" sz="1300" dirty="0"/>
          </a:p>
        </p:txBody>
      </p:sp>
      <p:sp>
        <p:nvSpPr>
          <p:cNvPr id="17" name="Shape 15"/>
          <p:cNvSpPr/>
          <p:nvPr/>
        </p:nvSpPr>
        <p:spPr>
          <a:xfrm>
            <a:off x="640080"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8" name="Shape 16"/>
          <p:cNvSpPr/>
          <p:nvPr/>
        </p:nvSpPr>
        <p:spPr>
          <a:xfrm>
            <a:off x="640080" y="4023360"/>
            <a:ext cx="137160" cy="1828800"/>
          </a:xfrm>
          <a:prstGeom prst="roundRect">
            <a:avLst>
              <a:gd name="adj" fmla="val 13333"/>
            </a:avLst>
          </a:prstGeom>
          <a:solidFill>
            <a:srgbClr val="7A5C9E"/>
          </a:solidFill>
          <a:ln/>
        </p:spPr>
        <p:txBody>
          <a:bodyPr/>
          <a:p/>
        </p:txBody>
      </p:sp>
      <p:sp>
        <p:nvSpPr>
          <p:cNvPr id="19" name="Text 17"/>
          <p:cNvSpPr/>
          <p:nvPr/>
        </p:nvSpPr>
        <p:spPr>
          <a:xfrm>
            <a:off x="1005840"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Connect an on-premises app to AWS storage?</a:t>
            </a:r>
            <a:endParaRPr lang="en-US" sz="1600" dirty="0"/>
          </a:p>
        </p:txBody>
      </p:sp>
      <p:sp>
        <p:nvSpPr>
          <p:cNvPr id="20" name="Text 18"/>
          <p:cNvSpPr/>
          <p:nvPr/>
        </p:nvSpPr>
        <p:spPr>
          <a:xfrm>
            <a:off x="1005840"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AWS Storage Gateway.</a:t>
            </a:r>
            <a:endParaRPr lang="en-US" sz="1300" dirty="0"/>
          </a:p>
        </p:txBody>
      </p:sp>
      <p:sp>
        <p:nvSpPr>
          <p:cNvPr id="21" name="Shape 19"/>
          <p:cNvSpPr/>
          <p:nvPr/>
        </p:nvSpPr>
        <p:spPr>
          <a:xfrm>
            <a:off x="4352544"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22" name="Shape 20"/>
          <p:cNvSpPr/>
          <p:nvPr/>
        </p:nvSpPr>
        <p:spPr>
          <a:xfrm>
            <a:off x="4352544" y="4023360"/>
            <a:ext cx="137160" cy="1828800"/>
          </a:xfrm>
          <a:prstGeom prst="roundRect">
            <a:avLst>
              <a:gd name="adj" fmla="val 13333"/>
            </a:avLst>
          </a:prstGeom>
          <a:solidFill>
            <a:srgbClr val="4B6584"/>
          </a:solidFill>
          <a:ln/>
        </p:spPr>
        <p:txBody>
          <a:bodyPr/>
          <a:p/>
        </p:txBody>
      </p:sp>
      <p:sp>
        <p:nvSpPr>
          <p:cNvPr id="23" name="Text 21"/>
          <p:cNvSpPr/>
          <p:nvPr/>
        </p:nvSpPr>
        <p:spPr>
          <a:xfrm>
            <a:off x="4718304"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Move a massive dataset with limited bandwidth?</a:t>
            </a:r>
            <a:endParaRPr lang="en-US" sz="1600" dirty="0"/>
          </a:p>
        </p:txBody>
      </p:sp>
      <p:sp>
        <p:nvSpPr>
          <p:cNvPr id="24" name="Text 22"/>
          <p:cNvSpPr/>
          <p:nvPr/>
        </p:nvSpPr>
        <p:spPr>
          <a:xfrm>
            <a:off x="4718304"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The AWS Snow Family.</a:t>
            </a:r>
            <a:endParaRPr lang="en-US" sz="1300" dirty="0"/>
          </a:p>
        </p:txBody>
      </p:sp>
      <p:sp>
        <p:nvSpPr>
          <p:cNvPr id="25" name="Shape 23"/>
          <p:cNvSpPr/>
          <p:nvPr/>
        </p:nvSpPr>
        <p:spPr>
          <a:xfrm>
            <a:off x="8065008" y="4023360"/>
            <a:ext cx="3483864" cy="1828800"/>
          </a:xfrm>
          <a:prstGeom prst="roundRect">
            <a:avLst>
              <a:gd name="adj" fmla="val 5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26" name="Shape 24"/>
          <p:cNvSpPr/>
          <p:nvPr/>
        </p:nvSpPr>
        <p:spPr>
          <a:xfrm>
            <a:off x="8065008" y="4023360"/>
            <a:ext cx="137160" cy="1828800"/>
          </a:xfrm>
          <a:prstGeom prst="roundRect">
            <a:avLst>
              <a:gd name="adj" fmla="val 13333"/>
            </a:avLst>
          </a:prstGeom>
          <a:solidFill>
            <a:srgbClr val="B7791F"/>
          </a:solidFill>
          <a:ln/>
        </p:spPr>
        <p:txBody>
          <a:bodyPr/>
          <a:p/>
        </p:txBody>
      </p:sp>
      <p:sp>
        <p:nvSpPr>
          <p:cNvPr id="27" name="Text 25"/>
          <p:cNvSpPr/>
          <p:nvPr/>
        </p:nvSpPr>
        <p:spPr>
          <a:xfrm>
            <a:off x="8430768" y="422452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Apply one consistent backup policy across services?</a:t>
            </a:r>
            <a:endParaRPr lang="en-US" sz="1600" dirty="0"/>
          </a:p>
        </p:txBody>
      </p:sp>
      <p:sp>
        <p:nvSpPr>
          <p:cNvPr id="28" name="Text 26"/>
          <p:cNvSpPr/>
          <p:nvPr/>
        </p:nvSpPr>
        <p:spPr>
          <a:xfrm>
            <a:off x="8430768" y="4754880"/>
            <a:ext cx="2843784" cy="91440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AWS Backup.</a:t>
            </a:r>
            <a:endParaRPr lang="en-US" sz="1300" dirty="0"/>
          </a:p>
        </p:txBody>
      </p:sp>
      <p:sp>
        <p:nvSpPr>
          <p:cNvPr id="29" name="Text 27"/>
          <p:cNvSpPr/>
          <p:nvPr/>
        </p:nvSpPr>
        <p:spPr>
          <a:xfrm>
            <a:off x="640080" y="5943600"/>
            <a:ext cx="10908792" cy="365760"/>
          </a:xfrm>
          <a:prstGeom prst="rect">
            <a:avLst/>
          </a:prstGeom>
          <a:noFill/>
          <a:ln/>
        </p:spPr>
        <p:txBody>
          <a:bodyPr wrap="square" rtlCol="0" anchor="ctr"/>
          <a:lstStyle/>
          <a:p>
            <a:pPr algn="ctr" indent="0" marL="0">
              <a:buNone/>
            </a:pPr>
            <a:r>
              <a:rPr lang="en-US" sz="1400" b="1" i="1" dirty="0">
                <a:solidFill>
                  <a:srgbClr val="232F3E"/>
                </a:solidFill>
                <a:latin typeface="Calibri" pitchFamily="34" charset="0"/>
                <a:ea typeface="Calibri" pitchFamily="34" charset="-122"/>
                <a:cs typeface="Calibri" pitchFamily="34" charset="-120"/>
              </a:rPr>
              <a:t>The pattern:  work through these six questions in order, and almost every AWS storage scenario resolves cleanly.</a:t>
            </a:r>
            <a:endParaRPr lang="en-US" sz="1400" dirty="0"/>
          </a:p>
        </p:txBody>
      </p:sp>
      <p:sp>
        <p:nvSpPr>
          <p:cNvPr id="30" name="Text 2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31" name="Text 2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KNOW THESE FOR THE EXAM</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AWS Storage Services, Side by Side</a:t>
            </a:r>
            <a:endParaRPr lang="en-US" sz="3200" dirty="0"/>
          </a:p>
        </p:txBody>
      </p:sp>
      <p:sp>
        <p:nvSpPr>
          <p:cNvPr id="4" name="Text 2"/>
          <p:cNvSpPr/>
          <p:nvPr/>
        </p:nvSpPr>
        <p:spPr>
          <a:xfrm>
            <a:off x="640080" y="1417320"/>
            <a:ext cx="10908792" cy="365760"/>
          </a:xfrm>
          <a:prstGeom prst="rect">
            <a:avLst/>
          </a:prstGeom>
          <a:noFill/>
          <a:ln/>
        </p:spPr>
        <p:txBody>
          <a:bodyPr wrap="square" rtlCol="0" anchor="ctr"/>
          <a:lstStyle/>
          <a:p>
            <a:pPr indent="0" marL="0">
              <a:buNone/>
            </a:pPr>
            <a:r>
              <a:rPr lang="en-US" sz="1500" i="1" dirty="0">
                <a:solidFill>
                  <a:srgbClr val="5B6570"/>
                </a:solidFill>
                <a:latin typeface="Calibri" pitchFamily="34" charset="0"/>
                <a:ea typeface="Calibri" pitchFamily="34" charset="-122"/>
                <a:cs typeface="Calibri" pitchFamily="34" charset="-120"/>
              </a:rPr>
              <a:t>Five services, one job each. The exam gives you a scenario and asks which service fits — match the verb to the tool.</a:t>
            </a:r>
            <a:endParaRPr lang="en-US" sz="1500" dirty="0"/>
          </a:p>
        </p:txBody>
      </p:sp>
      <p:sp>
        <p:nvSpPr>
          <p:cNvPr id="5" name="Shape 3"/>
          <p:cNvSpPr/>
          <p:nvPr/>
        </p:nvSpPr>
        <p:spPr>
          <a:xfrm>
            <a:off x="640080" y="1920240"/>
            <a:ext cx="10908792" cy="576072"/>
          </a:xfrm>
          <a:prstGeom prst="rect">
            <a:avLst/>
          </a:prstGeom>
          <a:solidFill>
            <a:srgbClr val="232F3E"/>
          </a:solidFill>
          <a:ln/>
        </p:spPr>
        <p:txBody>
          <a:bodyPr/>
          <a:p/>
        </p:txBody>
      </p:sp>
      <p:sp>
        <p:nvSpPr>
          <p:cNvPr id="6" name="Text 4"/>
          <p:cNvSpPr/>
          <p:nvPr/>
        </p:nvSpPr>
        <p:spPr>
          <a:xfrm>
            <a:off x="804672" y="1920240"/>
            <a:ext cx="2578608" cy="576072"/>
          </a:xfrm>
          <a:prstGeom prst="rect">
            <a:avLst/>
          </a:prstGeom>
          <a:noFill/>
          <a:ln/>
        </p:spPr>
        <p:txBody>
          <a:bodyPr wrap="square"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Tool</a:t>
            </a:r>
            <a:endParaRPr lang="en-US" sz="1400" dirty="0"/>
          </a:p>
        </p:txBody>
      </p:sp>
      <p:sp>
        <p:nvSpPr>
          <p:cNvPr id="7" name="Text 5"/>
          <p:cNvSpPr/>
          <p:nvPr/>
        </p:nvSpPr>
        <p:spPr>
          <a:xfrm>
            <a:off x="3639312" y="1920240"/>
            <a:ext cx="3310128" cy="576072"/>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Job</a:t>
            </a:r>
            <a:endParaRPr lang="en-US" sz="1350" dirty="0"/>
          </a:p>
        </p:txBody>
      </p:sp>
      <p:sp>
        <p:nvSpPr>
          <p:cNvPr id="8" name="Text 6"/>
          <p:cNvSpPr/>
          <p:nvPr/>
        </p:nvSpPr>
        <p:spPr>
          <a:xfrm>
            <a:off x="7205472" y="1920240"/>
            <a:ext cx="2395728" cy="576072"/>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Category</a:t>
            </a:r>
            <a:endParaRPr lang="en-US" sz="1350" dirty="0"/>
          </a:p>
        </p:txBody>
      </p:sp>
      <p:sp>
        <p:nvSpPr>
          <p:cNvPr id="9" name="Text 7"/>
          <p:cNvSpPr/>
          <p:nvPr/>
        </p:nvSpPr>
        <p:spPr>
          <a:xfrm>
            <a:off x="9857232" y="1920240"/>
            <a:ext cx="1600200" cy="576072"/>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Best For</a:t>
            </a:r>
            <a:endParaRPr lang="en-US" sz="1350" dirty="0"/>
          </a:p>
        </p:txBody>
      </p:sp>
      <p:sp>
        <p:nvSpPr>
          <p:cNvPr id="10" name="Shape 8"/>
          <p:cNvSpPr/>
          <p:nvPr/>
        </p:nvSpPr>
        <p:spPr>
          <a:xfrm>
            <a:off x="640080" y="2496312"/>
            <a:ext cx="10908792" cy="576072"/>
          </a:xfrm>
          <a:prstGeom prst="rect">
            <a:avLst/>
          </a:prstGeom>
          <a:solidFill>
            <a:srgbClr val="FFFFFF"/>
          </a:solidFill>
          <a:ln/>
        </p:spPr>
        <p:txBody>
          <a:bodyPr/>
          <a:p/>
        </p:txBody>
      </p:sp>
      <p:sp>
        <p:nvSpPr>
          <p:cNvPr id="11" name="Text 9"/>
          <p:cNvSpPr/>
          <p:nvPr/>
        </p:nvSpPr>
        <p:spPr>
          <a:xfrm>
            <a:off x="804672" y="2496312"/>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Amazon S3</a:t>
            </a:r>
            <a:endParaRPr lang="en-US" sz="1400" dirty="0"/>
          </a:p>
        </p:txBody>
      </p:sp>
      <p:sp>
        <p:nvSpPr>
          <p:cNvPr id="12" name="Text 10"/>
          <p:cNvSpPr/>
          <p:nvPr/>
        </p:nvSpPr>
        <p:spPr>
          <a:xfrm>
            <a:off x="3639312" y="2496312"/>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Stores objects with virtually unlimited capacity</a:t>
            </a:r>
            <a:endParaRPr lang="en-US" sz="1350" dirty="0"/>
          </a:p>
        </p:txBody>
      </p:sp>
      <p:sp>
        <p:nvSpPr>
          <p:cNvPr id="13" name="Text 11"/>
          <p:cNvSpPr/>
          <p:nvPr/>
        </p:nvSpPr>
        <p:spPr>
          <a:xfrm>
            <a:off x="7205472" y="2496312"/>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Object storage</a:t>
            </a:r>
            <a:endParaRPr lang="en-US" sz="1350" dirty="0"/>
          </a:p>
        </p:txBody>
      </p:sp>
      <p:sp>
        <p:nvSpPr>
          <p:cNvPr id="14" name="Text 12"/>
          <p:cNvSpPr/>
          <p:nvPr/>
        </p:nvSpPr>
        <p:spPr>
          <a:xfrm>
            <a:off x="9857232" y="2496312"/>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Backups, static sites, data lakes, media at scale</a:t>
            </a:r>
            <a:endParaRPr lang="en-US" sz="1350" dirty="0"/>
          </a:p>
        </p:txBody>
      </p:sp>
      <p:sp>
        <p:nvSpPr>
          <p:cNvPr id="15" name="Shape 13"/>
          <p:cNvSpPr/>
          <p:nvPr/>
        </p:nvSpPr>
        <p:spPr>
          <a:xfrm>
            <a:off x="640080" y="3072384"/>
            <a:ext cx="10908792" cy="576072"/>
          </a:xfrm>
          <a:prstGeom prst="rect">
            <a:avLst/>
          </a:prstGeom>
          <a:solidFill>
            <a:srgbClr val="EDF1F4"/>
          </a:solidFill>
          <a:ln/>
        </p:spPr>
        <p:txBody>
          <a:bodyPr/>
          <a:p/>
        </p:txBody>
      </p:sp>
      <p:sp>
        <p:nvSpPr>
          <p:cNvPr id="16" name="Text 14"/>
          <p:cNvSpPr/>
          <p:nvPr/>
        </p:nvSpPr>
        <p:spPr>
          <a:xfrm>
            <a:off x="804672" y="3072384"/>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Amazon EBS</a:t>
            </a:r>
            <a:endParaRPr lang="en-US" sz="1400" dirty="0"/>
          </a:p>
        </p:txBody>
      </p:sp>
      <p:sp>
        <p:nvSpPr>
          <p:cNvPr id="17" name="Text 15"/>
          <p:cNvSpPr/>
          <p:nvPr/>
        </p:nvSpPr>
        <p:spPr>
          <a:xfrm>
            <a:off x="3639312" y="3072384"/>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Provides block-level storage for one instance</a:t>
            </a:r>
            <a:endParaRPr lang="en-US" sz="1350" dirty="0"/>
          </a:p>
        </p:txBody>
      </p:sp>
      <p:sp>
        <p:nvSpPr>
          <p:cNvPr id="18" name="Text 16"/>
          <p:cNvSpPr/>
          <p:nvPr/>
        </p:nvSpPr>
        <p:spPr>
          <a:xfrm>
            <a:off x="7205472" y="3072384"/>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Block storage</a:t>
            </a:r>
            <a:endParaRPr lang="en-US" sz="1350" dirty="0"/>
          </a:p>
        </p:txBody>
      </p:sp>
      <p:sp>
        <p:nvSpPr>
          <p:cNvPr id="19" name="Text 17"/>
          <p:cNvSpPr/>
          <p:nvPr/>
        </p:nvSpPr>
        <p:spPr>
          <a:xfrm>
            <a:off x="9857232" y="3072384"/>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Database files, boot volumes, low-latency single-instance access</a:t>
            </a:r>
            <a:endParaRPr lang="en-US" sz="1350" dirty="0"/>
          </a:p>
        </p:txBody>
      </p:sp>
      <p:sp>
        <p:nvSpPr>
          <p:cNvPr id="20" name="Shape 18"/>
          <p:cNvSpPr/>
          <p:nvPr/>
        </p:nvSpPr>
        <p:spPr>
          <a:xfrm>
            <a:off x="640080" y="3648456"/>
            <a:ext cx="10908792" cy="576072"/>
          </a:xfrm>
          <a:prstGeom prst="rect">
            <a:avLst/>
          </a:prstGeom>
          <a:solidFill>
            <a:srgbClr val="FFFFFF"/>
          </a:solidFill>
          <a:ln/>
        </p:spPr>
        <p:txBody>
          <a:bodyPr/>
          <a:p/>
        </p:txBody>
      </p:sp>
      <p:sp>
        <p:nvSpPr>
          <p:cNvPr id="21" name="Text 19"/>
          <p:cNvSpPr/>
          <p:nvPr/>
        </p:nvSpPr>
        <p:spPr>
          <a:xfrm>
            <a:off x="804672" y="3648456"/>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Amazon EFS</a:t>
            </a:r>
            <a:endParaRPr lang="en-US" sz="1400" dirty="0"/>
          </a:p>
        </p:txBody>
      </p:sp>
      <p:sp>
        <p:nvSpPr>
          <p:cNvPr id="22" name="Text 20"/>
          <p:cNvSpPr/>
          <p:nvPr/>
        </p:nvSpPr>
        <p:spPr>
          <a:xfrm>
            <a:off x="3639312" y="3648456"/>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Provides a shared, scalable file system</a:t>
            </a:r>
            <a:endParaRPr lang="en-US" sz="1350" dirty="0"/>
          </a:p>
        </p:txBody>
      </p:sp>
      <p:sp>
        <p:nvSpPr>
          <p:cNvPr id="23" name="Text 21"/>
          <p:cNvSpPr/>
          <p:nvPr/>
        </p:nvSpPr>
        <p:spPr>
          <a:xfrm>
            <a:off x="7205472" y="3648456"/>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File storage</a:t>
            </a:r>
            <a:endParaRPr lang="en-US" sz="1350" dirty="0"/>
          </a:p>
        </p:txBody>
      </p:sp>
      <p:sp>
        <p:nvSpPr>
          <p:cNvPr id="24" name="Text 22"/>
          <p:cNvSpPr/>
          <p:nvPr/>
        </p:nvSpPr>
        <p:spPr>
          <a:xfrm>
            <a:off x="9857232" y="3648456"/>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Multiple instances reading/writing the same files</a:t>
            </a:r>
            <a:endParaRPr lang="en-US" sz="1350" dirty="0"/>
          </a:p>
        </p:txBody>
      </p:sp>
      <p:sp>
        <p:nvSpPr>
          <p:cNvPr id="25" name="Shape 23"/>
          <p:cNvSpPr/>
          <p:nvPr/>
        </p:nvSpPr>
        <p:spPr>
          <a:xfrm>
            <a:off x="640080" y="4224528"/>
            <a:ext cx="10908792" cy="576072"/>
          </a:xfrm>
          <a:prstGeom prst="rect">
            <a:avLst/>
          </a:prstGeom>
          <a:solidFill>
            <a:srgbClr val="EDF1F4"/>
          </a:solidFill>
          <a:ln/>
        </p:spPr>
        <p:txBody>
          <a:bodyPr/>
          <a:p/>
        </p:txBody>
      </p:sp>
      <p:sp>
        <p:nvSpPr>
          <p:cNvPr id="26" name="Text 24"/>
          <p:cNvSpPr/>
          <p:nvPr/>
        </p:nvSpPr>
        <p:spPr>
          <a:xfrm>
            <a:off x="804672" y="4224528"/>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Storage Gateway</a:t>
            </a:r>
            <a:endParaRPr lang="en-US" sz="1400" dirty="0"/>
          </a:p>
        </p:txBody>
      </p:sp>
      <p:sp>
        <p:nvSpPr>
          <p:cNvPr id="27" name="Text 25"/>
          <p:cNvSpPr/>
          <p:nvPr/>
        </p:nvSpPr>
        <p:spPr>
          <a:xfrm>
            <a:off x="3639312" y="4224528"/>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Connects on-premises apps to AWS storage</a:t>
            </a:r>
            <a:endParaRPr lang="en-US" sz="1350" dirty="0"/>
          </a:p>
        </p:txBody>
      </p:sp>
      <p:sp>
        <p:nvSpPr>
          <p:cNvPr id="28" name="Text 26"/>
          <p:cNvSpPr/>
          <p:nvPr/>
        </p:nvSpPr>
        <p:spPr>
          <a:xfrm>
            <a:off x="7205472" y="4224528"/>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Hybrid storage</a:t>
            </a:r>
            <a:endParaRPr lang="en-US" sz="1350" dirty="0"/>
          </a:p>
        </p:txBody>
      </p:sp>
      <p:sp>
        <p:nvSpPr>
          <p:cNvPr id="29" name="Text 27"/>
          <p:cNvSpPr/>
          <p:nvPr/>
        </p:nvSpPr>
        <p:spPr>
          <a:xfrm>
            <a:off x="9857232" y="4224528"/>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Gradual migration, ongoing hybrid presence</a:t>
            </a:r>
            <a:endParaRPr lang="en-US" sz="1350" dirty="0"/>
          </a:p>
        </p:txBody>
      </p:sp>
      <p:sp>
        <p:nvSpPr>
          <p:cNvPr id="30" name="Shape 28"/>
          <p:cNvSpPr/>
          <p:nvPr/>
        </p:nvSpPr>
        <p:spPr>
          <a:xfrm>
            <a:off x="640080" y="4800600"/>
            <a:ext cx="10908792" cy="576072"/>
          </a:xfrm>
          <a:prstGeom prst="rect">
            <a:avLst/>
          </a:prstGeom>
          <a:solidFill>
            <a:srgbClr val="FFFFFF"/>
          </a:solidFill>
          <a:ln/>
        </p:spPr>
        <p:txBody>
          <a:bodyPr/>
          <a:p/>
        </p:txBody>
      </p:sp>
      <p:sp>
        <p:nvSpPr>
          <p:cNvPr id="31" name="Text 29"/>
          <p:cNvSpPr/>
          <p:nvPr/>
        </p:nvSpPr>
        <p:spPr>
          <a:xfrm>
            <a:off x="804672" y="4800600"/>
            <a:ext cx="2578608" cy="576072"/>
          </a:xfrm>
          <a:prstGeom prst="rect">
            <a:avLst/>
          </a:prstGeom>
          <a:noFill/>
          <a:ln/>
        </p:spPr>
        <p:txBody>
          <a:bodyPr wrap="square" rtlCol="0" anchor="ctr"/>
          <a:lstStyle/>
          <a:p>
            <a:pPr algn="l" indent="0" marL="0">
              <a:buNone/>
            </a:pPr>
            <a:r>
              <a:rPr lang="en-US" sz="1400" b="1" dirty="0">
                <a:solidFill>
                  <a:srgbClr val="232F3E"/>
                </a:solidFill>
                <a:latin typeface="Calibri" pitchFamily="34" charset="0"/>
                <a:ea typeface="Calibri" pitchFamily="34" charset="-122"/>
                <a:cs typeface="Calibri" pitchFamily="34" charset="-120"/>
              </a:rPr>
              <a:t>Snow Family</a:t>
            </a:r>
            <a:endParaRPr lang="en-US" sz="1400" dirty="0"/>
          </a:p>
        </p:txBody>
      </p:sp>
      <p:sp>
        <p:nvSpPr>
          <p:cNvPr id="32" name="Text 30"/>
          <p:cNvSpPr/>
          <p:nvPr/>
        </p:nvSpPr>
        <p:spPr>
          <a:xfrm>
            <a:off x="3639312" y="4800600"/>
            <a:ext cx="33101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Physically ships data into AWS</a:t>
            </a:r>
            <a:endParaRPr lang="en-US" sz="1350" dirty="0"/>
          </a:p>
        </p:txBody>
      </p:sp>
      <p:sp>
        <p:nvSpPr>
          <p:cNvPr id="33" name="Text 31"/>
          <p:cNvSpPr/>
          <p:nvPr/>
        </p:nvSpPr>
        <p:spPr>
          <a:xfrm>
            <a:off x="7205472" y="4800600"/>
            <a:ext cx="2395728"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Offline transfer</a:t>
            </a:r>
            <a:endParaRPr lang="en-US" sz="1350" dirty="0"/>
          </a:p>
        </p:txBody>
      </p:sp>
      <p:sp>
        <p:nvSpPr>
          <p:cNvPr id="34" name="Text 32"/>
          <p:cNvSpPr/>
          <p:nvPr/>
        </p:nvSpPr>
        <p:spPr>
          <a:xfrm>
            <a:off x="9857232" y="4800600"/>
            <a:ext cx="1600200" cy="576072"/>
          </a:xfrm>
          <a:prstGeom prst="rect">
            <a:avLst/>
          </a:prstGeom>
          <a:noFill/>
          <a:ln/>
        </p:spPr>
        <p:txBody>
          <a:bodyPr wrap="square" rtlCol="0" anchor="ctr"/>
          <a:lstStyle/>
          <a:p>
            <a:pPr algn="ctr" indent="0" marL="0">
              <a:buNone/>
            </a:pPr>
            <a:r>
              <a:rPr lang="en-US" sz="1350" dirty="0">
                <a:solidFill>
                  <a:srgbClr val="5B6570"/>
                </a:solidFill>
                <a:latin typeface="Calibri" pitchFamily="34" charset="0"/>
                <a:ea typeface="Calibri" pitchFamily="34" charset="-122"/>
                <a:cs typeface="Calibri" pitchFamily="34" charset="-120"/>
              </a:rPr>
              <a:t>Massive datasets, limited or unreliable bandwidth</a:t>
            </a:r>
            <a:endParaRPr lang="en-US" sz="1350" dirty="0"/>
          </a:p>
        </p:txBody>
      </p:sp>
      <p:sp>
        <p:nvSpPr>
          <p:cNvPr id="35" name="Shape 33"/>
          <p:cNvSpPr/>
          <p:nvPr/>
        </p:nvSpPr>
        <p:spPr>
          <a:xfrm>
            <a:off x="640080" y="1920240"/>
            <a:ext cx="10908792" cy="3456432"/>
          </a:xfrm>
          <a:prstGeom prst="rect">
            <a:avLst/>
          </a:prstGeom>
          <a:ln w="12700">
            <a:solidFill>
              <a:srgbClr val="DCE1E6"/>
            </a:solidFill>
            <a:prstDash val="solid"/>
          </a:ln>
        </p:spPr>
        <p:txBody>
          <a:bodyPr/>
          <a:p/>
        </p:txBody>
      </p:sp>
      <p:sp>
        <p:nvSpPr>
          <p:cNvPr id="36" name="Text 34"/>
          <p:cNvSpPr/>
          <p:nvPr/>
        </p:nvSpPr>
        <p:spPr>
          <a:xfrm>
            <a:off x="640080" y="5623560"/>
            <a:ext cx="10908792" cy="365760"/>
          </a:xfrm>
          <a:prstGeom prst="rect">
            <a:avLst/>
          </a:prstGeom>
          <a:noFill/>
          <a:ln/>
        </p:spPr>
        <p:txBody>
          <a:bodyPr wrap="square" rtlCol="0" anchor="ctr"/>
          <a:lstStyle/>
          <a:p>
            <a:pPr algn="ctr" indent="0" marL="0">
              <a:buNone/>
            </a:pPr>
            <a:r>
              <a:rPr lang="en-US" sz="1400" b="1" i="1" dirty="0">
                <a:solidFill>
                  <a:srgbClr val="232F3E"/>
                </a:solidFill>
                <a:latin typeface="Calibri" pitchFamily="34" charset="0"/>
                <a:ea typeface="Calibri" pitchFamily="34" charset="-122"/>
                <a:cs typeface="Calibri" pitchFamily="34" charset="-120"/>
              </a:rPr>
              <a:t>Rule of thumb:  if a scenario names how many instances need access at once, or how the data physically gets to AWS, match the verb to the tool.</a:t>
            </a:r>
            <a:endParaRPr lang="en-US" sz="1400" dirty="0"/>
          </a:p>
        </p:txBody>
      </p:sp>
      <p:sp>
        <p:nvSpPr>
          <p:cNvPr id="37" name="Text 35"/>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38" name="Text 36"/>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BEFORE YOU SIT THE EXAM</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Storage: The Traps</a:t>
            </a:r>
            <a:endParaRPr lang="en-US" sz="3200" dirty="0"/>
          </a:p>
        </p:txBody>
      </p:sp>
      <p:sp>
        <p:nvSpPr>
          <p:cNvPr id="4" name="Shape 2"/>
          <p:cNvSpPr/>
          <p:nvPr/>
        </p:nvSpPr>
        <p:spPr>
          <a:xfrm>
            <a:off x="640080" y="169164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5" name="Shape 3"/>
          <p:cNvSpPr/>
          <p:nvPr/>
        </p:nvSpPr>
        <p:spPr>
          <a:xfrm>
            <a:off x="640080" y="1691640"/>
            <a:ext cx="137160" cy="2194560"/>
          </a:xfrm>
          <a:prstGeom prst="roundRect">
            <a:avLst>
              <a:gd name="adj" fmla="val 13333"/>
            </a:avLst>
          </a:prstGeom>
          <a:solidFill>
            <a:srgbClr val="EC7211"/>
          </a:solidFill>
          <a:ln/>
        </p:spPr>
        <p:txBody>
          <a:bodyPr/>
          <a:p/>
        </p:txBody>
      </p:sp>
      <p:sp>
        <p:nvSpPr>
          <p:cNvPr id="6" name="Text 4"/>
          <p:cNvSpPr/>
          <p:nvPr/>
        </p:nvSpPr>
        <p:spPr>
          <a:xfrm>
            <a:off x="1005840" y="189280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“Data accessed maybe once a year for compliance — which storage class?”</a:t>
            </a:r>
            <a:endParaRPr lang="en-US" sz="1600" dirty="0"/>
          </a:p>
        </p:txBody>
      </p:sp>
      <p:sp>
        <p:nvSpPr>
          <p:cNvPr id="7" name="Text 5"/>
          <p:cNvSpPr/>
          <p:nvPr/>
        </p:nvSpPr>
        <p:spPr>
          <a:xfrm>
            <a:off x="1005840" y="242316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S3 Glacier Deep Archive — rare access, cheapest class, retrieval takes hours.</a:t>
            </a:r>
            <a:endParaRPr lang="en-US" sz="1300" dirty="0"/>
          </a:p>
        </p:txBody>
      </p:sp>
      <p:sp>
        <p:nvSpPr>
          <p:cNvPr id="8" name="Shape 6"/>
          <p:cNvSpPr/>
          <p:nvPr/>
        </p:nvSpPr>
        <p:spPr>
          <a:xfrm>
            <a:off x="4352544" y="169164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9" name="Shape 7"/>
          <p:cNvSpPr/>
          <p:nvPr/>
        </p:nvSpPr>
        <p:spPr>
          <a:xfrm>
            <a:off x="4352544" y="1691640"/>
            <a:ext cx="137160" cy="2194560"/>
          </a:xfrm>
          <a:prstGeom prst="roundRect">
            <a:avLst>
              <a:gd name="adj" fmla="val 13333"/>
            </a:avLst>
          </a:prstGeom>
          <a:solidFill>
            <a:srgbClr val="1F8A38"/>
          </a:solidFill>
          <a:ln/>
        </p:spPr>
        <p:txBody>
          <a:bodyPr/>
          <a:p/>
        </p:txBody>
      </p:sp>
      <p:sp>
        <p:nvSpPr>
          <p:cNvPr id="10" name="Text 8"/>
          <p:cNvSpPr/>
          <p:nvPr/>
        </p:nvSpPr>
        <p:spPr>
          <a:xfrm>
            <a:off x="4718304" y="189280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“Many EC2 instances need to read and write the same files at once — EBS or EFS?”</a:t>
            </a:r>
            <a:endParaRPr lang="en-US" sz="1600" dirty="0"/>
          </a:p>
        </p:txBody>
      </p:sp>
      <p:sp>
        <p:nvSpPr>
          <p:cNvPr id="11" name="Text 9"/>
          <p:cNvSpPr/>
          <p:nvPr/>
        </p:nvSpPr>
        <p:spPr>
          <a:xfrm>
            <a:off x="4718304" y="242316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EFS — EBS attaches to only one instance at a time.</a:t>
            </a:r>
            <a:endParaRPr lang="en-US" sz="1300" dirty="0"/>
          </a:p>
        </p:txBody>
      </p:sp>
      <p:sp>
        <p:nvSpPr>
          <p:cNvPr id="12" name="Shape 10"/>
          <p:cNvSpPr/>
          <p:nvPr/>
        </p:nvSpPr>
        <p:spPr>
          <a:xfrm>
            <a:off x="8065008" y="169164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3" name="Shape 11"/>
          <p:cNvSpPr/>
          <p:nvPr/>
        </p:nvSpPr>
        <p:spPr>
          <a:xfrm>
            <a:off x="8065008" y="1691640"/>
            <a:ext cx="137160" cy="2194560"/>
          </a:xfrm>
          <a:prstGeom prst="roundRect">
            <a:avLst>
              <a:gd name="adj" fmla="val 13333"/>
            </a:avLst>
          </a:prstGeom>
          <a:solidFill>
            <a:srgbClr val="7A5C9E"/>
          </a:solidFill>
          <a:ln/>
        </p:spPr>
        <p:txBody>
          <a:bodyPr/>
          <a:p/>
        </p:txBody>
      </p:sp>
      <p:sp>
        <p:nvSpPr>
          <p:cNvPr id="14" name="Text 12"/>
          <p:cNvSpPr/>
          <p:nvPr/>
        </p:nvSpPr>
        <p:spPr>
          <a:xfrm>
            <a:off x="8430768" y="189280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“50 petabytes, slow internet connection — online transfer or Snow Family?”</a:t>
            </a:r>
            <a:endParaRPr lang="en-US" sz="1600" dirty="0"/>
          </a:p>
        </p:txBody>
      </p:sp>
      <p:sp>
        <p:nvSpPr>
          <p:cNvPr id="15" name="Text 13"/>
          <p:cNvSpPr/>
          <p:nvPr/>
        </p:nvSpPr>
        <p:spPr>
          <a:xfrm>
            <a:off x="8430768" y="242316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The Snow Family — bandwidth is the bottleneck, not the transfer tool.</a:t>
            </a:r>
            <a:endParaRPr lang="en-US" sz="1300" dirty="0"/>
          </a:p>
        </p:txBody>
      </p:sp>
      <p:sp>
        <p:nvSpPr>
          <p:cNvPr id="16" name="Shape 14"/>
          <p:cNvSpPr/>
          <p:nvPr/>
        </p:nvSpPr>
        <p:spPr>
          <a:xfrm>
            <a:off x="640080" y="411480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7" name="Shape 15"/>
          <p:cNvSpPr/>
          <p:nvPr/>
        </p:nvSpPr>
        <p:spPr>
          <a:xfrm>
            <a:off x="640080" y="4114800"/>
            <a:ext cx="137160" cy="2194560"/>
          </a:xfrm>
          <a:prstGeom prst="roundRect">
            <a:avLst>
              <a:gd name="adj" fmla="val 13333"/>
            </a:avLst>
          </a:prstGeom>
          <a:solidFill>
            <a:srgbClr val="C0392B"/>
          </a:solidFill>
          <a:ln/>
        </p:spPr>
        <p:txBody>
          <a:bodyPr/>
          <a:p/>
        </p:txBody>
      </p:sp>
      <p:sp>
        <p:nvSpPr>
          <p:cNvPr id="18" name="Text 16"/>
          <p:cNvSpPr/>
          <p:nvPr/>
        </p:nvSpPr>
        <p:spPr>
          <a:xfrm>
            <a:off x="1005840" y="431596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“Objects need to move to cheaper storage automatically as they age — what feature?”</a:t>
            </a:r>
            <a:endParaRPr lang="en-US" sz="1600" dirty="0"/>
          </a:p>
        </p:txBody>
      </p:sp>
      <p:sp>
        <p:nvSpPr>
          <p:cNvPr id="19" name="Text 17"/>
          <p:cNvSpPr/>
          <p:nvPr/>
        </p:nvSpPr>
        <p:spPr>
          <a:xfrm>
            <a:off x="1005840" y="484632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An S3 lifecycle policy, not a manual process.</a:t>
            </a:r>
            <a:endParaRPr lang="en-US" sz="1300" dirty="0"/>
          </a:p>
        </p:txBody>
      </p:sp>
      <p:sp>
        <p:nvSpPr>
          <p:cNvPr id="20" name="Shape 18"/>
          <p:cNvSpPr/>
          <p:nvPr/>
        </p:nvSpPr>
        <p:spPr>
          <a:xfrm>
            <a:off x="4352544" y="411480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21" name="Shape 19"/>
          <p:cNvSpPr/>
          <p:nvPr/>
        </p:nvSpPr>
        <p:spPr>
          <a:xfrm>
            <a:off x="4352544" y="4114800"/>
            <a:ext cx="137160" cy="2194560"/>
          </a:xfrm>
          <a:prstGeom prst="roundRect">
            <a:avLst>
              <a:gd name="adj" fmla="val 13333"/>
            </a:avLst>
          </a:prstGeom>
          <a:solidFill>
            <a:srgbClr val="1E8FA5"/>
          </a:solidFill>
          <a:ln/>
        </p:spPr>
        <p:txBody>
          <a:bodyPr/>
          <a:p/>
        </p:txBody>
      </p:sp>
      <p:sp>
        <p:nvSpPr>
          <p:cNvPr id="22" name="Text 20"/>
          <p:cNvSpPr/>
          <p:nvPr/>
        </p:nvSpPr>
        <p:spPr>
          <a:xfrm>
            <a:off x="4718304" y="431596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“Backup policy needs to cover EBS, RDS, and DynamoDB consistently — what service?”</a:t>
            </a:r>
            <a:endParaRPr lang="en-US" sz="1600" dirty="0"/>
          </a:p>
        </p:txBody>
      </p:sp>
      <p:sp>
        <p:nvSpPr>
          <p:cNvPr id="23" name="Text 21"/>
          <p:cNvSpPr/>
          <p:nvPr/>
        </p:nvSpPr>
        <p:spPr>
          <a:xfrm>
            <a:off x="4718304" y="484632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AWS Backup — one centralized policy instead of five separate ones.</a:t>
            </a:r>
            <a:endParaRPr lang="en-US" sz="1300" dirty="0"/>
          </a:p>
        </p:txBody>
      </p:sp>
      <p:sp>
        <p:nvSpPr>
          <p:cNvPr id="24" name="Shape 22"/>
          <p:cNvSpPr/>
          <p:nvPr/>
        </p:nvSpPr>
        <p:spPr>
          <a:xfrm>
            <a:off x="8065008" y="4114800"/>
            <a:ext cx="3483864" cy="2194560"/>
          </a:xfrm>
          <a:prstGeom prst="roundRect">
            <a:avLst>
              <a:gd name="adj" fmla="val 4167"/>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25" name="Shape 23"/>
          <p:cNvSpPr/>
          <p:nvPr/>
        </p:nvSpPr>
        <p:spPr>
          <a:xfrm>
            <a:off x="8065008" y="4114800"/>
            <a:ext cx="137160" cy="2194560"/>
          </a:xfrm>
          <a:prstGeom prst="roundRect">
            <a:avLst>
              <a:gd name="adj" fmla="val 13333"/>
            </a:avLst>
          </a:prstGeom>
          <a:solidFill>
            <a:srgbClr val="4B6584"/>
          </a:solidFill>
          <a:ln/>
        </p:spPr>
        <p:txBody>
          <a:bodyPr/>
          <a:p/>
        </p:txBody>
      </p:sp>
      <p:sp>
        <p:nvSpPr>
          <p:cNvPr id="26" name="Text 24"/>
          <p:cNvSpPr/>
          <p:nvPr/>
        </p:nvSpPr>
        <p:spPr>
          <a:xfrm>
            <a:off x="8430768" y="4315968"/>
            <a:ext cx="2889504" cy="457200"/>
          </a:xfrm>
          <a:prstGeom prst="rect">
            <a:avLst/>
          </a:prstGeom>
          <a:noFill/>
          <a:ln/>
        </p:spPr>
        <p:txBody>
          <a:bodyPr wrap="square" rtlCol="0" anchor="ctr"/>
          <a:lstStyle/>
          <a:p>
            <a:pPr indent="0" marL="0">
              <a:lnSpc>
                <a:spcPct val="95000"/>
              </a:lnSpc>
              <a:buNone/>
            </a:pPr>
            <a:r>
              <a:rPr lang="en-US" sz="1600" b="1" dirty="0">
                <a:solidFill>
                  <a:srgbClr val="232F3E"/>
                </a:solidFill>
                <a:latin typeface="Calibri" pitchFamily="34" charset="0"/>
                <a:ea typeface="Calibri" pitchFamily="34" charset="-122"/>
                <a:cs typeface="Calibri" pitchFamily="34" charset="-120"/>
              </a:rPr>
              <a:t>“An on-premises app needs to use S3 as if it were a local drive — what service?”</a:t>
            </a:r>
            <a:endParaRPr lang="en-US" sz="1600" dirty="0"/>
          </a:p>
        </p:txBody>
      </p:sp>
      <p:sp>
        <p:nvSpPr>
          <p:cNvPr id="27" name="Text 25"/>
          <p:cNvSpPr/>
          <p:nvPr/>
        </p:nvSpPr>
        <p:spPr>
          <a:xfrm>
            <a:off x="8430768" y="4846320"/>
            <a:ext cx="2843784" cy="1280160"/>
          </a:xfrm>
          <a:prstGeom prst="rect">
            <a:avLst/>
          </a:prstGeom>
          <a:noFill/>
          <a:ln/>
        </p:spPr>
        <p:txBody>
          <a:bodyPr wrap="square" rtlCol="0" anchor="ctr"/>
          <a:lstStyle/>
          <a:p>
            <a:pPr indent="0" marL="0">
              <a:lnSpc>
                <a:spcPct val="103000"/>
              </a:lnSpc>
              <a:buNone/>
            </a:pPr>
            <a:r>
              <a:rPr lang="en-US" sz="1300" dirty="0">
                <a:solidFill>
                  <a:srgbClr val="5B6570"/>
                </a:solidFill>
                <a:latin typeface="Calibri" pitchFamily="34" charset="0"/>
                <a:ea typeface="Calibri" pitchFamily="34" charset="-122"/>
                <a:cs typeface="Calibri" pitchFamily="34" charset="-120"/>
              </a:rPr>
              <a:t>AWS Storage Gateway.</a:t>
            </a:r>
            <a:endParaRPr lang="en-US" sz="1300" dirty="0"/>
          </a:p>
        </p:txBody>
      </p:sp>
      <p:sp>
        <p:nvSpPr>
          <p:cNvPr id="28" name="Text 26"/>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9" name="Text 27"/>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AFTER THE BREAK</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Tonight's Hands-On</a:t>
            </a:r>
            <a:endParaRPr lang="en-US" sz="3200" dirty="0"/>
          </a:p>
        </p:txBody>
      </p:sp>
      <p:sp>
        <p:nvSpPr>
          <p:cNvPr id="4" name="Shape 2"/>
          <p:cNvSpPr/>
          <p:nvPr/>
        </p:nvSpPr>
        <p:spPr>
          <a:xfrm>
            <a:off x="640080" y="1691640"/>
            <a:ext cx="10908792" cy="960120"/>
          </a:xfrm>
          <a:prstGeom prst="roundRect">
            <a:avLst>
              <a:gd name="adj" fmla="val 9524"/>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5" name="Shape 3"/>
          <p:cNvSpPr/>
          <p:nvPr/>
        </p:nvSpPr>
        <p:spPr>
          <a:xfrm>
            <a:off x="914400" y="1892808"/>
            <a:ext cx="548640" cy="548640"/>
          </a:xfrm>
          <a:prstGeom prst="ellipse">
            <a:avLst/>
          </a:prstGeom>
          <a:solidFill>
            <a:srgbClr val="1E8FA5"/>
          </a:solidFill>
          <a:ln/>
        </p:spPr>
        <p:txBody>
          <a:bodyPr/>
          <a:p/>
        </p:txBody>
      </p:sp>
      <p:sp>
        <p:nvSpPr>
          <p:cNvPr id="6" name="Text 4"/>
          <p:cNvSpPr/>
          <p:nvPr/>
        </p:nvSpPr>
        <p:spPr>
          <a:xfrm>
            <a:off x="914400" y="189280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91640" y="1837944"/>
            <a:ext cx="9537192" cy="384048"/>
          </a:xfrm>
          <a:prstGeom prst="rect">
            <a:avLst/>
          </a:prstGeom>
          <a:noFill/>
          <a:ln/>
        </p:spPr>
        <p:txBody>
          <a:bodyPr wrap="square" rtlCol="0" anchor="ctr"/>
          <a:lstStyle/>
          <a:p>
            <a:pPr indent="0" marL="0">
              <a:buNone/>
            </a:pPr>
            <a:r>
              <a:rPr lang="en-US" sz="1750" b="1" dirty="0">
                <a:solidFill>
                  <a:srgbClr val="232F3E"/>
                </a:solidFill>
                <a:latin typeface="Calibri" pitchFamily="34" charset="0"/>
                <a:ea typeface="Calibri" pitchFamily="34" charset="-122"/>
                <a:cs typeface="Calibri" pitchFamily="34" charset="-120"/>
              </a:rPr>
              <a:t>Sort the Storage Types</a:t>
            </a:r>
            <a:endParaRPr lang="en-US" sz="1750" dirty="0"/>
          </a:p>
        </p:txBody>
      </p:sp>
      <p:sp>
        <p:nvSpPr>
          <p:cNvPr id="8" name="Text 6"/>
          <p:cNvSpPr/>
          <p:nvPr/>
        </p:nvSpPr>
        <p:spPr>
          <a:xfrm>
            <a:off x="1691640" y="2212848"/>
            <a:ext cx="9445752" cy="36576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Sort scenarios into object, block, or file storage — and defend each pick.</a:t>
            </a:r>
            <a:endParaRPr lang="en-US" sz="1400" dirty="0"/>
          </a:p>
        </p:txBody>
      </p:sp>
      <p:sp>
        <p:nvSpPr>
          <p:cNvPr id="9" name="Shape 7"/>
          <p:cNvSpPr/>
          <p:nvPr/>
        </p:nvSpPr>
        <p:spPr>
          <a:xfrm>
            <a:off x="640080" y="2788920"/>
            <a:ext cx="10908792" cy="960120"/>
          </a:xfrm>
          <a:prstGeom prst="roundRect">
            <a:avLst>
              <a:gd name="adj" fmla="val 9524"/>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0" name="Shape 8"/>
          <p:cNvSpPr/>
          <p:nvPr/>
        </p:nvSpPr>
        <p:spPr>
          <a:xfrm>
            <a:off x="914400" y="2990088"/>
            <a:ext cx="548640" cy="548640"/>
          </a:xfrm>
          <a:prstGeom prst="ellipse">
            <a:avLst/>
          </a:prstGeom>
          <a:solidFill>
            <a:srgbClr val="EC7211"/>
          </a:solidFill>
          <a:ln/>
        </p:spPr>
        <p:txBody>
          <a:bodyPr/>
          <a:p/>
        </p:txBody>
      </p:sp>
      <p:sp>
        <p:nvSpPr>
          <p:cNvPr id="11" name="Text 9"/>
          <p:cNvSpPr/>
          <p:nvPr/>
        </p:nvSpPr>
        <p:spPr>
          <a:xfrm>
            <a:off x="914400" y="299008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91640" y="2935224"/>
            <a:ext cx="9537192" cy="384048"/>
          </a:xfrm>
          <a:prstGeom prst="rect">
            <a:avLst/>
          </a:prstGeom>
          <a:noFill/>
          <a:ln/>
        </p:spPr>
        <p:txBody>
          <a:bodyPr wrap="square" rtlCol="0" anchor="ctr"/>
          <a:lstStyle/>
          <a:p>
            <a:pPr indent="0" marL="0">
              <a:buNone/>
            </a:pPr>
            <a:r>
              <a:rPr lang="en-US" sz="1750" b="1" dirty="0">
                <a:solidFill>
                  <a:srgbClr val="232F3E"/>
                </a:solidFill>
                <a:latin typeface="Calibri" pitchFamily="34" charset="0"/>
                <a:ea typeface="Calibri" pitchFamily="34" charset="-122"/>
                <a:cs typeface="Calibri" pitchFamily="34" charset="-120"/>
              </a:rPr>
              <a:t>Storage Service Hunt</a:t>
            </a:r>
            <a:endParaRPr lang="en-US" sz="1750" dirty="0"/>
          </a:p>
        </p:txBody>
      </p:sp>
      <p:sp>
        <p:nvSpPr>
          <p:cNvPr id="13" name="Text 11"/>
          <p:cNvSpPr/>
          <p:nvPr/>
        </p:nvSpPr>
        <p:spPr>
          <a:xfrm>
            <a:off x="1691640" y="3310128"/>
            <a:ext cx="9445752" cy="36576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In teams: given a scenario, find and defend the right storage service or class.</a:t>
            </a:r>
            <a:endParaRPr lang="en-US" sz="1400" dirty="0"/>
          </a:p>
        </p:txBody>
      </p:sp>
      <p:sp>
        <p:nvSpPr>
          <p:cNvPr id="14" name="Shape 12"/>
          <p:cNvSpPr/>
          <p:nvPr/>
        </p:nvSpPr>
        <p:spPr>
          <a:xfrm>
            <a:off x="640080" y="3886200"/>
            <a:ext cx="10908792" cy="960120"/>
          </a:xfrm>
          <a:prstGeom prst="roundRect">
            <a:avLst>
              <a:gd name="adj" fmla="val 9524"/>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5" name="Shape 13"/>
          <p:cNvSpPr/>
          <p:nvPr/>
        </p:nvSpPr>
        <p:spPr>
          <a:xfrm>
            <a:off x="914400" y="4087368"/>
            <a:ext cx="548640" cy="548640"/>
          </a:xfrm>
          <a:prstGeom prst="ellipse">
            <a:avLst/>
          </a:prstGeom>
          <a:solidFill>
            <a:srgbClr val="1F8A38"/>
          </a:solidFill>
          <a:ln/>
        </p:spPr>
        <p:txBody>
          <a:bodyPr/>
          <a:p/>
        </p:txBody>
      </p:sp>
      <p:sp>
        <p:nvSpPr>
          <p:cNvPr id="16" name="Text 14"/>
          <p:cNvSpPr/>
          <p:nvPr/>
        </p:nvSpPr>
        <p:spPr>
          <a:xfrm>
            <a:off x="914400" y="408736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91640" y="4032504"/>
            <a:ext cx="9537192" cy="384048"/>
          </a:xfrm>
          <a:prstGeom prst="rect">
            <a:avLst/>
          </a:prstGeom>
          <a:noFill/>
          <a:ln/>
        </p:spPr>
        <p:txBody>
          <a:bodyPr wrap="square" rtlCol="0" anchor="ctr"/>
          <a:lstStyle/>
          <a:p>
            <a:pPr indent="0" marL="0">
              <a:buNone/>
            </a:pPr>
            <a:r>
              <a:rPr lang="en-US" sz="1750" b="1" dirty="0">
                <a:solidFill>
                  <a:srgbClr val="232F3E"/>
                </a:solidFill>
                <a:latin typeface="Calibri" pitchFamily="34" charset="0"/>
                <a:ea typeface="Calibri" pitchFamily="34" charset="-122"/>
                <a:cs typeface="Calibri" pitchFamily="34" charset="-120"/>
              </a:rPr>
              <a:t>Storage class check</a:t>
            </a:r>
            <a:endParaRPr lang="en-US" sz="1750" dirty="0"/>
          </a:p>
        </p:txBody>
      </p:sp>
      <p:sp>
        <p:nvSpPr>
          <p:cNvPr id="18" name="Text 16"/>
          <p:cNvSpPr/>
          <p:nvPr/>
        </p:nvSpPr>
        <p:spPr>
          <a:xfrm>
            <a:off x="1691640" y="4407408"/>
            <a:ext cx="9445752" cy="36576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We'll trace through a few S3 lifecycle scenarios together and decide, live, which class fits at each stage.</a:t>
            </a:r>
            <a:endParaRPr lang="en-US" sz="1400" dirty="0"/>
          </a:p>
        </p:txBody>
      </p:sp>
      <p:sp>
        <p:nvSpPr>
          <p:cNvPr id="19" name="Shape 17"/>
          <p:cNvSpPr/>
          <p:nvPr/>
        </p:nvSpPr>
        <p:spPr>
          <a:xfrm>
            <a:off x="640080" y="4983480"/>
            <a:ext cx="10908792" cy="960120"/>
          </a:xfrm>
          <a:prstGeom prst="roundRect">
            <a:avLst>
              <a:gd name="adj" fmla="val 9524"/>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20" name="Shape 18"/>
          <p:cNvSpPr/>
          <p:nvPr/>
        </p:nvSpPr>
        <p:spPr>
          <a:xfrm>
            <a:off x="914400" y="5184648"/>
            <a:ext cx="548640" cy="548640"/>
          </a:xfrm>
          <a:prstGeom prst="ellipse">
            <a:avLst/>
          </a:prstGeom>
          <a:solidFill>
            <a:srgbClr val="7A5C9E"/>
          </a:solidFill>
          <a:ln/>
        </p:spPr>
        <p:txBody>
          <a:bodyPr/>
          <a:p/>
        </p:txBody>
      </p:sp>
      <p:sp>
        <p:nvSpPr>
          <p:cNvPr id="21" name="Text 19"/>
          <p:cNvSpPr/>
          <p:nvPr/>
        </p:nvSpPr>
        <p:spPr>
          <a:xfrm>
            <a:off x="914400" y="5184648"/>
            <a:ext cx="54864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691640" y="5129784"/>
            <a:ext cx="9537192" cy="384048"/>
          </a:xfrm>
          <a:prstGeom prst="rect">
            <a:avLst/>
          </a:prstGeom>
          <a:noFill/>
          <a:ln/>
        </p:spPr>
        <p:txBody>
          <a:bodyPr wrap="square" rtlCol="0" anchor="ctr"/>
          <a:lstStyle/>
          <a:p>
            <a:pPr indent="0" marL="0">
              <a:buNone/>
            </a:pPr>
            <a:r>
              <a:rPr lang="en-US" sz="1750" b="1" dirty="0">
                <a:solidFill>
                  <a:srgbClr val="232F3E"/>
                </a:solidFill>
                <a:latin typeface="Calibri" pitchFamily="34" charset="0"/>
                <a:ea typeface="Calibri" pitchFamily="34" charset="-122"/>
                <a:cs typeface="Calibri" pitchFamily="34" charset="-120"/>
              </a:rPr>
              <a:t>AWS Academy Module 7</a:t>
            </a:r>
            <a:endParaRPr lang="en-US" sz="1750" dirty="0"/>
          </a:p>
        </p:txBody>
      </p:sp>
      <p:sp>
        <p:nvSpPr>
          <p:cNvPr id="23" name="Text 21"/>
          <p:cNvSpPr/>
          <p:nvPr/>
        </p:nvSpPr>
        <p:spPr>
          <a:xfrm>
            <a:off x="1691640" y="5504688"/>
            <a:ext cx="9445752" cy="36576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Complete the online module content and the knowledge check.</a:t>
            </a:r>
            <a:endParaRPr lang="en-US" sz="1400" dirty="0"/>
          </a:p>
        </p:txBody>
      </p:sp>
      <p:sp>
        <p:nvSpPr>
          <p:cNvPr id="24" name="Text 22"/>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5" name="Text 23"/>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640080" y="457200"/>
            <a:ext cx="10908792" cy="274320"/>
          </a:xfrm>
          <a:prstGeom prst="rect">
            <a:avLst/>
          </a:prstGeom>
          <a:noFill/>
          <a:ln/>
        </p:spPr>
        <p:txBody>
          <a:bodyPr wrap="square" rtlCol="0" anchor="ctr"/>
          <a:lstStyle/>
          <a:p>
            <a:pPr indent="0" marL="0">
              <a:buNone/>
            </a:pPr>
            <a:r>
              <a:rPr lang="en-US" sz="1200" b="1" spc="200" kern="0" dirty="0">
                <a:solidFill>
                  <a:srgbClr val="EC7211"/>
                </a:solidFill>
                <a:latin typeface="Calibri" pitchFamily="34" charset="0"/>
                <a:ea typeface="Calibri" pitchFamily="34" charset="-122"/>
                <a:cs typeface="Calibri" pitchFamily="34" charset="-120"/>
              </a:rPr>
              <a:t>BEFORE NEXT CLASS</a:t>
            </a:r>
            <a:endParaRPr lang="en-US" sz="1200" dirty="0"/>
          </a:p>
        </p:txBody>
      </p:sp>
      <p:sp>
        <p:nvSpPr>
          <p:cNvPr id="3" name="Text 1"/>
          <p:cNvSpPr/>
          <p:nvPr/>
        </p:nvSpPr>
        <p:spPr>
          <a:xfrm>
            <a:off x="640080" y="731520"/>
            <a:ext cx="10908792" cy="640080"/>
          </a:xfrm>
          <a:prstGeom prst="rect">
            <a:avLst/>
          </a:prstGeom>
          <a:noFill/>
          <a:ln/>
        </p:spPr>
        <p:txBody>
          <a:bodyPr wrap="square" rtlCol="0" anchor="ctr"/>
          <a:lstStyle/>
          <a:p>
            <a:pPr indent="0" marL="0">
              <a:buNone/>
            </a:pPr>
            <a:r>
              <a:rPr lang="en-US" sz="3200" b="1" dirty="0">
                <a:solidFill>
                  <a:srgbClr val="232F3E"/>
                </a:solidFill>
                <a:latin typeface="Calibri" pitchFamily="34" charset="0"/>
                <a:ea typeface="Calibri" pitchFamily="34" charset="-122"/>
                <a:cs typeface="Calibri" pitchFamily="34" charset="-120"/>
              </a:rPr>
              <a:t>Your Assignment</a:t>
            </a:r>
            <a:endParaRPr lang="en-US" sz="3200" dirty="0"/>
          </a:p>
        </p:txBody>
      </p:sp>
      <p:sp>
        <p:nvSpPr>
          <p:cNvPr id="4" name="Shape 2"/>
          <p:cNvSpPr/>
          <p:nvPr/>
        </p:nvSpPr>
        <p:spPr>
          <a:xfrm>
            <a:off x="640080" y="1737360"/>
            <a:ext cx="10908792" cy="1143000"/>
          </a:xfrm>
          <a:prstGeom prst="roundRect">
            <a:avLst>
              <a:gd name="adj" fmla="val 8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5" name="Shape 3"/>
          <p:cNvSpPr/>
          <p:nvPr/>
        </p:nvSpPr>
        <p:spPr>
          <a:xfrm>
            <a:off x="960120" y="2029968"/>
            <a:ext cx="566928" cy="566928"/>
          </a:xfrm>
          <a:prstGeom prst="ellipse">
            <a:avLst/>
          </a:prstGeom>
          <a:solidFill>
            <a:srgbClr val="EC7211"/>
          </a:solidFill>
          <a:ln/>
        </p:spPr>
        <p:txBody>
          <a:bodyPr/>
          <a:p/>
        </p:txBody>
      </p:sp>
      <p:sp>
        <p:nvSpPr>
          <p:cNvPr id="6" name="Text 4"/>
          <p:cNvSpPr/>
          <p:nvPr/>
        </p:nvSpPr>
        <p:spPr>
          <a:xfrm>
            <a:off x="960120" y="2029968"/>
            <a:ext cx="566928"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783080" y="1920240"/>
            <a:ext cx="9445752" cy="41148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Finish AWS Academy Module 7 + knowledge check</a:t>
            </a:r>
            <a:endParaRPr lang="en-US" sz="1800" dirty="0"/>
          </a:p>
        </p:txBody>
      </p:sp>
      <p:sp>
        <p:nvSpPr>
          <p:cNvPr id="8" name="Text 6"/>
          <p:cNvSpPr/>
          <p:nvPr/>
        </p:nvSpPr>
        <p:spPr>
          <a:xfrm>
            <a:off x="1783080" y="2322576"/>
            <a:ext cx="9354312" cy="45720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Including the S3 storage class and EBS/EFS sections. Aim for 80%+ on the first attempt.</a:t>
            </a:r>
            <a:endParaRPr lang="en-US" sz="1400" dirty="0"/>
          </a:p>
        </p:txBody>
      </p:sp>
      <p:sp>
        <p:nvSpPr>
          <p:cNvPr id="9" name="Shape 7"/>
          <p:cNvSpPr/>
          <p:nvPr/>
        </p:nvSpPr>
        <p:spPr>
          <a:xfrm>
            <a:off x="640080" y="3063240"/>
            <a:ext cx="10908792" cy="1143000"/>
          </a:xfrm>
          <a:prstGeom prst="roundRect">
            <a:avLst>
              <a:gd name="adj" fmla="val 8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0" name="Shape 8"/>
          <p:cNvSpPr/>
          <p:nvPr/>
        </p:nvSpPr>
        <p:spPr>
          <a:xfrm>
            <a:off x="960120" y="3355848"/>
            <a:ext cx="566928" cy="566928"/>
          </a:xfrm>
          <a:prstGeom prst="ellipse">
            <a:avLst/>
          </a:prstGeom>
          <a:solidFill>
            <a:srgbClr val="1E8FA5"/>
          </a:solidFill>
          <a:ln/>
        </p:spPr>
        <p:txBody>
          <a:bodyPr/>
          <a:p/>
        </p:txBody>
      </p:sp>
      <p:sp>
        <p:nvSpPr>
          <p:cNvPr id="11" name="Text 9"/>
          <p:cNvSpPr/>
          <p:nvPr/>
        </p:nvSpPr>
        <p:spPr>
          <a:xfrm>
            <a:off x="960120" y="3355848"/>
            <a:ext cx="566928"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783080" y="3246120"/>
            <a:ext cx="9445752" cy="41148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Sketch the three storage types</a:t>
            </a:r>
            <a:endParaRPr lang="en-US" sz="1800" dirty="0"/>
          </a:p>
        </p:txBody>
      </p:sp>
      <p:sp>
        <p:nvSpPr>
          <p:cNvPr id="13" name="Text 11"/>
          <p:cNvSpPr/>
          <p:nvPr/>
        </p:nvSpPr>
        <p:spPr>
          <a:xfrm>
            <a:off x="1783080" y="3648456"/>
            <a:ext cx="9354312" cy="45720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From memory — object, block, file, and one AWS service for each.</a:t>
            </a:r>
            <a:endParaRPr lang="en-US" sz="1400" dirty="0"/>
          </a:p>
        </p:txBody>
      </p:sp>
      <p:sp>
        <p:nvSpPr>
          <p:cNvPr id="14" name="Shape 12"/>
          <p:cNvSpPr/>
          <p:nvPr/>
        </p:nvSpPr>
        <p:spPr>
          <a:xfrm>
            <a:off x="640080" y="4389120"/>
            <a:ext cx="10908792" cy="1143000"/>
          </a:xfrm>
          <a:prstGeom prst="roundRect">
            <a:avLst>
              <a:gd name="adj" fmla="val 8000"/>
            </a:avLst>
          </a:prstGeom>
          <a:solidFill>
            <a:srgbClr val="FFFFFF"/>
          </a:solidFill>
          <a:ln w="12700">
            <a:solidFill>
              <a:srgbClr val="DCE1E6"/>
            </a:solidFill>
            <a:prstDash val="solid"/>
          </a:ln>
          <a:effectLst>
            <a:outerShdw sx="100000" sy="100000" kx="0" ky="0" algn="bl" rotWithShape="0" blurRad="88900" dist="25400" dir="5400000">
              <a:srgbClr val="CBD2D8">
                <a:alpha val="50000"/>
              </a:srgbClr>
            </a:outerShdw>
          </a:effectLst>
        </p:spPr>
        <p:txBody>
          <a:bodyPr/>
          <a:p/>
        </p:txBody>
      </p:sp>
      <p:sp>
        <p:nvSpPr>
          <p:cNvPr id="15" name="Shape 13"/>
          <p:cNvSpPr/>
          <p:nvPr/>
        </p:nvSpPr>
        <p:spPr>
          <a:xfrm>
            <a:off x="960120" y="4681728"/>
            <a:ext cx="566928" cy="566928"/>
          </a:xfrm>
          <a:prstGeom prst="ellipse">
            <a:avLst/>
          </a:prstGeom>
          <a:solidFill>
            <a:srgbClr val="1F8A38"/>
          </a:solidFill>
          <a:ln/>
        </p:spPr>
        <p:txBody>
          <a:bodyPr/>
          <a:p/>
        </p:txBody>
      </p:sp>
      <p:sp>
        <p:nvSpPr>
          <p:cNvPr id="16" name="Text 14"/>
          <p:cNvSpPr/>
          <p:nvPr/>
        </p:nvSpPr>
        <p:spPr>
          <a:xfrm>
            <a:off x="960120" y="4681728"/>
            <a:ext cx="566928"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783080" y="4572000"/>
            <a:ext cx="9445752" cy="411480"/>
          </a:xfrm>
          <a:prstGeom prst="rect">
            <a:avLst/>
          </a:prstGeom>
          <a:noFill/>
          <a:ln/>
        </p:spPr>
        <p:txBody>
          <a:bodyPr wrap="square" rtlCol="0" anchor="ctr"/>
          <a:lstStyle/>
          <a:p>
            <a:pPr indent="0" marL="0">
              <a:buNone/>
            </a:pPr>
            <a:r>
              <a:rPr lang="en-US" sz="1800" b="1" dirty="0">
                <a:solidFill>
                  <a:srgbClr val="232F3E"/>
                </a:solidFill>
                <a:latin typeface="Calibri" pitchFamily="34" charset="0"/>
                <a:ea typeface="Calibri" pitchFamily="34" charset="-122"/>
                <a:cs typeface="Calibri" pitchFamily="34" charset="-120"/>
              </a:rPr>
              <a:t>Pick a storage service</a:t>
            </a:r>
            <a:endParaRPr lang="en-US" sz="1800" dirty="0"/>
          </a:p>
        </p:txBody>
      </p:sp>
      <p:sp>
        <p:nvSpPr>
          <p:cNvPr id="18" name="Text 16"/>
          <p:cNvSpPr/>
          <p:nvPr/>
        </p:nvSpPr>
        <p:spPr>
          <a:xfrm>
            <a:off x="1783080" y="4974336"/>
            <a:ext cx="9354312" cy="457200"/>
          </a:xfrm>
          <a:prstGeom prst="rect">
            <a:avLst/>
          </a:prstGeom>
          <a:noFill/>
          <a:ln/>
        </p:spPr>
        <p:txBody>
          <a:bodyPr wrap="square" rtlCol="0" anchor="ctr"/>
          <a:lstStyle/>
          <a:p>
            <a:pPr indent="0" marL="0">
              <a:buNone/>
            </a:pPr>
            <a:r>
              <a:rPr lang="en-US" sz="1400" dirty="0">
                <a:solidFill>
                  <a:srgbClr val="5B6570"/>
                </a:solidFill>
                <a:latin typeface="Calibri" pitchFamily="34" charset="0"/>
                <a:ea typeface="Calibri" pitchFamily="34" charset="-122"/>
                <a:cs typeface="Calibri" pitchFamily="34" charset="-120"/>
              </a:rPr>
              <a:t>From tonight's toolkit, explain what it does in your own words, no notes.</a:t>
            </a:r>
            <a:endParaRPr lang="en-US" sz="1400" dirty="0"/>
          </a:p>
        </p:txBody>
      </p:sp>
      <p:sp>
        <p:nvSpPr>
          <p:cNvPr id="19" name="Text 17"/>
          <p:cNvSpPr/>
          <p:nvPr/>
        </p:nvSpPr>
        <p:spPr>
          <a:xfrm>
            <a:off x="640080" y="5806440"/>
            <a:ext cx="10908792" cy="365760"/>
          </a:xfrm>
          <a:prstGeom prst="rect">
            <a:avLst/>
          </a:prstGeom>
          <a:noFill/>
          <a:ln/>
        </p:spPr>
        <p:txBody>
          <a:bodyPr wrap="square" rtlCol="0" anchor="ctr"/>
          <a:lstStyle/>
          <a:p>
            <a:pPr algn="ctr" indent="0" marL="0">
              <a:buNone/>
            </a:pPr>
            <a:r>
              <a:rPr lang="en-US" sz="1400" b="1" i="1" dirty="0">
                <a:solidFill>
                  <a:srgbClr val="232F3E"/>
                </a:solidFill>
                <a:latin typeface="Calibri" pitchFamily="34" charset="0"/>
                <a:ea typeface="Calibri" pitchFamily="34" charset="-122"/>
                <a:cs typeface="Calibri" pitchFamily="34" charset="-120"/>
              </a:rPr>
              <a:t>Next week:  Databases — RDS, DynamoDB, and matching workloads to the right database type.</a:t>
            </a:r>
            <a:endParaRPr lang="en-US" sz="1400" dirty="0"/>
          </a:p>
        </p:txBody>
      </p:sp>
      <p:sp>
        <p:nvSpPr>
          <p:cNvPr id="20" name="Text 18"/>
          <p:cNvSpPr/>
          <p:nvPr/>
        </p:nvSpPr>
        <p:spPr>
          <a:xfrm>
            <a:off x="640080" y="6473952"/>
            <a:ext cx="5943600" cy="274320"/>
          </a:xfrm>
          <a:prstGeom prst="rect">
            <a:avLst/>
          </a:prstGeom>
          <a:noFill/>
          <a:ln/>
        </p:spPr>
        <p:txBody>
          <a:bodyPr wrap="square" rtlCol="0" anchor="ctr"/>
          <a:lstStyle/>
          <a:p>
            <a:pPr indent="0" marL="0">
              <a:buNone/>
            </a:pPr>
            <a:r>
              <a:rPr lang="en-US" sz="900" dirty="0">
                <a:solidFill>
                  <a:srgbClr val="5B6570"/>
                </a:solidFill>
                <a:latin typeface="Calibri" pitchFamily="34" charset="0"/>
                <a:ea typeface="Calibri" pitchFamily="34" charset="-122"/>
                <a:cs typeface="Calibri" pitchFamily="34" charset="-120"/>
              </a:rPr>
              <a:t>AWS SAA-A  ·  Lecture 7  ·  Storage</a:t>
            </a:r>
            <a:endParaRPr lang="en-US" sz="900" dirty="0"/>
          </a:p>
        </p:txBody>
      </p:sp>
      <p:sp>
        <p:nvSpPr>
          <p:cNvPr id="21" name="Text 19"/>
          <p:cNvSpPr/>
          <p:nvPr/>
        </p:nvSpPr>
        <p:spPr>
          <a:xfrm>
            <a:off x="11000232" y="6473952"/>
            <a:ext cx="548640" cy="274320"/>
          </a:xfrm>
          <a:prstGeom prst="rect">
            <a:avLst/>
          </a:prstGeom>
          <a:noFill/>
          <a:ln/>
        </p:spPr>
        <p:txBody>
          <a:bodyPr wrap="square" rtlCol="0" anchor="ctr"/>
          <a:lstStyle/>
          <a:p>
            <a:pPr algn="r" indent="0" marL="0">
              <a:buNone/>
            </a:pPr>
            <a:r>
              <a:rPr lang="en-US" sz="900" dirty="0">
                <a:solidFill>
                  <a:srgbClr val="5B65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9144000" y="3474720"/>
            <a:ext cx="4754880" cy="4754880"/>
          </a:xfrm>
          <a:prstGeom prst="ellipse">
            <a:avLst/>
          </a:prstGeom>
          <a:solidFill>
            <a:srgbClr val="FF9900">
              <a:alpha val="16000"/>
            </a:srgbClr>
          </a:solidFill>
          <a:ln/>
        </p:spPr>
        <p:txBody>
          <a:bodyPr/>
          <a:p/>
        </p:txBody>
      </p:sp>
      <p:sp>
        <p:nvSpPr>
          <p:cNvPr id="3" name="Shape 1"/>
          <p:cNvSpPr/>
          <p:nvPr/>
        </p:nvSpPr>
        <p:spPr>
          <a:xfrm>
            <a:off x="-1280160" y="-1280160"/>
            <a:ext cx="4023360" cy="4023360"/>
          </a:xfrm>
          <a:prstGeom prst="ellipse">
            <a:avLst/>
          </a:prstGeom>
          <a:solidFill>
            <a:srgbClr val="FF9900">
              <a:alpha val="12000"/>
            </a:srgbClr>
          </a:solidFill>
          <a:ln/>
        </p:spPr>
        <p:txBody>
          <a:bodyPr/>
          <a:p/>
        </p:txBody>
      </p:sp>
      <p:sp>
        <p:nvSpPr>
          <p:cNvPr id="4" name="Text 2"/>
          <p:cNvSpPr/>
          <p:nvPr/>
        </p:nvSpPr>
        <p:spPr>
          <a:xfrm>
            <a:off x="640080" y="1965960"/>
            <a:ext cx="10058400" cy="457200"/>
          </a:xfrm>
          <a:prstGeom prst="rect">
            <a:avLst/>
          </a:prstGeom>
          <a:noFill/>
          <a:ln/>
        </p:spPr>
        <p:txBody>
          <a:bodyPr wrap="square" rtlCol="0" anchor="ctr"/>
          <a:lstStyle/>
          <a:p>
            <a:pPr indent="0" marL="0">
              <a:buNone/>
            </a:pPr>
            <a:r>
              <a:rPr lang="en-US" sz="1500" b="1" spc="300" kern="0" dirty="0">
                <a:solidFill>
                  <a:srgbClr val="FF9900"/>
                </a:solidFill>
                <a:latin typeface="Calibri" pitchFamily="34" charset="0"/>
                <a:ea typeface="Calibri" pitchFamily="34" charset="-122"/>
                <a:cs typeface="Calibri" pitchFamily="34" charset="-120"/>
              </a:rPr>
              <a:t>QUESTIONS?</a:t>
            </a:r>
            <a:endParaRPr lang="en-US" sz="1500" dirty="0"/>
          </a:p>
        </p:txBody>
      </p:sp>
      <p:sp>
        <p:nvSpPr>
          <p:cNvPr id="5" name="Text 3"/>
          <p:cNvSpPr/>
          <p:nvPr/>
        </p:nvSpPr>
        <p:spPr>
          <a:xfrm>
            <a:off x="640080" y="2423160"/>
            <a:ext cx="10058400" cy="1554480"/>
          </a:xfrm>
          <a:prstGeom prst="rect">
            <a:avLst/>
          </a:prstGeom>
          <a:noFill/>
          <a:ln/>
        </p:spPr>
        <p:txBody>
          <a:bodyPr wrap="square" rtlCol="0" anchor="ctr"/>
          <a:lstStyle/>
          <a:p>
            <a:pPr indent="0" marL="0">
              <a:lnSpc>
                <a:spcPct val="98000"/>
              </a:lnSpc>
              <a:buNone/>
            </a:pPr>
            <a:r>
              <a:rPr lang="en-US" sz="4200" b="1" dirty="0">
                <a:solidFill>
                  <a:srgbClr val="FFFFFF"/>
                </a:solidFill>
                <a:latin typeface="Calibri" pitchFamily="34" charset="0"/>
                <a:ea typeface="Calibri" pitchFamily="34" charset="-122"/>
                <a:cs typeface="Calibri" pitchFamily="34" charset="-120"/>
              </a:rPr>
              <a:t>Now let's go</a:t>
            </a:r>
            <a:endParaRPr lang="en-US" sz="4200" dirty="0"/>
          </a:p>
          <a:p>
            <a:pPr indent="0" marL="0">
              <a:lnSpc>
                <a:spcPct val="98000"/>
              </a:lnSpc>
              <a:buNone/>
            </a:pPr>
            <a:r>
              <a:rPr lang="en-US" sz="4200" b="1" dirty="0">
                <a:solidFill>
                  <a:srgbClr val="FFFFFF"/>
                </a:solidFill>
                <a:latin typeface="Calibri" pitchFamily="34" charset="0"/>
                <a:ea typeface="Calibri" pitchFamily="34" charset="-122"/>
                <a:cs typeface="Calibri" pitchFamily="34" charset="-120"/>
              </a:rPr>
              <a:t>sort this out.</a:t>
            </a:r>
            <a:endParaRPr lang="en-US" sz="4200" dirty="0"/>
          </a:p>
        </p:txBody>
      </p:sp>
      <p:sp>
        <p:nvSpPr>
          <p:cNvPr id="6" name="Text 4"/>
          <p:cNvSpPr/>
          <p:nvPr/>
        </p:nvSpPr>
        <p:spPr>
          <a:xfrm>
            <a:off x="640080" y="4069080"/>
            <a:ext cx="10058400" cy="457200"/>
          </a:xfrm>
          <a:prstGeom prst="rect">
            <a:avLst/>
          </a:prstGeom>
          <a:noFill/>
          <a:ln/>
        </p:spPr>
        <p:txBody>
          <a:bodyPr wrap="square" rtlCol="0" anchor="ctr"/>
          <a:lstStyle/>
          <a:p>
            <a:pPr indent="0" marL="0">
              <a:buNone/>
            </a:pPr>
            <a:r>
              <a:rPr lang="en-US" sz="1800" dirty="0">
                <a:solidFill>
                  <a:srgbClr val="C7D2DE"/>
                </a:solidFill>
                <a:latin typeface="Calibri" pitchFamily="34" charset="0"/>
                <a:ea typeface="Calibri" pitchFamily="34" charset="-122"/>
                <a:cs typeface="Calibri" pitchFamily="34" charset="-120"/>
              </a:rPr>
              <a:t>Ten-minute break — then Sort the Storage Types and the storage service hunt.</a:t>
            </a:r>
            <a:endParaRPr lang="en-US" sz="1800" dirty="0"/>
          </a:p>
        </p:txBody>
      </p:sp>
      <p:sp>
        <p:nvSpPr>
          <p:cNvPr id="7" name="Shape 5"/>
          <p:cNvSpPr/>
          <p:nvPr/>
        </p:nvSpPr>
        <p:spPr>
          <a:xfrm>
            <a:off x="640080" y="4892040"/>
            <a:ext cx="5486400" cy="0"/>
          </a:xfrm>
          <a:prstGeom prst="line">
            <a:avLst/>
          </a:prstGeom>
          <a:noFill/>
          <a:ln w="12700">
            <a:solidFill>
              <a:srgbClr val="44536A"/>
            </a:solidFill>
            <a:prstDash val="solid"/>
          </a:ln>
        </p:spPr>
        <p:txBody>
          <a:bodyPr/>
          <a:p/>
        </p:txBody>
      </p:sp>
      <p:sp>
        <p:nvSpPr>
          <p:cNvPr id="8" name="Text 6"/>
          <p:cNvSpPr/>
          <p:nvPr/>
        </p:nvSpPr>
        <p:spPr>
          <a:xfrm>
            <a:off x="640080" y="5029200"/>
            <a:ext cx="105156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Dr. Mycal “Mike” Brown    ·    AWS Certified Solutions Architect – Associate  ·  Wake Tech</a:t>
            </a:r>
            <a:pPr indent="0" marL="0">
              <a:buNone/>
            </a:pPr>
            <a:r>
              <a:rPr lang="en-US" sz="1300" dirty="0">
                <a:solidFill>
                  <a:srgbClr val="8A97A6"/>
                </a:solidFill>
                <a:latin typeface="Calibri" pitchFamily="34" charset="0"/>
                <a:ea typeface="Calibri" pitchFamily="34" charset="-122"/>
                <a:cs typeface="Calibri" pitchFamily="34" charset="-120"/>
              </a:rPr>
              <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Wake Technical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Mycal 'Mike' Brown</dc:creator>
  <cp:lastModifiedBy>Mycal 'Mike' Brown</cp:lastModifiedBy>
  <cp:revision>1</cp:revision>
  <dcterms:created xsi:type="dcterms:W3CDTF">2026-07-23T16:52:16Z</dcterms:created>
  <dcterms:modified xsi:type="dcterms:W3CDTF">2026-07-23T16:52:16Z</dcterms:modified>
</cp:coreProperties>
</file>